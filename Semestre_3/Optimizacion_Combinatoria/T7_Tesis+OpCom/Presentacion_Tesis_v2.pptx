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60" r:id="rId1"/>
  </p:sldMasterIdLst>
  <p:notesMasterIdLst>
    <p:notesMasterId r:id="rId16"/>
  </p:notesMasterIdLst>
  <p:handoutMasterIdLst>
    <p:handoutMasterId r:id="rId17"/>
  </p:handoutMasterIdLst>
  <p:sldIdLst>
    <p:sldId id="256" r:id="rId2"/>
    <p:sldId id="258" r:id="rId3"/>
    <p:sldId id="259" r:id="rId4"/>
    <p:sldId id="261" r:id="rId5"/>
    <p:sldId id="288" r:id="rId6"/>
    <p:sldId id="263" r:id="rId7"/>
    <p:sldId id="264" r:id="rId8"/>
    <p:sldId id="265" r:id="rId9"/>
    <p:sldId id="290" r:id="rId10"/>
    <p:sldId id="293" r:id="rId11"/>
    <p:sldId id="294" r:id="rId12"/>
    <p:sldId id="295" r:id="rId13"/>
    <p:sldId id="296" r:id="rId14"/>
    <p:sldId id="292" r:id="rId15"/>
  </p:sldIdLst>
  <p:sldSz cx="18288000" cy="10287000"/>
  <p:notesSz cx="6858000" cy="9144000"/>
  <p:embeddedFontLst>
    <p:embeddedFont>
      <p:font typeface="Bahnschrift" panose="020B0502040204020203" pitchFamily="34" charset="0"/>
      <p:regular r:id="rId18"/>
      <p:bold r:id="rId19"/>
    </p:embeddedFont>
    <p:embeddedFont>
      <p:font typeface="Bebas Neue" panose="020B0606020202050201" pitchFamily="34" charset="0"/>
      <p:regular r:id="rId20"/>
    </p:embeddedFont>
    <p:embeddedFont>
      <p:font typeface="Bebas Neue Bold" panose="020B0604020202020204" charset="0"/>
      <p:regular r:id="rId21"/>
    </p:embeddedFont>
    <p:embeddedFont>
      <p:font typeface="Cambria Math" panose="02040503050406030204" pitchFamily="18" charset="0"/>
      <p:regular r:id="rId22"/>
    </p:embeddedFont>
    <p:embeddedFont>
      <p:font typeface="League Gothic" panose="020B0604020202020204" charset="0"/>
      <p:regular r:id="rId23"/>
    </p:embeddedFont>
    <p:embeddedFont>
      <p:font typeface="Quicksand Bold" panose="020B0604020202020204" charset="0"/>
      <p:regular r:id="rId24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99" autoAdjust="0"/>
    <p:restoredTop sz="92961" autoAdjust="0"/>
  </p:normalViewPr>
  <p:slideViewPr>
    <p:cSldViewPr>
      <p:cViewPr varScale="1">
        <p:scale>
          <a:sx n="55" d="100"/>
          <a:sy n="55" d="100"/>
        </p:scale>
        <p:origin x="682" y="5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1.fntdata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font" Target="fonts/font4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handoutMaster" Target="handoutMasters/handoutMaster1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font" Target="fonts/font3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7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6.fntdata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font" Target="fonts/font2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5.fntdata"/><Relationship Id="rId27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0ADF19BD-5110-75D4-7ABB-0F529DC5CCFD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MX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2F059BB-D400-04D7-2950-4EB53A991240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35C1A5B-7CDE-4E89-8FAE-CAB55E4043CE}" type="datetimeFigureOut">
              <a:rPr lang="es-MX" smtClean="0"/>
              <a:t>09/06/2026</a:t>
            </a:fld>
            <a:endParaRPr lang="es-MX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8DEF194-EBE4-D255-5B18-A30EC82392F5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MX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1792C29-C613-2341-C6A4-E59FCFDEE259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0C87549-5B62-4503-A563-0B80F9D3BB1E}" type="slidenum">
              <a:rPr lang="es-MX" smtClean="0"/>
              <a:t>‹#›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412660433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MX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3A08C56-340B-4323-9489-5BB3250B74C8}" type="datetimeFigureOut">
              <a:rPr lang="es-MX" smtClean="0"/>
              <a:t>09/06/2026</a:t>
            </a:fld>
            <a:endParaRPr lang="es-MX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MX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MX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9A7D9AF-AEED-4416-9A78-78467AC97137}" type="slidenum">
              <a:rPr lang="es-MX" smtClean="0"/>
              <a:t>‹#›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502482098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 dirty="0"/>
              <a:t>Sin embargo, interpretar estas señales no es sencillo. Un mismo patrón en los electrodos puede originarse en distintas zonas del cerebro, lo que hace que el </a:t>
            </a:r>
            <a:r>
              <a:rPr lang="es-ES" b="1" dirty="0"/>
              <a:t>problema inverso del EEG</a:t>
            </a:r>
            <a:r>
              <a:rPr lang="es-ES" dirty="0"/>
              <a:t> —estimar la ubicación real de las fuentes neuronales— sea un desafío</a:t>
            </a:r>
            <a:endParaRPr lang="es-MX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9A7D9AF-AEED-4416-9A78-78467AC97137}" type="slidenum">
              <a:rPr lang="es-MX" smtClean="0"/>
              <a:t>2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63992260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MX" dirty="0"/>
              <a:t>Modelos: R</a:t>
            </a:r>
            <a:r>
              <a:rPr lang="es-ES" sz="1200" spc="149" dirty="0" err="1">
                <a:solidFill>
                  <a:srgbClr val="000000"/>
                </a:solidFill>
                <a:latin typeface="Bahnschrift" panose="020B0502040204020203" pitchFamily="34" charset="0"/>
              </a:rPr>
              <a:t>epresentan</a:t>
            </a:r>
            <a:r>
              <a:rPr lang="es-ES" sz="1200" spc="149" dirty="0">
                <a:solidFill>
                  <a:srgbClr val="000000"/>
                </a:solidFill>
                <a:latin typeface="Bahnschrift" panose="020B0502040204020203" pitchFamily="34" charset="0"/>
              </a:rPr>
              <a:t> la geometría y conductividad de tejidos.</a:t>
            </a:r>
            <a:br>
              <a:rPr lang="es-ES" sz="1200" spc="149" dirty="0">
                <a:solidFill>
                  <a:srgbClr val="000000"/>
                </a:solidFill>
                <a:latin typeface="Bahnschrift" panose="020B0502040204020203" pitchFamily="34" charset="0"/>
              </a:rPr>
            </a:br>
            <a:r>
              <a:rPr lang="es-ES" sz="1200" spc="149" dirty="0">
                <a:solidFill>
                  <a:srgbClr val="000000"/>
                </a:solidFill>
                <a:latin typeface="Bahnschrift" panose="020B0502040204020203" pitchFamily="34" charset="0"/>
              </a:rPr>
              <a:t>El desafío aparece en el problema inverso, que busca determinar la causa (ubicación y orientación de la fuente) a partir de las señales de EEG. </a:t>
            </a:r>
          </a:p>
          <a:p>
            <a:endParaRPr lang="es-MX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9A7D9AF-AEED-4416-9A78-78467AC97137}" type="slidenum">
              <a:rPr lang="es-MX" smtClean="0"/>
              <a:t>8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46305637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MX" dirty="0"/>
              <a:t>Formula del coeficiente binomial:</a:t>
            </a:r>
            <a:br>
              <a:rPr lang="es-MX" dirty="0"/>
            </a:br>
            <a:r>
              <a:rPr lang="es-MX" dirty="0"/>
              <a:t>representa el número de formas posibles de elegir un subconjunto no ordenado de \(k\) elementos a partir de un conjunto total de \(n\) elementos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9A7D9AF-AEED-4416-9A78-78467AC97137}" type="slidenum">
              <a:rPr lang="es-MX" smtClean="0"/>
              <a:t>10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96993758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6F84A3-84F7-FF6B-EB7E-76CEB8FCFE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8D2474F-9E6B-C885-6B30-C8D2BF7F945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36BD4A5-6551-88B5-378E-51D6B62C6CC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6FC7F78-E360-C2E1-DD73-DEFC78D20CB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9A7D9AF-AEED-4416-9A78-78467AC97137}" type="slidenum">
              <a:rPr lang="es-MX" smtClean="0"/>
              <a:t>11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5948046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7DCD77-C62B-A850-D2CF-F6EF3C3103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1BB941D-2E5E-A2D3-114B-B82EA3E7A20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CF14ADF-02C3-A053-61D1-1F4A9E590CA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3235D10-E9C0-7FEB-3237-C4A8E106E6C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9A7D9AF-AEED-4416-9A78-78467AC97137}" type="slidenum">
              <a:rPr lang="es-MX" smtClean="0"/>
              <a:t>12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85861156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CDA59B-32C1-6EF3-3EB7-C217DA1C62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295B381-4401-7CD7-61A5-FA5C21F01A8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623A9F1-DE0E-2FE1-34D4-4B0D6F49C77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A87322C-AE41-4B8F-920B-57D8703C5B4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9A7D9AF-AEED-4416-9A78-78467AC97137}" type="slidenum">
              <a:rPr lang="es-MX" smtClean="0"/>
              <a:t>13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72014454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DA8975-ABAF-410C-BB88-EADEA95226A5}" type="datetime1">
              <a:rPr lang="en-US" smtClean="0"/>
              <a:t>6/9/2026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847044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FB9F09-B9C0-4C3D-B0E2-F1961E18F513}" type="datetime1">
              <a:rPr lang="en-US" smtClean="0"/>
              <a:t>6/9/2026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196872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D3CF7C-19C5-46C1-BFF8-00E664DEB674}" type="datetime1">
              <a:rPr lang="en-US" smtClean="0"/>
              <a:t>6/9/2026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351001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2FD632-AE89-4577-B074-399975E463B5}" type="datetime1">
              <a:rPr lang="en-US" smtClean="0"/>
              <a:t>6/9/2026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957302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7F2974-C5EF-4156-AAFC-D0852372C3C7}" type="datetime1">
              <a:rPr lang="en-US" smtClean="0"/>
              <a:t>6/9/2026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57449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6697BE-2FF4-47EE-9B60-8FE3841EB72E}" type="datetime1">
              <a:rPr lang="en-US" smtClean="0"/>
              <a:t>6/9/2026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649204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5FE92A-7B4A-4993-8F15-505196E2E0A9}" type="datetime1">
              <a:rPr lang="en-US" smtClean="0"/>
              <a:t>6/9/2026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3995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487354-14E8-423F-A6D1-7443F3FD2EB7}" type="datetime1">
              <a:rPr lang="en-US" smtClean="0"/>
              <a:t>6/9/2026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134092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6D24DF-973A-4FD1-BCBC-752BDFDD48BE}" type="datetime1">
              <a:rPr lang="en-US" smtClean="0"/>
              <a:t>6/9/2026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849677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608151-41F9-4AFE-805D-CC888AD4C72D}" type="datetime1">
              <a:rPr lang="en-US" smtClean="0"/>
              <a:t>6/9/2026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036056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1FF7D1-B60C-4373-B56D-073D014258E3}" type="datetime1">
              <a:rPr lang="en-US" smtClean="0"/>
              <a:t>6/9/2026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06773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241C784-87B5-4DE4-B44F-ADB5089DB2F5}" type="datetime1">
              <a:rPr lang="en-US" smtClean="0"/>
              <a:t>6/9/2026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20710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jpe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0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1.png"/><Relationship Id="rId4" Type="http://schemas.openxmlformats.org/officeDocument/2006/relationships/image" Target="../media/image9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2.png"/><Relationship Id="rId4" Type="http://schemas.openxmlformats.org/officeDocument/2006/relationships/image" Target="../media/image9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9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9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10800000">
            <a:off x="0" y="8101163"/>
            <a:ext cx="5485213" cy="2185837"/>
          </a:xfrm>
          <a:custGeom>
            <a:avLst/>
            <a:gdLst/>
            <a:ahLst/>
            <a:cxnLst/>
            <a:rect l="l" t="t" r="r" b="b"/>
            <a:pathLst>
              <a:path w="5485213" h="2185837">
                <a:moveTo>
                  <a:pt x="0" y="0"/>
                </a:moveTo>
                <a:lnTo>
                  <a:pt x="5485213" y="0"/>
                </a:lnTo>
                <a:lnTo>
                  <a:pt x="5485213" y="2185836"/>
                </a:lnTo>
                <a:lnTo>
                  <a:pt x="0" y="218583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s-MX" dirty="0"/>
          </a:p>
        </p:txBody>
      </p:sp>
      <p:sp>
        <p:nvSpPr>
          <p:cNvPr id="3" name="Freeform 3"/>
          <p:cNvSpPr/>
          <p:nvPr/>
        </p:nvSpPr>
        <p:spPr>
          <a:xfrm>
            <a:off x="10077495" y="400554"/>
            <a:ext cx="7181805" cy="1256292"/>
          </a:xfrm>
          <a:custGeom>
            <a:avLst/>
            <a:gdLst/>
            <a:ahLst/>
            <a:cxnLst/>
            <a:rect l="l" t="t" r="r" b="b"/>
            <a:pathLst>
              <a:path w="7181805" h="1256292">
                <a:moveTo>
                  <a:pt x="0" y="0"/>
                </a:moveTo>
                <a:lnTo>
                  <a:pt x="7181805" y="0"/>
                </a:lnTo>
                <a:lnTo>
                  <a:pt x="7181805" y="1256292"/>
                </a:lnTo>
                <a:lnTo>
                  <a:pt x="0" y="125629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s-MX" dirty="0"/>
          </a:p>
        </p:txBody>
      </p:sp>
      <p:sp>
        <p:nvSpPr>
          <p:cNvPr id="5" name="TextBox 5"/>
          <p:cNvSpPr txBox="1"/>
          <p:nvPr/>
        </p:nvSpPr>
        <p:spPr>
          <a:xfrm>
            <a:off x="1626832" y="5095875"/>
            <a:ext cx="7282430" cy="276024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4759"/>
              </a:lnSpc>
            </a:pPr>
            <a:r>
              <a:rPr lang="en-US" sz="3399" spc="169" dirty="0">
                <a:solidFill>
                  <a:srgbClr val="191919"/>
                </a:solidFill>
                <a:latin typeface="League Gothic"/>
              </a:rPr>
              <a:t>PRESENTA:</a:t>
            </a:r>
          </a:p>
          <a:p>
            <a:pPr>
              <a:lnSpc>
                <a:spcPts val="4199"/>
              </a:lnSpc>
            </a:pPr>
            <a:r>
              <a:rPr lang="en-US" sz="2999" spc="149" dirty="0">
                <a:solidFill>
                  <a:srgbClr val="191919"/>
                </a:solidFill>
                <a:latin typeface="Bebas Neue"/>
              </a:rPr>
              <a:t>Ing. Daniel Eduardo González Alvarado</a:t>
            </a:r>
          </a:p>
          <a:p>
            <a:pPr>
              <a:lnSpc>
                <a:spcPts val="3640"/>
              </a:lnSpc>
            </a:pPr>
            <a:endParaRPr lang="en-US" sz="2999" spc="149" dirty="0">
              <a:solidFill>
                <a:srgbClr val="191919"/>
              </a:solidFill>
              <a:latin typeface="Bebas Neue"/>
            </a:endParaRPr>
          </a:p>
          <a:p>
            <a:pPr algn="ctr">
              <a:lnSpc>
                <a:spcPts val="4619"/>
              </a:lnSpc>
            </a:pPr>
            <a:endParaRPr lang="en-US" sz="3299" spc="164" dirty="0">
              <a:solidFill>
                <a:srgbClr val="191919"/>
              </a:solidFill>
              <a:latin typeface="League Gothic"/>
            </a:endParaRPr>
          </a:p>
          <a:p>
            <a:pPr algn="ctr">
              <a:lnSpc>
                <a:spcPts val="4619"/>
              </a:lnSpc>
            </a:pPr>
            <a:r>
              <a:rPr lang="en-US" sz="3299" spc="164">
                <a:solidFill>
                  <a:srgbClr val="191919"/>
                </a:solidFill>
                <a:latin typeface="League Gothic"/>
              </a:rPr>
              <a:t>Junio </a:t>
            </a:r>
            <a:r>
              <a:rPr lang="en-US" sz="3299" spc="164" dirty="0">
                <a:solidFill>
                  <a:srgbClr val="191919"/>
                </a:solidFill>
                <a:latin typeface="League Gothic"/>
              </a:rPr>
              <a:t>2026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3392504" y="1854677"/>
            <a:ext cx="11502993" cy="227838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940"/>
              </a:lnSpc>
            </a:pPr>
            <a:r>
              <a:rPr lang="es-ES" sz="5400" spc="162" dirty="0">
                <a:solidFill>
                  <a:srgbClr val="2C341F"/>
                </a:solidFill>
                <a:latin typeface="League Gothic"/>
              </a:rPr>
              <a:t>Localización avanzada de fuentes de señales de electroencefalograma mediante técnicas de computación avanzada</a:t>
            </a:r>
            <a:endParaRPr lang="en-US" sz="5400" spc="162" dirty="0">
              <a:solidFill>
                <a:srgbClr val="2C341F"/>
              </a:solidFill>
              <a:latin typeface="League Gothic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 rot="5400000">
            <a:off x="4660016" y="-2963475"/>
            <a:ext cx="107514" cy="9427547"/>
          </a:xfrm>
          <a:prstGeom prst="rect">
            <a:avLst/>
          </a:prstGeom>
          <a:solidFill>
            <a:srgbClr val="B71C2A"/>
          </a:solidFill>
        </p:spPr>
        <p:txBody>
          <a:bodyPr/>
          <a:lstStyle/>
          <a:p>
            <a:endParaRPr lang="es-MX"/>
          </a:p>
        </p:txBody>
      </p:sp>
      <p:sp>
        <p:nvSpPr>
          <p:cNvPr id="3" name="Freeform 3"/>
          <p:cNvSpPr/>
          <p:nvPr/>
        </p:nvSpPr>
        <p:spPr>
          <a:xfrm rot="5400000">
            <a:off x="-1837770" y="6058153"/>
            <a:ext cx="6066616" cy="2391077"/>
          </a:xfrm>
          <a:custGeom>
            <a:avLst/>
            <a:gdLst/>
            <a:ahLst/>
            <a:cxnLst/>
            <a:rect l="l" t="t" r="r" b="b"/>
            <a:pathLst>
              <a:path w="6066616" h="2391077">
                <a:moveTo>
                  <a:pt x="0" y="0"/>
                </a:moveTo>
                <a:lnTo>
                  <a:pt x="6066616" y="0"/>
                </a:lnTo>
                <a:lnTo>
                  <a:pt x="6066616" y="2391076"/>
                </a:lnTo>
                <a:lnTo>
                  <a:pt x="0" y="239107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s-MX" dirty="0"/>
          </a:p>
        </p:txBody>
      </p:sp>
      <p:sp>
        <p:nvSpPr>
          <p:cNvPr id="4" name="Freeform 4"/>
          <p:cNvSpPr/>
          <p:nvPr/>
        </p:nvSpPr>
        <p:spPr>
          <a:xfrm>
            <a:off x="10077495" y="400554"/>
            <a:ext cx="7181805" cy="1256292"/>
          </a:xfrm>
          <a:custGeom>
            <a:avLst/>
            <a:gdLst/>
            <a:ahLst/>
            <a:cxnLst/>
            <a:rect l="l" t="t" r="r" b="b"/>
            <a:pathLst>
              <a:path w="7181805" h="1256292">
                <a:moveTo>
                  <a:pt x="0" y="0"/>
                </a:moveTo>
                <a:lnTo>
                  <a:pt x="7181805" y="0"/>
                </a:lnTo>
                <a:lnTo>
                  <a:pt x="7181805" y="1256292"/>
                </a:lnTo>
                <a:lnTo>
                  <a:pt x="0" y="125629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sp>
        <p:nvSpPr>
          <p:cNvPr id="7" name="TextBox 7"/>
          <p:cNvSpPr txBox="1"/>
          <p:nvPr/>
        </p:nvSpPr>
        <p:spPr>
          <a:xfrm>
            <a:off x="16469369" y="8973979"/>
            <a:ext cx="1579863" cy="3095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2775"/>
              </a:lnSpc>
            </a:pPr>
            <a:r>
              <a:rPr lang="en-US" sz="1850" spc="92" dirty="0">
                <a:solidFill>
                  <a:srgbClr val="000000"/>
                </a:solidFill>
                <a:latin typeface="Bebas Neue Bold"/>
              </a:rPr>
              <a:t>PÁG. 1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018208" y="486250"/>
            <a:ext cx="3325192" cy="91821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7537"/>
              </a:lnSpc>
              <a:spcBef>
                <a:spcPct val="0"/>
              </a:spcBef>
            </a:pPr>
            <a:r>
              <a:rPr lang="en-US" sz="5024" spc="251" dirty="0">
                <a:solidFill>
                  <a:srgbClr val="000000"/>
                </a:solidFill>
                <a:latin typeface="League Gothic"/>
              </a:rPr>
              <a:t>INTRODUCCIÓN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3706716" y="7468145"/>
            <a:ext cx="3172728" cy="84568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375"/>
              </a:lnSpc>
              <a:spcBef>
                <a:spcPct val="0"/>
              </a:spcBef>
            </a:pPr>
            <a:r>
              <a:rPr lang="en-US" sz="2250" spc="112" dirty="0">
                <a:solidFill>
                  <a:srgbClr val="000000"/>
                </a:solidFill>
                <a:latin typeface="Bebas Neue Bold"/>
              </a:rPr>
              <a:t>FIGURA 1. </a:t>
            </a:r>
            <a:r>
              <a:rPr lang="en-US" sz="2250" spc="112" dirty="0" err="1">
                <a:solidFill>
                  <a:srgbClr val="000000"/>
                </a:solidFill>
                <a:latin typeface="Bebas Neue Bold"/>
              </a:rPr>
              <a:t>Representación</a:t>
            </a:r>
            <a:r>
              <a:rPr lang="en-US" sz="2250" spc="112" dirty="0">
                <a:solidFill>
                  <a:srgbClr val="000000"/>
                </a:solidFill>
                <a:latin typeface="Bebas Neue Bold"/>
              </a:rPr>
              <a:t> de un </a:t>
            </a:r>
            <a:r>
              <a:rPr lang="en-US" sz="2250" spc="112" dirty="0" err="1">
                <a:solidFill>
                  <a:srgbClr val="000000"/>
                </a:solidFill>
                <a:latin typeface="Bebas Neue Bold"/>
              </a:rPr>
              <a:t>electroencefalograma</a:t>
            </a:r>
            <a:r>
              <a:rPr lang="en-US" sz="2250" spc="112" dirty="0">
                <a:solidFill>
                  <a:srgbClr val="000000"/>
                </a:solidFill>
                <a:latin typeface="Bebas Neue"/>
              </a:rPr>
              <a:t>.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1367812" y="7676676"/>
            <a:ext cx="4601170" cy="40966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75"/>
              </a:lnSpc>
              <a:spcBef>
                <a:spcPct val="0"/>
              </a:spcBef>
            </a:pPr>
            <a:r>
              <a:rPr lang="en-US" sz="2250" spc="112" dirty="0">
                <a:solidFill>
                  <a:srgbClr val="000000"/>
                </a:solidFill>
                <a:latin typeface="Bebas Neue Bold"/>
              </a:rPr>
              <a:t>FIGURA 2. </a:t>
            </a:r>
            <a:r>
              <a:rPr lang="en-US" sz="2250" spc="112" dirty="0" err="1">
                <a:solidFill>
                  <a:srgbClr val="000000"/>
                </a:solidFill>
                <a:latin typeface="Bebas Neue"/>
              </a:rPr>
              <a:t>Señales</a:t>
            </a:r>
            <a:r>
              <a:rPr lang="en-US" sz="2250" spc="112" dirty="0">
                <a:solidFill>
                  <a:srgbClr val="000000"/>
                </a:solidFill>
                <a:latin typeface="Bebas Neue"/>
              </a:rPr>
              <a:t> </a:t>
            </a:r>
            <a:r>
              <a:rPr lang="en-US" sz="2250" spc="112" dirty="0" err="1">
                <a:solidFill>
                  <a:srgbClr val="000000"/>
                </a:solidFill>
                <a:latin typeface="Bebas Neue"/>
              </a:rPr>
              <a:t>Obtenidas</a:t>
            </a:r>
            <a:r>
              <a:rPr lang="en-US" sz="2250" spc="112" dirty="0">
                <a:solidFill>
                  <a:srgbClr val="000000"/>
                </a:solidFill>
                <a:latin typeface="Bebas Neue"/>
              </a:rPr>
              <a:t> de un EEG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634F780B-B2DB-EC46-A4EA-E6B7C075549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90800" y="3036255"/>
            <a:ext cx="5943600" cy="44577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" name="Imagen 12">
            <a:extLst>
              <a:ext uri="{FF2B5EF4-FFF2-40B4-BE49-F238E27FC236}">
                <a16:creationId xmlns:a16="http://schemas.microsoft.com/office/drawing/2014/main" id="{C51A5A3B-087D-A2BF-85EA-6D16DFD1847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427547" y="2560758"/>
            <a:ext cx="7323056" cy="5165484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 rot="5400000">
            <a:off x="4660016" y="-2963475"/>
            <a:ext cx="107514" cy="9427547"/>
          </a:xfrm>
          <a:prstGeom prst="rect">
            <a:avLst/>
          </a:prstGeom>
          <a:solidFill>
            <a:srgbClr val="B71C2A"/>
          </a:solidFill>
        </p:spPr>
        <p:txBody>
          <a:bodyPr/>
          <a:lstStyle/>
          <a:p>
            <a:endParaRPr lang="es-MX"/>
          </a:p>
        </p:txBody>
      </p:sp>
      <p:sp>
        <p:nvSpPr>
          <p:cNvPr id="3" name="Freeform 3"/>
          <p:cNvSpPr/>
          <p:nvPr/>
        </p:nvSpPr>
        <p:spPr>
          <a:xfrm>
            <a:off x="10077495" y="400554"/>
            <a:ext cx="7181805" cy="1256292"/>
          </a:xfrm>
          <a:custGeom>
            <a:avLst/>
            <a:gdLst/>
            <a:ahLst/>
            <a:cxnLst/>
            <a:rect l="l" t="t" r="r" b="b"/>
            <a:pathLst>
              <a:path w="7181805" h="1256292">
                <a:moveTo>
                  <a:pt x="0" y="0"/>
                </a:moveTo>
                <a:lnTo>
                  <a:pt x="7181805" y="0"/>
                </a:lnTo>
                <a:lnTo>
                  <a:pt x="7181805" y="1256292"/>
                </a:lnTo>
                <a:lnTo>
                  <a:pt x="0" y="125629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sp>
        <p:nvSpPr>
          <p:cNvPr id="5" name="TextBox 5"/>
          <p:cNvSpPr txBox="1"/>
          <p:nvPr/>
        </p:nvSpPr>
        <p:spPr>
          <a:xfrm>
            <a:off x="838200" y="3264469"/>
            <a:ext cx="8305800" cy="361336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just">
              <a:lnSpc>
                <a:spcPts val="4837"/>
              </a:lnSpc>
              <a:spcBef>
                <a:spcPct val="0"/>
              </a:spcBef>
            </a:pPr>
            <a:r>
              <a:rPr lang="es-ES" sz="2800" spc="161" dirty="0">
                <a:solidFill>
                  <a:srgbClr val="000000"/>
                </a:solidFill>
                <a:latin typeface="Bahnschrift" panose="020B0502040204020203" pitchFamily="34" charset="0"/>
              </a:rPr>
              <a:t>Los métodos tradicionales, como </a:t>
            </a:r>
            <a:r>
              <a:rPr lang="es-ES" sz="2800" b="1" spc="161" dirty="0">
                <a:solidFill>
                  <a:srgbClr val="000000"/>
                </a:solidFill>
                <a:latin typeface="Bahnschrift" panose="020B0502040204020203" pitchFamily="34" charset="0"/>
              </a:rPr>
              <a:t>MNE, </a:t>
            </a:r>
            <a:r>
              <a:rPr lang="es-ES" sz="2800" b="1" spc="161" dirty="0" err="1">
                <a:solidFill>
                  <a:srgbClr val="000000"/>
                </a:solidFill>
                <a:latin typeface="Bahnschrift" panose="020B0502040204020203" pitchFamily="34" charset="0"/>
              </a:rPr>
              <a:t>sLORETA</a:t>
            </a:r>
            <a:r>
              <a:rPr lang="es-ES" sz="2800" b="1" spc="161" dirty="0">
                <a:solidFill>
                  <a:srgbClr val="000000"/>
                </a:solidFill>
                <a:latin typeface="Bahnschrift" panose="020B0502040204020203" pitchFamily="34" charset="0"/>
              </a:rPr>
              <a:t> </a:t>
            </a:r>
            <a:r>
              <a:rPr lang="es-ES" sz="2800" spc="161" dirty="0">
                <a:solidFill>
                  <a:srgbClr val="000000"/>
                </a:solidFill>
                <a:latin typeface="Bahnschrift" panose="020B0502040204020203" pitchFamily="34" charset="0"/>
              </a:rPr>
              <a:t>o </a:t>
            </a:r>
            <a:r>
              <a:rPr lang="es-ES" sz="2800" b="1" spc="161" dirty="0">
                <a:solidFill>
                  <a:srgbClr val="000000"/>
                </a:solidFill>
                <a:latin typeface="Bahnschrift" panose="020B0502040204020203" pitchFamily="34" charset="0"/>
              </a:rPr>
              <a:t>VARETA</a:t>
            </a:r>
            <a:r>
              <a:rPr lang="es-ES" sz="2800" spc="161" dirty="0">
                <a:solidFill>
                  <a:srgbClr val="000000"/>
                </a:solidFill>
                <a:latin typeface="Bahnschrift" panose="020B0502040204020203" pitchFamily="34" charset="0"/>
              </a:rPr>
              <a:t>, ofrecen soluciones, pero suelen presentar baja resolución espacial, sensibilidad al ruido y dificultad para distinguir fuentes profundas o cercanas entre sí.</a:t>
            </a:r>
            <a:endParaRPr lang="en-US" sz="2800" spc="161" dirty="0">
              <a:solidFill>
                <a:srgbClr val="000000"/>
              </a:solidFill>
              <a:latin typeface="Bahnschrift" panose="020B0502040204020203" pitchFamily="34" charset="0"/>
            </a:endParaRPr>
          </a:p>
        </p:txBody>
      </p:sp>
      <p:sp>
        <p:nvSpPr>
          <p:cNvPr id="7" name="TextBox 7"/>
          <p:cNvSpPr txBox="1"/>
          <p:nvPr/>
        </p:nvSpPr>
        <p:spPr>
          <a:xfrm>
            <a:off x="16469369" y="8973979"/>
            <a:ext cx="1579863" cy="3095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2775"/>
              </a:lnSpc>
            </a:pPr>
            <a:r>
              <a:rPr lang="en-US" sz="1850" spc="92" dirty="0">
                <a:solidFill>
                  <a:srgbClr val="000000"/>
                </a:solidFill>
                <a:latin typeface="Bebas Neue Bold"/>
              </a:rPr>
              <a:t>PÁG. 2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028700" y="495775"/>
            <a:ext cx="2989511" cy="9134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537"/>
              </a:lnSpc>
              <a:spcBef>
                <a:spcPct val="0"/>
              </a:spcBef>
            </a:pPr>
            <a:r>
              <a:rPr lang="en-US" sz="5024" spc="251">
                <a:solidFill>
                  <a:srgbClr val="000000"/>
                </a:solidFill>
                <a:latin typeface="League Gothic"/>
              </a:rPr>
              <a:t>ANTECEDENTES</a:t>
            </a:r>
          </a:p>
        </p:txBody>
      </p:sp>
      <p:pic>
        <p:nvPicPr>
          <p:cNvPr id="2050" name="Picture 2" descr="Desarrollan una réplica 3D del cerebro humano para avanzar en su estudio |  Emol.com">
            <a:extLst>
              <a:ext uri="{FF2B5EF4-FFF2-40B4-BE49-F238E27FC236}">
                <a16:creationId xmlns:a16="http://schemas.microsoft.com/office/drawing/2014/main" id="{7E77B34A-E24B-16A4-9AA6-D20637FEB31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392464" y="2857500"/>
            <a:ext cx="6076905" cy="40512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TextBox 11">
            <a:extLst>
              <a:ext uri="{FF2B5EF4-FFF2-40B4-BE49-F238E27FC236}">
                <a16:creationId xmlns:a16="http://schemas.microsoft.com/office/drawing/2014/main" id="{10277527-6AEC-E97B-8EAC-DB8D8BD60B0B}"/>
              </a:ext>
            </a:extLst>
          </p:cNvPr>
          <p:cNvSpPr txBox="1"/>
          <p:nvPr/>
        </p:nvSpPr>
        <p:spPr>
          <a:xfrm>
            <a:off x="11367812" y="7676676"/>
            <a:ext cx="4601170" cy="40966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75"/>
              </a:lnSpc>
              <a:spcBef>
                <a:spcPct val="0"/>
              </a:spcBef>
            </a:pPr>
            <a:r>
              <a:rPr lang="en-US" sz="2250" spc="112" dirty="0">
                <a:solidFill>
                  <a:srgbClr val="000000"/>
                </a:solidFill>
                <a:latin typeface="Bebas Neue Bold"/>
              </a:rPr>
              <a:t>FIGURA 3. Replica 3D DE </a:t>
            </a:r>
            <a:r>
              <a:rPr lang="en-US" sz="2250" spc="112" dirty="0">
                <a:solidFill>
                  <a:srgbClr val="000000"/>
                </a:solidFill>
                <a:latin typeface="Bebas Neue"/>
              </a:rPr>
              <a:t>Cerebro Humano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 rot="5400000">
            <a:off x="3204584" y="-1547738"/>
            <a:ext cx="173670" cy="6582839"/>
          </a:xfrm>
          <a:prstGeom prst="rect">
            <a:avLst/>
          </a:prstGeom>
          <a:solidFill>
            <a:srgbClr val="B71C2A"/>
          </a:solidFill>
        </p:spPr>
        <p:txBody>
          <a:bodyPr/>
          <a:lstStyle/>
          <a:p>
            <a:endParaRPr lang="es-MX"/>
          </a:p>
        </p:txBody>
      </p:sp>
      <p:sp>
        <p:nvSpPr>
          <p:cNvPr id="3" name="Freeform 3"/>
          <p:cNvSpPr/>
          <p:nvPr/>
        </p:nvSpPr>
        <p:spPr>
          <a:xfrm>
            <a:off x="10077495" y="400554"/>
            <a:ext cx="7181805" cy="1256292"/>
          </a:xfrm>
          <a:custGeom>
            <a:avLst/>
            <a:gdLst/>
            <a:ahLst/>
            <a:cxnLst/>
            <a:rect l="l" t="t" r="r" b="b"/>
            <a:pathLst>
              <a:path w="7181805" h="1256292">
                <a:moveTo>
                  <a:pt x="0" y="0"/>
                </a:moveTo>
                <a:lnTo>
                  <a:pt x="7181805" y="0"/>
                </a:lnTo>
                <a:lnTo>
                  <a:pt x="7181805" y="1256292"/>
                </a:lnTo>
                <a:lnTo>
                  <a:pt x="0" y="125629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sp>
        <p:nvSpPr>
          <p:cNvPr id="12" name="TextBox 12"/>
          <p:cNvSpPr txBox="1"/>
          <p:nvPr/>
        </p:nvSpPr>
        <p:spPr>
          <a:xfrm>
            <a:off x="1295400" y="2037725"/>
            <a:ext cx="8534400" cy="568444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just">
              <a:lnSpc>
                <a:spcPts val="5033"/>
              </a:lnSpc>
            </a:pPr>
            <a:r>
              <a:rPr lang="es-ES" sz="2800" spc="167" dirty="0">
                <a:solidFill>
                  <a:srgbClr val="000000"/>
                </a:solidFill>
                <a:latin typeface="Bahnschrift" panose="020B0502040204020203" pitchFamily="34" charset="0"/>
              </a:rPr>
              <a:t>El EEG registra la actividad eléctrica del cerebro desde el exterior, pero no indica directamente dónde se originan esas señales dentro del cerebro. </a:t>
            </a:r>
          </a:p>
          <a:p>
            <a:pPr algn="just">
              <a:lnSpc>
                <a:spcPts val="5033"/>
              </a:lnSpc>
            </a:pPr>
            <a:r>
              <a:rPr lang="es-ES" sz="2800" spc="167" dirty="0">
                <a:solidFill>
                  <a:srgbClr val="000000"/>
                </a:solidFill>
                <a:latin typeface="Bahnschrift" panose="020B0502040204020203" pitchFamily="34" charset="0"/>
              </a:rPr>
              <a:t>Diferentes configuraciones internas pueden producir patrones muy similares en los electrodos, lo que hace que la localización de fuentes neuronales sea un problema ambiguo y difícil de resolver.</a:t>
            </a:r>
            <a:endParaRPr lang="en-US" sz="2800" spc="167" dirty="0">
              <a:solidFill>
                <a:srgbClr val="000000"/>
              </a:solidFill>
              <a:latin typeface="Bahnschrift" panose="020B0502040204020203" pitchFamily="34" charset="0"/>
            </a:endParaRPr>
          </a:p>
        </p:txBody>
      </p:sp>
      <p:sp>
        <p:nvSpPr>
          <p:cNvPr id="14" name="TextBox 14"/>
          <p:cNvSpPr txBox="1"/>
          <p:nvPr/>
        </p:nvSpPr>
        <p:spPr>
          <a:xfrm>
            <a:off x="16152336" y="8973979"/>
            <a:ext cx="1579863" cy="3095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2775"/>
              </a:lnSpc>
            </a:pPr>
            <a:r>
              <a:rPr lang="en-US" sz="1850" spc="92" dirty="0">
                <a:solidFill>
                  <a:srgbClr val="000000"/>
                </a:solidFill>
                <a:latin typeface="Bebas Neue Bold"/>
              </a:rPr>
              <a:t>PÁG. 3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028700" y="495775"/>
            <a:ext cx="6962405" cy="9182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7537"/>
              </a:lnSpc>
              <a:spcBef>
                <a:spcPct val="0"/>
              </a:spcBef>
            </a:pPr>
            <a:r>
              <a:rPr lang="en-US" sz="5024" spc="251">
                <a:solidFill>
                  <a:srgbClr val="000000"/>
                </a:solidFill>
                <a:latin typeface="League Gothic"/>
              </a:rPr>
              <a:t>PLANTEAMIENTO DEL PROBLEMA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0367828" y="7965985"/>
            <a:ext cx="6194703" cy="40966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75"/>
              </a:lnSpc>
              <a:spcBef>
                <a:spcPct val="0"/>
              </a:spcBef>
            </a:pPr>
            <a:r>
              <a:rPr lang="en-US" sz="2250" spc="112" dirty="0">
                <a:solidFill>
                  <a:srgbClr val="000000"/>
                </a:solidFill>
                <a:latin typeface="Bebas Neue Bold"/>
              </a:rPr>
              <a:t>FIGURA 4. </a:t>
            </a:r>
            <a:r>
              <a:rPr lang="en-US" sz="2250" spc="112" dirty="0" err="1">
                <a:solidFill>
                  <a:srgbClr val="000000"/>
                </a:solidFill>
                <a:latin typeface="Bebas Neue"/>
              </a:rPr>
              <a:t>eJEMPLOS</a:t>
            </a:r>
            <a:r>
              <a:rPr lang="en-US" sz="2250" spc="112" dirty="0">
                <a:solidFill>
                  <a:srgbClr val="000000"/>
                </a:solidFill>
                <a:latin typeface="Bebas Neue"/>
              </a:rPr>
              <a:t> DE Areas de </a:t>
            </a:r>
            <a:r>
              <a:rPr lang="en-US" sz="2250" spc="112" dirty="0" err="1">
                <a:solidFill>
                  <a:srgbClr val="000000"/>
                </a:solidFill>
                <a:latin typeface="Bebas Neue"/>
              </a:rPr>
              <a:t>activacion</a:t>
            </a:r>
            <a:r>
              <a:rPr lang="en-US" sz="2250" spc="112" dirty="0">
                <a:solidFill>
                  <a:srgbClr val="000000"/>
                </a:solidFill>
                <a:latin typeface="Bebas Neue"/>
              </a:rPr>
              <a:t> del Cerebro</a:t>
            </a:r>
          </a:p>
        </p:txBody>
      </p:sp>
      <p:pic>
        <p:nvPicPr>
          <p:cNvPr id="3074" name="Picture 2" descr="undefined">
            <a:extLst>
              <a:ext uri="{FF2B5EF4-FFF2-40B4-BE49-F238E27FC236}">
                <a16:creationId xmlns:a16="http://schemas.microsoft.com/office/drawing/2014/main" id="{4D07A8E7-126C-43A6-C24F-9D28214FE0C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91800" y="2476500"/>
            <a:ext cx="4876800" cy="34861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1F1EF6-5F91-6920-5680-26D6862D11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>
            <a:extLst>
              <a:ext uri="{FF2B5EF4-FFF2-40B4-BE49-F238E27FC236}">
                <a16:creationId xmlns:a16="http://schemas.microsoft.com/office/drawing/2014/main" id="{F5C0D2FE-0FF4-6B7C-B66E-B3A339D98989}"/>
              </a:ext>
            </a:extLst>
          </p:cNvPr>
          <p:cNvSpPr/>
          <p:nvPr/>
        </p:nvSpPr>
        <p:spPr>
          <a:xfrm rot="5400000">
            <a:off x="3204584" y="-1547738"/>
            <a:ext cx="173670" cy="6582839"/>
          </a:xfrm>
          <a:prstGeom prst="rect">
            <a:avLst/>
          </a:prstGeom>
          <a:solidFill>
            <a:srgbClr val="B71C2A"/>
          </a:solidFill>
        </p:spPr>
        <p:txBody>
          <a:bodyPr/>
          <a:lstStyle/>
          <a:p>
            <a:endParaRPr lang="es-MX"/>
          </a:p>
        </p:txBody>
      </p:sp>
      <p:sp>
        <p:nvSpPr>
          <p:cNvPr id="3" name="Freeform 3">
            <a:extLst>
              <a:ext uri="{FF2B5EF4-FFF2-40B4-BE49-F238E27FC236}">
                <a16:creationId xmlns:a16="http://schemas.microsoft.com/office/drawing/2014/main" id="{330ACA5E-6F2C-12D5-C101-BE6AF4CFA2B0}"/>
              </a:ext>
            </a:extLst>
          </p:cNvPr>
          <p:cNvSpPr/>
          <p:nvPr/>
        </p:nvSpPr>
        <p:spPr>
          <a:xfrm>
            <a:off x="10077495" y="400554"/>
            <a:ext cx="7181805" cy="1256292"/>
          </a:xfrm>
          <a:custGeom>
            <a:avLst/>
            <a:gdLst/>
            <a:ahLst/>
            <a:cxnLst/>
            <a:rect l="l" t="t" r="r" b="b"/>
            <a:pathLst>
              <a:path w="7181805" h="1256292">
                <a:moveTo>
                  <a:pt x="0" y="0"/>
                </a:moveTo>
                <a:lnTo>
                  <a:pt x="7181805" y="0"/>
                </a:lnTo>
                <a:lnTo>
                  <a:pt x="7181805" y="1256292"/>
                </a:lnTo>
                <a:lnTo>
                  <a:pt x="0" y="125629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sp>
        <p:nvSpPr>
          <p:cNvPr id="12" name="TextBox 12">
            <a:extLst>
              <a:ext uri="{FF2B5EF4-FFF2-40B4-BE49-F238E27FC236}">
                <a16:creationId xmlns:a16="http://schemas.microsoft.com/office/drawing/2014/main" id="{C5CE2661-7EEB-1C13-3657-4B3FD75E94B7}"/>
              </a:ext>
            </a:extLst>
          </p:cNvPr>
          <p:cNvSpPr txBox="1"/>
          <p:nvPr/>
        </p:nvSpPr>
        <p:spPr>
          <a:xfrm>
            <a:off x="304801" y="2037725"/>
            <a:ext cx="10515600" cy="696684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457200" indent="-4572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s-ES" sz="2800" spc="167" dirty="0">
                <a:solidFill>
                  <a:srgbClr val="000000"/>
                </a:solidFill>
                <a:latin typeface="Bahnschrift" panose="020B0502040204020203" pitchFamily="34" charset="0"/>
              </a:rPr>
              <a:t>El EEG mide la actividad eléctrica del cerebro desde el exterior, con electrodos en el cuero cabelludo.</a:t>
            </a:r>
          </a:p>
          <a:p>
            <a:pPr marL="457200" indent="-4572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s-ES" sz="2800" spc="167" dirty="0">
                <a:solidFill>
                  <a:srgbClr val="000000"/>
                </a:solidFill>
                <a:latin typeface="Bahnschrift" panose="020B0502040204020203" pitchFamily="34" charset="0"/>
              </a:rPr>
              <a:t>El problema inverso consiste en intentar descubrir dónde dentro del cerebro se generó esa actividad.</a:t>
            </a:r>
          </a:p>
          <a:p>
            <a:pPr marL="457200" indent="-4572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s-ES" sz="2800" spc="167" dirty="0">
                <a:solidFill>
                  <a:srgbClr val="000000"/>
                </a:solidFill>
                <a:latin typeface="Bahnschrift" panose="020B0502040204020203" pitchFamily="34" charset="0"/>
              </a:rPr>
              <a:t>El reto es que muchas configuraciones internas pueden producir señales muy parecidas, por lo que no existe una única solución evidente.</a:t>
            </a:r>
          </a:p>
          <a:p>
            <a:pPr algn="ctr">
              <a:lnSpc>
                <a:spcPct val="150000"/>
              </a:lnSpc>
            </a:pPr>
            <a:endParaRPr lang="es-ES" sz="2800" spc="167" dirty="0">
              <a:solidFill>
                <a:srgbClr val="000000"/>
              </a:solidFill>
              <a:latin typeface="Bahnschrift" panose="020B0502040204020203" pitchFamily="34" charset="0"/>
            </a:endParaRPr>
          </a:p>
          <a:p>
            <a:pPr algn="ctr">
              <a:lnSpc>
                <a:spcPct val="150000"/>
              </a:lnSpc>
            </a:pPr>
            <a:r>
              <a:rPr lang="es-ES" sz="2800" spc="167" dirty="0">
                <a:solidFill>
                  <a:srgbClr val="000000"/>
                </a:solidFill>
                <a:latin typeface="Bahnschrift" panose="020B0502040204020203" pitchFamily="34" charset="0"/>
              </a:rPr>
              <a:t>En otras palabras: Medimos la consecuencia (las señales), pero queremos averiguar la causa (la ubicación exacta de la fuente), y eso es matemáticamente ambiguo y difícil.</a:t>
            </a:r>
            <a:endParaRPr lang="en-US" sz="2800" spc="167" dirty="0">
              <a:solidFill>
                <a:srgbClr val="000000"/>
              </a:solidFill>
              <a:latin typeface="Bahnschrift" panose="020B0502040204020203" pitchFamily="34" charset="0"/>
            </a:endParaRPr>
          </a:p>
        </p:txBody>
      </p:sp>
      <p:sp>
        <p:nvSpPr>
          <p:cNvPr id="14" name="TextBox 14">
            <a:extLst>
              <a:ext uri="{FF2B5EF4-FFF2-40B4-BE49-F238E27FC236}">
                <a16:creationId xmlns:a16="http://schemas.microsoft.com/office/drawing/2014/main" id="{3EB70D4B-7831-FA16-4C62-9B43D01FA842}"/>
              </a:ext>
            </a:extLst>
          </p:cNvPr>
          <p:cNvSpPr txBox="1"/>
          <p:nvPr/>
        </p:nvSpPr>
        <p:spPr>
          <a:xfrm>
            <a:off x="16152336" y="8973979"/>
            <a:ext cx="1579863" cy="3095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2775"/>
              </a:lnSpc>
            </a:pPr>
            <a:r>
              <a:rPr lang="en-US" sz="1850" spc="92" dirty="0">
                <a:solidFill>
                  <a:srgbClr val="000000"/>
                </a:solidFill>
                <a:latin typeface="Bebas Neue Bold"/>
              </a:rPr>
              <a:t>PÁG. 4</a:t>
            </a:r>
          </a:p>
        </p:txBody>
      </p:sp>
      <p:sp>
        <p:nvSpPr>
          <p:cNvPr id="15" name="TextBox 15">
            <a:extLst>
              <a:ext uri="{FF2B5EF4-FFF2-40B4-BE49-F238E27FC236}">
                <a16:creationId xmlns:a16="http://schemas.microsoft.com/office/drawing/2014/main" id="{19BD1618-9BE7-2429-C167-244125966491}"/>
              </a:ext>
            </a:extLst>
          </p:cNvPr>
          <p:cNvSpPr txBox="1"/>
          <p:nvPr/>
        </p:nvSpPr>
        <p:spPr>
          <a:xfrm>
            <a:off x="1028700" y="495775"/>
            <a:ext cx="6962405" cy="9182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7537"/>
              </a:lnSpc>
              <a:spcBef>
                <a:spcPct val="0"/>
              </a:spcBef>
            </a:pPr>
            <a:r>
              <a:rPr lang="en-US" sz="5024" spc="251">
                <a:solidFill>
                  <a:srgbClr val="000000"/>
                </a:solidFill>
                <a:latin typeface="League Gothic"/>
              </a:rPr>
              <a:t>PLANTEAMIENTO DEL PROBLEMA</a:t>
            </a:r>
          </a:p>
        </p:txBody>
      </p:sp>
      <p:sp>
        <p:nvSpPr>
          <p:cNvPr id="16" name="TextBox 16">
            <a:extLst>
              <a:ext uri="{FF2B5EF4-FFF2-40B4-BE49-F238E27FC236}">
                <a16:creationId xmlns:a16="http://schemas.microsoft.com/office/drawing/2014/main" id="{0D52F057-3DAC-C331-DD80-36858324C5A1}"/>
              </a:ext>
            </a:extLst>
          </p:cNvPr>
          <p:cNvSpPr txBox="1"/>
          <p:nvPr/>
        </p:nvSpPr>
        <p:spPr>
          <a:xfrm>
            <a:off x="11057670" y="6819900"/>
            <a:ext cx="6194703" cy="40966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75"/>
              </a:lnSpc>
              <a:spcBef>
                <a:spcPct val="0"/>
              </a:spcBef>
            </a:pPr>
            <a:r>
              <a:rPr lang="en-US" sz="2250" spc="112" dirty="0">
                <a:solidFill>
                  <a:srgbClr val="000000"/>
                </a:solidFill>
                <a:latin typeface="Bebas Neue Bold"/>
              </a:rPr>
              <a:t>FIGURA 4. </a:t>
            </a:r>
            <a:r>
              <a:rPr lang="en-US" sz="2250" spc="112" dirty="0" err="1">
                <a:solidFill>
                  <a:srgbClr val="000000"/>
                </a:solidFill>
                <a:latin typeface="Bebas Neue"/>
              </a:rPr>
              <a:t>Representacion</a:t>
            </a:r>
            <a:r>
              <a:rPr lang="en-US" sz="2250" spc="112" dirty="0">
                <a:solidFill>
                  <a:srgbClr val="000000"/>
                </a:solidFill>
                <a:latin typeface="Bebas Neue"/>
              </a:rPr>
              <a:t> de </a:t>
            </a:r>
            <a:r>
              <a:rPr lang="en-US" sz="2250" spc="112" dirty="0" err="1">
                <a:solidFill>
                  <a:srgbClr val="000000"/>
                </a:solidFill>
                <a:latin typeface="Bebas Neue"/>
              </a:rPr>
              <a:t>modelo</a:t>
            </a:r>
            <a:r>
              <a:rPr lang="en-US" sz="2250" spc="112" dirty="0">
                <a:solidFill>
                  <a:srgbClr val="000000"/>
                </a:solidFill>
                <a:latin typeface="Bebas Neue"/>
              </a:rPr>
              <a:t> </a:t>
            </a:r>
            <a:r>
              <a:rPr lang="en-US" sz="2250" spc="112" dirty="0" err="1">
                <a:solidFill>
                  <a:srgbClr val="000000"/>
                </a:solidFill>
                <a:latin typeface="Bebas Neue"/>
              </a:rPr>
              <a:t>inverso</a:t>
            </a:r>
            <a:endParaRPr lang="en-US" sz="2250" spc="112" dirty="0">
              <a:solidFill>
                <a:srgbClr val="000000"/>
              </a:solidFill>
              <a:latin typeface="Bebas Neue"/>
            </a:endParaRPr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8D7E97FD-795D-C544-B122-17FA48C86BB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998856" y="3245982"/>
            <a:ext cx="4153480" cy="34771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653818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028700" y="495775"/>
            <a:ext cx="3206156" cy="9182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537"/>
              </a:lnSpc>
              <a:spcBef>
                <a:spcPct val="0"/>
              </a:spcBef>
            </a:pPr>
            <a:r>
              <a:rPr lang="en-US" sz="5024" spc="251">
                <a:solidFill>
                  <a:srgbClr val="000000"/>
                </a:solidFill>
                <a:latin typeface="League Gothic"/>
              </a:rPr>
              <a:t>HIPOTESIS</a:t>
            </a:r>
          </a:p>
        </p:txBody>
      </p:sp>
      <p:sp>
        <p:nvSpPr>
          <p:cNvPr id="3" name="AutoShape 3"/>
          <p:cNvSpPr/>
          <p:nvPr/>
        </p:nvSpPr>
        <p:spPr>
          <a:xfrm rot="5400000">
            <a:off x="4660016" y="-3115243"/>
            <a:ext cx="107514" cy="9427547"/>
          </a:xfrm>
          <a:prstGeom prst="rect">
            <a:avLst/>
          </a:prstGeom>
          <a:solidFill>
            <a:srgbClr val="B71C2A"/>
          </a:solidFill>
        </p:spPr>
        <p:txBody>
          <a:bodyPr/>
          <a:lstStyle/>
          <a:p>
            <a:endParaRPr lang="es-MX"/>
          </a:p>
        </p:txBody>
      </p:sp>
      <p:sp>
        <p:nvSpPr>
          <p:cNvPr id="4" name="TextBox 4"/>
          <p:cNvSpPr txBox="1"/>
          <p:nvPr/>
        </p:nvSpPr>
        <p:spPr>
          <a:xfrm>
            <a:off x="1688415" y="2107566"/>
            <a:ext cx="14911170" cy="229267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4575"/>
              </a:lnSpc>
              <a:spcBef>
                <a:spcPct val="0"/>
              </a:spcBef>
            </a:pPr>
            <a:r>
              <a:rPr lang="es-ES" sz="2800" spc="152" dirty="0">
                <a:solidFill>
                  <a:srgbClr val="000000"/>
                </a:solidFill>
                <a:latin typeface="Bahnschrift" panose="020B0502040204020203" pitchFamily="34" charset="0"/>
              </a:rPr>
              <a:t>El uso de un modelo híbrido de </a:t>
            </a:r>
            <a:r>
              <a:rPr lang="es-ES" sz="2800" spc="152" dirty="0" err="1">
                <a:solidFill>
                  <a:srgbClr val="000000"/>
                </a:solidFill>
                <a:latin typeface="Bahnschrift" panose="020B0502040204020203" pitchFamily="34" charset="0"/>
              </a:rPr>
              <a:t>deep</a:t>
            </a:r>
            <a:r>
              <a:rPr lang="es-ES" sz="2800" spc="152" dirty="0">
                <a:solidFill>
                  <a:srgbClr val="000000"/>
                </a:solidFill>
                <a:latin typeface="Bahnschrift" panose="020B0502040204020203" pitchFamily="34" charset="0"/>
              </a:rPr>
              <a:t> </a:t>
            </a:r>
            <a:r>
              <a:rPr lang="es-ES" sz="2800" spc="152" dirty="0" err="1">
                <a:solidFill>
                  <a:srgbClr val="000000"/>
                </a:solidFill>
                <a:latin typeface="Bahnschrift" panose="020B0502040204020203" pitchFamily="34" charset="0"/>
              </a:rPr>
              <a:t>learning</a:t>
            </a:r>
            <a:r>
              <a:rPr lang="es-ES" sz="2800" spc="152" dirty="0">
                <a:solidFill>
                  <a:srgbClr val="000000"/>
                </a:solidFill>
                <a:latin typeface="Bahnschrift" panose="020B0502040204020203" pitchFamily="34" charset="0"/>
              </a:rPr>
              <a:t> entrenado con datos sintéticos permitirá mejorar la precisión en la localización de fuentes neuronales en comparación con los métodos clásicos (MNE, </a:t>
            </a:r>
            <a:r>
              <a:rPr lang="es-ES" sz="2800" spc="152" dirty="0" err="1">
                <a:solidFill>
                  <a:srgbClr val="000000"/>
                </a:solidFill>
                <a:latin typeface="Bahnschrift" panose="020B0502040204020203" pitchFamily="34" charset="0"/>
              </a:rPr>
              <a:t>sLORETA</a:t>
            </a:r>
            <a:r>
              <a:rPr lang="es-ES" sz="2800" spc="152" dirty="0">
                <a:solidFill>
                  <a:srgbClr val="000000"/>
                </a:solidFill>
                <a:latin typeface="Bahnschrift" panose="020B0502040204020203" pitchFamily="34" charset="0"/>
              </a:rPr>
              <a:t>, VARETA), incluso en condiciones con ruido y variaciones anatómicas</a:t>
            </a:r>
            <a:endParaRPr lang="en-US" sz="2800" spc="152" dirty="0">
              <a:solidFill>
                <a:srgbClr val="000000"/>
              </a:solidFill>
              <a:latin typeface="Bahnschrift" panose="020B0502040204020203" pitchFamily="34" charset="0"/>
            </a:endParaRPr>
          </a:p>
        </p:txBody>
      </p:sp>
      <p:sp>
        <p:nvSpPr>
          <p:cNvPr id="5" name="TextBox 5"/>
          <p:cNvSpPr txBox="1"/>
          <p:nvPr/>
        </p:nvSpPr>
        <p:spPr>
          <a:xfrm>
            <a:off x="1028700" y="4991100"/>
            <a:ext cx="3206156" cy="9182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537"/>
              </a:lnSpc>
              <a:spcBef>
                <a:spcPct val="0"/>
              </a:spcBef>
            </a:pPr>
            <a:r>
              <a:rPr lang="en-US" sz="5024" spc="251" dirty="0">
                <a:solidFill>
                  <a:srgbClr val="000000"/>
                </a:solidFill>
                <a:latin typeface="League Gothic"/>
              </a:rPr>
              <a:t>OBJETIVOS</a:t>
            </a:r>
          </a:p>
        </p:txBody>
      </p:sp>
      <p:sp>
        <p:nvSpPr>
          <p:cNvPr id="6" name="AutoShape 6"/>
          <p:cNvSpPr/>
          <p:nvPr/>
        </p:nvSpPr>
        <p:spPr>
          <a:xfrm rot="5400000">
            <a:off x="4660016" y="1479014"/>
            <a:ext cx="107514" cy="9427547"/>
          </a:xfrm>
          <a:prstGeom prst="rect">
            <a:avLst/>
          </a:prstGeom>
          <a:solidFill>
            <a:srgbClr val="B71C2A"/>
          </a:solidFill>
        </p:spPr>
        <p:txBody>
          <a:bodyPr/>
          <a:lstStyle/>
          <a:p>
            <a:endParaRPr lang="es-MX"/>
          </a:p>
        </p:txBody>
      </p:sp>
      <p:sp>
        <p:nvSpPr>
          <p:cNvPr id="7" name="TextBox 7"/>
          <p:cNvSpPr txBox="1"/>
          <p:nvPr/>
        </p:nvSpPr>
        <p:spPr>
          <a:xfrm>
            <a:off x="1688415" y="6515112"/>
            <a:ext cx="14911170" cy="185134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ct val="150000"/>
              </a:lnSpc>
              <a:spcBef>
                <a:spcPct val="0"/>
              </a:spcBef>
            </a:pPr>
            <a:r>
              <a:rPr lang="en-US" sz="2800" b="1" u="sng" spc="152" dirty="0">
                <a:solidFill>
                  <a:srgbClr val="000000"/>
                </a:solidFill>
                <a:latin typeface="Bahnschrift" panose="020B0502040204020203" pitchFamily="34" charset="0"/>
              </a:rPr>
              <a:t>General</a:t>
            </a:r>
          </a:p>
          <a:p>
            <a:pPr algn="just">
              <a:lnSpc>
                <a:spcPct val="150000"/>
              </a:lnSpc>
              <a:spcBef>
                <a:spcPct val="0"/>
              </a:spcBef>
            </a:pPr>
            <a:r>
              <a:rPr lang="en-US" sz="2800" spc="152" dirty="0">
                <a:solidFill>
                  <a:srgbClr val="000000"/>
                </a:solidFill>
                <a:latin typeface="Bahnschrift" panose="020B0502040204020203" pitchFamily="34" charset="0"/>
              </a:rPr>
              <a:t>D</a:t>
            </a:r>
            <a:r>
              <a:rPr lang="es-ES" sz="2800" spc="152" dirty="0">
                <a:solidFill>
                  <a:srgbClr val="000000"/>
                </a:solidFill>
                <a:latin typeface="Bahnschrift" panose="020B0502040204020203" pitchFamily="34" charset="0"/>
              </a:rPr>
              <a:t>esarrollar un modelo híbrido de </a:t>
            </a:r>
            <a:r>
              <a:rPr lang="es-ES" sz="2800" spc="152" dirty="0" err="1">
                <a:solidFill>
                  <a:srgbClr val="000000"/>
                </a:solidFill>
                <a:latin typeface="Bahnschrift" panose="020B0502040204020203" pitchFamily="34" charset="0"/>
              </a:rPr>
              <a:t>deep</a:t>
            </a:r>
            <a:r>
              <a:rPr lang="es-ES" sz="2800" spc="152" dirty="0">
                <a:solidFill>
                  <a:srgbClr val="000000"/>
                </a:solidFill>
                <a:latin typeface="Bahnschrift" panose="020B0502040204020203" pitchFamily="34" charset="0"/>
              </a:rPr>
              <a:t> </a:t>
            </a:r>
            <a:r>
              <a:rPr lang="es-ES" sz="2800" spc="152" dirty="0" err="1">
                <a:solidFill>
                  <a:srgbClr val="000000"/>
                </a:solidFill>
                <a:latin typeface="Bahnschrift" panose="020B0502040204020203" pitchFamily="34" charset="0"/>
              </a:rPr>
              <a:t>learning</a:t>
            </a:r>
            <a:r>
              <a:rPr lang="es-ES" sz="2800" spc="152" dirty="0">
                <a:solidFill>
                  <a:srgbClr val="000000"/>
                </a:solidFill>
                <a:latin typeface="Bahnschrift" panose="020B0502040204020203" pitchFamily="34" charset="0"/>
              </a:rPr>
              <a:t> capaz de mejorar la precisión en la localización de fuentes neuronales a partir de señales EEG sintéticas.</a:t>
            </a:r>
            <a:endParaRPr lang="en-US" sz="2800" spc="152" dirty="0">
              <a:solidFill>
                <a:srgbClr val="000000"/>
              </a:solidFill>
              <a:latin typeface="Bahnschrift" panose="020B0502040204020203" pitchFamily="34" charset="0"/>
            </a:endParaRPr>
          </a:p>
        </p:txBody>
      </p:sp>
      <p:sp>
        <p:nvSpPr>
          <p:cNvPr id="8" name="TextBox 8"/>
          <p:cNvSpPr txBox="1"/>
          <p:nvPr/>
        </p:nvSpPr>
        <p:spPr>
          <a:xfrm>
            <a:off x="15679437" y="9191625"/>
            <a:ext cx="1579863" cy="3095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2775"/>
              </a:lnSpc>
              <a:spcBef>
                <a:spcPct val="0"/>
              </a:spcBef>
            </a:pPr>
            <a:r>
              <a:rPr lang="en-US" sz="1850" spc="92" dirty="0">
                <a:solidFill>
                  <a:srgbClr val="000000"/>
                </a:solidFill>
                <a:latin typeface="Bebas Neue Bold"/>
              </a:rPr>
              <a:t>PÁG. 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028700" y="495775"/>
            <a:ext cx="3206156" cy="9182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537"/>
              </a:lnSpc>
              <a:spcBef>
                <a:spcPct val="0"/>
              </a:spcBef>
            </a:pPr>
            <a:r>
              <a:rPr lang="en-US" sz="5024" spc="251" dirty="0">
                <a:solidFill>
                  <a:srgbClr val="000000"/>
                </a:solidFill>
                <a:latin typeface="League Gothic"/>
              </a:rPr>
              <a:t>OBJETIVOS</a:t>
            </a:r>
          </a:p>
        </p:txBody>
      </p:sp>
      <p:sp>
        <p:nvSpPr>
          <p:cNvPr id="3" name="AutoShape 3"/>
          <p:cNvSpPr/>
          <p:nvPr/>
        </p:nvSpPr>
        <p:spPr>
          <a:xfrm rot="5400000">
            <a:off x="4660016" y="-3115243"/>
            <a:ext cx="107514" cy="9427547"/>
          </a:xfrm>
          <a:prstGeom prst="rect">
            <a:avLst/>
          </a:prstGeom>
          <a:solidFill>
            <a:srgbClr val="B71C2A"/>
          </a:solidFill>
        </p:spPr>
        <p:txBody>
          <a:bodyPr/>
          <a:lstStyle/>
          <a:p>
            <a:endParaRPr lang="es-MX"/>
          </a:p>
        </p:txBody>
      </p:sp>
      <p:sp>
        <p:nvSpPr>
          <p:cNvPr id="4" name="TextBox 4"/>
          <p:cNvSpPr txBox="1"/>
          <p:nvPr/>
        </p:nvSpPr>
        <p:spPr>
          <a:xfrm>
            <a:off x="1028700" y="1857375"/>
            <a:ext cx="16230600" cy="517064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spcBef>
                <a:spcPct val="0"/>
              </a:spcBef>
            </a:pPr>
            <a:r>
              <a:rPr lang="en-US" sz="2800" b="1" u="sng" spc="149" dirty="0">
                <a:solidFill>
                  <a:srgbClr val="000000"/>
                </a:solidFill>
                <a:latin typeface="Bahnschrift" panose="020B0502040204020203" pitchFamily="34" charset="0"/>
              </a:rPr>
              <a:t>Especificos</a:t>
            </a:r>
          </a:p>
          <a:p>
            <a:pPr algn="just">
              <a:spcBef>
                <a:spcPct val="0"/>
              </a:spcBef>
            </a:pPr>
            <a:endParaRPr lang="en-US" sz="2800" spc="149" dirty="0">
              <a:solidFill>
                <a:srgbClr val="000000"/>
              </a:solidFill>
              <a:latin typeface="Bahnschrift" panose="020B0502040204020203" pitchFamily="34" charset="0"/>
            </a:endParaRPr>
          </a:p>
          <a:p>
            <a:pPr marL="914400" lvl="1" indent="-457200" algn="just"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s-ES" sz="2800" spc="149" dirty="0">
                <a:solidFill>
                  <a:srgbClr val="000000"/>
                </a:solidFill>
                <a:latin typeface="Bahnschrift" panose="020B0502040204020203" pitchFamily="34" charset="0"/>
              </a:rPr>
              <a:t>Generar un </a:t>
            </a:r>
            <a:r>
              <a:rPr lang="es-ES" sz="2800" spc="149" dirty="0" err="1">
                <a:solidFill>
                  <a:srgbClr val="000000"/>
                </a:solidFill>
                <a:latin typeface="Bahnschrift" panose="020B0502040204020203" pitchFamily="34" charset="0"/>
              </a:rPr>
              <a:t>dataset</a:t>
            </a:r>
            <a:r>
              <a:rPr lang="es-ES" sz="2800" spc="149" dirty="0">
                <a:solidFill>
                  <a:srgbClr val="000000"/>
                </a:solidFill>
                <a:latin typeface="Bahnschrift" panose="020B0502040204020203" pitchFamily="34" charset="0"/>
              </a:rPr>
              <a:t> sintético de señales EEG utilizando modelos de cabeza y simulaciones de actividad neuronal.</a:t>
            </a:r>
          </a:p>
          <a:p>
            <a:pPr marL="914400" lvl="1" indent="-457200" algn="just"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s-ES" sz="2800" spc="149" dirty="0">
                <a:solidFill>
                  <a:srgbClr val="000000"/>
                </a:solidFill>
                <a:latin typeface="Bahnschrift" panose="020B0502040204020203" pitchFamily="34" charset="0"/>
              </a:rPr>
              <a:t>Diseñar y entrenar un modelo de redes neuronales (CNN + modelos secuenciales) para aprender la relación entre señales EEG y la ubicación de las fuentes.</a:t>
            </a:r>
          </a:p>
          <a:p>
            <a:pPr marL="914400" lvl="1" indent="-457200" algn="just"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s-ES" sz="2800" spc="149" dirty="0">
                <a:solidFill>
                  <a:srgbClr val="000000"/>
                </a:solidFill>
                <a:latin typeface="Bahnschrift" panose="020B0502040204020203" pitchFamily="34" charset="0"/>
              </a:rPr>
              <a:t>Evaluar el desempeño del modelo usando métricas como LE, TE, </a:t>
            </a:r>
            <a:r>
              <a:rPr lang="es-ES" sz="2800" spc="149" dirty="0" err="1">
                <a:solidFill>
                  <a:srgbClr val="000000"/>
                </a:solidFill>
                <a:latin typeface="Bahnschrift" panose="020B0502040204020203" pitchFamily="34" charset="0"/>
              </a:rPr>
              <a:t>nMSE</a:t>
            </a:r>
            <a:r>
              <a:rPr lang="es-ES" sz="2800" spc="149" dirty="0">
                <a:solidFill>
                  <a:srgbClr val="000000"/>
                </a:solidFill>
                <a:latin typeface="Bahnschrift" panose="020B0502040204020203" pitchFamily="34" charset="0"/>
              </a:rPr>
              <a:t>, PSNR y compararlo con técnicas clásicas.</a:t>
            </a:r>
          </a:p>
          <a:p>
            <a:pPr marL="914400" lvl="1" indent="-457200" algn="just"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s-ES" sz="2800" spc="149" dirty="0">
                <a:solidFill>
                  <a:srgbClr val="000000"/>
                </a:solidFill>
                <a:latin typeface="Bahnschrift" panose="020B0502040204020203" pitchFamily="34" charset="0"/>
              </a:rPr>
              <a:t>Analizar la robustez del modelo frente a ruido y variaciones en la geometría de la cabeza.</a:t>
            </a:r>
          </a:p>
          <a:p>
            <a:pPr marL="914400" lvl="1" indent="-457200" algn="just"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s-ES" sz="2800" spc="149" dirty="0">
                <a:solidFill>
                  <a:srgbClr val="000000"/>
                </a:solidFill>
                <a:latin typeface="Bahnschrift" panose="020B0502040204020203" pitchFamily="34" charset="0"/>
              </a:rPr>
              <a:t>Determinar si el modelo propuesto supera a métodos tradicionales en precisión y generalización.</a:t>
            </a:r>
            <a:endParaRPr lang="en-US" sz="2800" spc="149" dirty="0">
              <a:solidFill>
                <a:srgbClr val="000000"/>
              </a:solidFill>
              <a:latin typeface="Bahnschrift" panose="020B0502040204020203" pitchFamily="34" charset="0"/>
            </a:endParaRPr>
          </a:p>
        </p:txBody>
      </p:sp>
      <p:sp>
        <p:nvSpPr>
          <p:cNvPr id="5" name="TextBox 5"/>
          <p:cNvSpPr txBox="1"/>
          <p:nvPr/>
        </p:nvSpPr>
        <p:spPr>
          <a:xfrm>
            <a:off x="15884155" y="9191625"/>
            <a:ext cx="1579863" cy="3095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2775"/>
              </a:lnSpc>
              <a:spcBef>
                <a:spcPct val="0"/>
              </a:spcBef>
            </a:pPr>
            <a:r>
              <a:rPr lang="en-US" sz="1850" spc="92" dirty="0">
                <a:solidFill>
                  <a:srgbClr val="000000"/>
                </a:solidFill>
                <a:latin typeface="Bebas Neue Bold"/>
              </a:rPr>
              <a:t>PÁG. 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 rot="5400000">
            <a:off x="4660016" y="-2963475"/>
            <a:ext cx="107514" cy="9427547"/>
          </a:xfrm>
          <a:prstGeom prst="rect">
            <a:avLst/>
          </a:prstGeom>
          <a:solidFill>
            <a:srgbClr val="B71C2A"/>
          </a:solidFill>
        </p:spPr>
        <p:txBody>
          <a:bodyPr/>
          <a:lstStyle/>
          <a:p>
            <a:endParaRPr lang="es-MX"/>
          </a:p>
        </p:txBody>
      </p:sp>
      <p:sp>
        <p:nvSpPr>
          <p:cNvPr id="6" name="Freeform 6"/>
          <p:cNvSpPr/>
          <p:nvPr/>
        </p:nvSpPr>
        <p:spPr>
          <a:xfrm>
            <a:off x="10077495" y="400554"/>
            <a:ext cx="7181805" cy="1256292"/>
          </a:xfrm>
          <a:custGeom>
            <a:avLst/>
            <a:gdLst/>
            <a:ahLst/>
            <a:cxnLst/>
            <a:rect l="l" t="t" r="r" b="b"/>
            <a:pathLst>
              <a:path w="7181805" h="1256292">
                <a:moveTo>
                  <a:pt x="0" y="0"/>
                </a:moveTo>
                <a:lnTo>
                  <a:pt x="7181805" y="0"/>
                </a:lnTo>
                <a:lnTo>
                  <a:pt x="7181805" y="1256292"/>
                </a:lnTo>
                <a:lnTo>
                  <a:pt x="0" y="125629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sp>
        <p:nvSpPr>
          <p:cNvPr id="23" name="TextBox 23"/>
          <p:cNvSpPr txBox="1"/>
          <p:nvPr/>
        </p:nvSpPr>
        <p:spPr>
          <a:xfrm>
            <a:off x="752893" y="9310593"/>
            <a:ext cx="1579863" cy="3095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2775"/>
              </a:lnSpc>
              <a:spcBef>
                <a:spcPct val="0"/>
              </a:spcBef>
            </a:pPr>
            <a:r>
              <a:rPr lang="en-US" sz="1850" spc="92" dirty="0">
                <a:solidFill>
                  <a:srgbClr val="000000"/>
                </a:solidFill>
                <a:latin typeface="Bebas Neue Bold"/>
              </a:rPr>
              <a:t>PÁG. 7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1028700" y="495775"/>
            <a:ext cx="6962405" cy="9182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7537"/>
              </a:lnSpc>
              <a:spcBef>
                <a:spcPct val="0"/>
              </a:spcBef>
            </a:pPr>
            <a:r>
              <a:rPr lang="en-US" sz="5024" spc="251">
                <a:solidFill>
                  <a:srgbClr val="000000"/>
                </a:solidFill>
                <a:latin typeface="League Gothic"/>
              </a:rPr>
              <a:t>FUNDAMENTACIÓN TEÓRICA</a:t>
            </a:r>
          </a:p>
        </p:txBody>
      </p:sp>
      <p:sp>
        <p:nvSpPr>
          <p:cNvPr id="38" name="CuadroTexto 37">
            <a:extLst>
              <a:ext uri="{FF2B5EF4-FFF2-40B4-BE49-F238E27FC236}">
                <a16:creationId xmlns:a16="http://schemas.microsoft.com/office/drawing/2014/main" id="{70084883-6983-0636-BAAC-7E887DD9B216}"/>
              </a:ext>
            </a:extLst>
          </p:cNvPr>
          <p:cNvSpPr txBox="1"/>
          <p:nvPr/>
        </p:nvSpPr>
        <p:spPr>
          <a:xfrm>
            <a:off x="752892" y="2247900"/>
            <a:ext cx="16849308" cy="56938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s-ES" sz="2800" spc="149" dirty="0">
                <a:solidFill>
                  <a:srgbClr val="000000"/>
                </a:solidFill>
                <a:latin typeface="Bahnschrift" panose="020B0502040204020203" pitchFamily="34" charset="0"/>
              </a:rPr>
              <a:t>Para estimar la ubicación de las fuentes, se formula el problema directo. Esto requiere modelos matemáticos y físicos, como:</a:t>
            </a:r>
          </a:p>
          <a:p>
            <a:pPr>
              <a:buNone/>
            </a:pPr>
            <a:endParaRPr lang="es-ES" sz="2800" spc="149" dirty="0">
              <a:solidFill>
                <a:srgbClr val="000000"/>
              </a:solidFill>
              <a:latin typeface="Bahnschrift" panose="020B0502040204020203" pitchFamily="34" charset="0"/>
            </a:endParaRP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s-ES" sz="2800" spc="149" dirty="0">
                <a:solidFill>
                  <a:srgbClr val="000000"/>
                </a:solidFill>
                <a:latin typeface="Bahnschrift" panose="020B0502040204020203" pitchFamily="34" charset="0"/>
              </a:rPr>
              <a:t> Modelos de cabeza (esférico, BEM, FEM, LSMAC)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s-ES" sz="2800" spc="149" dirty="0">
                <a:solidFill>
                  <a:srgbClr val="000000"/>
                </a:solidFill>
                <a:latin typeface="Bahnschrift" panose="020B0502040204020203" pitchFamily="34" charset="0"/>
              </a:rPr>
              <a:t>Lead Field Matrix, (posible fuente - señal generada).</a:t>
            </a:r>
          </a:p>
          <a:p>
            <a:pPr>
              <a:buFont typeface="Arial" panose="020B0604020202020204" pitchFamily="34" charset="0"/>
              <a:buChar char="•"/>
            </a:pPr>
            <a:endParaRPr lang="es-ES" sz="2800" spc="149" dirty="0">
              <a:solidFill>
                <a:srgbClr val="000000"/>
              </a:solidFill>
              <a:latin typeface="Bahnschrift" panose="020B0502040204020203" pitchFamily="34" charset="0"/>
            </a:endParaRPr>
          </a:p>
          <a:p>
            <a:pPr>
              <a:buNone/>
            </a:pPr>
            <a:endParaRPr lang="es-ES" sz="2800" spc="149" dirty="0">
              <a:solidFill>
                <a:srgbClr val="000000"/>
              </a:solidFill>
              <a:latin typeface="Bahnschrift" panose="020B0502040204020203" pitchFamily="34" charset="0"/>
            </a:endParaRPr>
          </a:p>
          <a:p>
            <a:pPr>
              <a:buNone/>
            </a:pPr>
            <a:r>
              <a:rPr lang="es-ES" sz="2800" spc="149" dirty="0">
                <a:solidFill>
                  <a:srgbClr val="000000"/>
                </a:solidFill>
                <a:latin typeface="Bahnschrift" panose="020B0502040204020203" pitchFamily="34" charset="0"/>
              </a:rPr>
              <a:t>El problema inverso es mal planteado, ambiguo y no tiene una única solución debido a:</a:t>
            </a:r>
          </a:p>
          <a:p>
            <a:pPr>
              <a:buNone/>
            </a:pPr>
            <a:endParaRPr lang="es-ES" sz="2800" spc="149" dirty="0">
              <a:solidFill>
                <a:srgbClr val="000000"/>
              </a:solidFill>
              <a:latin typeface="Bahnschrift" panose="020B0502040204020203" pitchFamily="34" charset="0"/>
            </a:endParaRP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s-ES" sz="2800" spc="149" dirty="0">
                <a:solidFill>
                  <a:srgbClr val="000000"/>
                </a:solidFill>
                <a:latin typeface="Bahnschrift" panose="020B0502040204020203" pitchFamily="34" charset="0"/>
              </a:rPr>
              <a:t>La baja conductividad del cráneo.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s-ES" sz="2800" spc="149" dirty="0">
                <a:solidFill>
                  <a:srgbClr val="000000"/>
                </a:solidFill>
                <a:latin typeface="Bahnschrift" panose="020B0502040204020203" pitchFamily="34" charset="0"/>
              </a:rPr>
              <a:t>La mezcla espacial de señales.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s-ES" sz="2800" spc="149" dirty="0">
                <a:solidFill>
                  <a:srgbClr val="000000"/>
                </a:solidFill>
                <a:latin typeface="Bahnschrift" panose="020B0502040204020203" pitchFamily="34" charset="0"/>
              </a:rPr>
              <a:t>La superposición de múltiples fuentes.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s-ES" sz="2800" spc="149" dirty="0">
                <a:solidFill>
                  <a:srgbClr val="000000"/>
                </a:solidFill>
                <a:latin typeface="Bahnschrift" panose="020B0502040204020203" pitchFamily="34" charset="0"/>
              </a:rPr>
              <a:t>La presencia de ruido.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EFEF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705C638-0043-E16E-21C1-5E0367CBE5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>
            <a:extLst>
              <a:ext uri="{FF2B5EF4-FFF2-40B4-BE49-F238E27FC236}">
                <a16:creationId xmlns:a16="http://schemas.microsoft.com/office/drawing/2014/main" id="{4E37DF40-441A-8A5D-6E43-F9F056FE8EBA}"/>
              </a:ext>
            </a:extLst>
          </p:cNvPr>
          <p:cNvSpPr/>
          <p:nvPr/>
        </p:nvSpPr>
        <p:spPr>
          <a:xfrm rot="5400000">
            <a:off x="3066456" y="-1271943"/>
            <a:ext cx="145456" cy="6278368"/>
          </a:xfrm>
          <a:prstGeom prst="rect">
            <a:avLst/>
          </a:prstGeom>
          <a:solidFill>
            <a:srgbClr val="B71C2A"/>
          </a:solidFill>
        </p:spPr>
        <p:txBody>
          <a:bodyPr/>
          <a:lstStyle/>
          <a:p>
            <a:endParaRPr lang="es-MX"/>
          </a:p>
        </p:txBody>
      </p:sp>
      <p:sp>
        <p:nvSpPr>
          <p:cNvPr id="3" name="Freeform 3">
            <a:extLst>
              <a:ext uri="{FF2B5EF4-FFF2-40B4-BE49-F238E27FC236}">
                <a16:creationId xmlns:a16="http://schemas.microsoft.com/office/drawing/2014/main" id="{DB2953A2-9CFC-FAB2-4E64-83B4E5384D63}"/>
              </a:ext>
            </a:extLst>
          </p:cNvPr>
          <p:cNvSpPr/>
          <p:nvPr/>
        </p:nvSpPr>
        <p:spPr>
          <a:xfrm>
            <a:off x="10745894" y="459014"/>
            <a:ext cx="6513406" cy="1139371"/>
          </a:xfrm>
          <a:custGeom>
            <a:avLst/>
            <a:gdLst/>
            <a:ahLst/>
            <a:cxnLst/>
            <a:rect l="l" t="t" r="r" b="b"/>
            <a:pathLst>
              <a:path w="6513406" h="1139371">
                <a:moveTo>
                  <a:pt x="0" y="0"/>
                </a:moveTo>
                <a:lnTo>
                  <a:pt x="6513406" y="0"/>
                </a:lnTo>
                <a:lnTo>
                  <a:pt x="6513406" y="1139372"/>
                </a:lnTo>
                <a:lnTo>
                  <a:pt x="0" y="113937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sp>
        <p:nvSpPr>
          <p:cNvPr id="4" name="Freeform 4">
            <a:extLst>
              <a:ext uri="{FF2B5EF4-FFF2-40B4-BE49-F238E27FC236}">
                <a16:creationId xmlns:a16="http://schemas.microsoft.com/office/drawing/2014/main" id="{4082A897-8682-7004-6646-ED1042971D82}"/>
              </a:ext>
            </a:extLst>
          </p:cNvPr>
          <p:cNvSpPr/>
          <p:nvPr/>
        </p:nvSpPr>
        <p:spPr>
          <a:xfrm rot="5400000" flipV="1">
            <a:off x="14402039" y="6396699"/>
            <a:ext cx="2191311" cy="5532383"/>
          </a:xfrm>
          <a:custGeom>
            <a:avLst/>
            <a:gdLst/>
            <a:ahLst/>
            <a:cxnLst/>
            <a:rect l="l" t="t" r="r" b="b"/>
            <a:pathLst>
              <a:path w="2191311" h="5532383">
                <a:moveTo>
                  <a:pt x="0" y="5532383"/>
                </a:moveTo>
                <a:lnTo>
                  <a:pt x="2191311" y="5532383"/>
                </a:lnTo>
                <a:lnTo>
                  <a:pt x="2191311" y="0"/>
                </a:lnTo>
                <a:lnTo>
                  <a:pt x="0" y="0"/>
                </a:lnTo>
                <a:lnTo>
                  <a:pt x="0" y="5532383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sp>
        <p:nvSpPr>
          <p:cNvPr id="5" name="TextBox 5">
            <a:extLst>
              <a:ext uri="{FF2B5EF4-FFF2-40B4-BE49-F238E27FC236}">
                <a16:creationId xmlns:a16="http://schemas.microsoft.com/office/drawing/2014/main" id="{B0867343-5D31-1109-16FF-957F1338CB06}"/>
              </a:ext>
            </a:extLst>
          </p:cNvPr>
          <p:cNvSpPr txBox="1"/>
          <p:nvPr/>
        </p:nvSpPr>
        <p:spPr>
          <a:xfrm>
            <a:off x="548415" y="493394"/>
            <a:ext cx="4771227" cy="9182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537"/>
              </a:lnSpc>
              <a:spcBef>
                <a:spcPct val="0"/>
              </a:spcBef>
            </a:pPr>
            <a:r>
              <a:rPr lang="en-US" sz="5024" spc="251" dirty="0">
                <a:solidFill>
                  <a:srgbClr val="000000"/>
                </a:solidFill>
                <a:latin typeface="League Gothic"/>
              </a:rPr>
              <a:t>METODOLOGÍA</a:t>
            </a:r>
          </a:p>
        </p:txBody>
      </p:sp>
      <p:sp>
        <p:nvSpPr>
          <p:cNvPr id="8" name="TextBox 8">
            <a:extLst>
              <a:ext uri="{FF2B5EF4-FFF2-40B4-BE49-F238E27FC236}">
                <a16:creationId xmlns:a16="http://schemas.microsoft.com/office/drawing/2014/main" id="{59D41ECE-A3F2-1DE2-1568-2B6FCE66C16B}"/>
              </a:ext>
            </a:extLst>
          </p:cNvPr>
          <p:cNvSpPr txBox="1"/>
          <p:nvPr/>
        </p:nvSpPr>
        <p:spPr>
          <a:xfrm>
            <a:off x="1041142" y="9191625"/>
            <a:ext cx="1579863" cy="3095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2775"/>
              </a:lnSpc>
            </a:pPr>
            <a:r>
              <a:rPr lang="en-US" sz="1850" spc="92" dirty="0">
                <a:solidFill>
                  <a:srgbClr val="000000"/>
                </a:solidFill>
                <a:latin typeface="Bebas Neue Bold"/>
              </a:rPr>
              <a:t>PÁG. 8</a:t>
            </a:r>
          </a:p>
        </p:txBody>
      </p:sp>
      <p:sp>
        <p:nvSpPr>
          <p:cNvPr id="30" name="TextBox 30">
            <a:extLst>
              <a:ext uri="{FF2B5EF4-FFF2-40B4-BE49-F238E27FC236}">
                <a16:creationId xmlns:a16="http://schemas.microsoft.com/office/drawing/2014/main" id="{B461AF2E-5EEB-163B-6454-501725E02935}"/>
              </a:ext>
            </a:extLst>
          </p:cNvPr>
          <p:cNvSpPr txBox="1"/>
          <p:nvPr/>
        </p:nvSpPr>
        <p:spPr>
          <a:xfrm>
            <a:off x="7568695" y="5161201"/>
            <a:ext cx="1388774" cy="47723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965"/>
              </a:lnSpc>
              <a:spcBef>
                <a:spcPct val="0"/>
              </a:spcBef>
            </a:pPr>
            <a:r>
              <a:rPr lang="en-US" sz="1404" spc="112">
                <a:solidFill>
                  <a:srgbClr val="FFF3EA"/>
                </a:solidFill>
                <a:latin typeface="Quicksand Bold"/>
              </a:rPr>
              <a:t>BASE DE DATOS*</a:t>
            </a:r>
          </a:p>
        </p:txBody>
      </p:sp>
      <p:pic>
        <p:nvPicPr>
          <p:cNvPr id="11" name="Imagen 10">
            <a:extLst>
              <a:ext uri="{FF2B5EF4-FFF2-40B4-BE49-F238E27FC236}">
                <a16:creationId xmlns:a16="http://schemas.microsoft.com/office/drawing/2014/main" id="{B3AB0915-9F43-4F4B-EB73-9ECB09412C3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55116" y="3133369"/>
            <a:ext cx="14004706" cy="4181687"/>
          </a:xfrm>
          <a:prstGeom prst="rect">
            <a:avLst/>
          </a:prstGeom>
        </p:spPr>
      </p:pic>
      <p:sp>
        <p:nvSpPr>
          <p:cNvPr id="12" name="TextBox 17">
            <a:extLst>
              <a:ext uri="{FF2B5EF4-FFF2-40B4-BE49-F238E27FC236}">
                <a16:creationId xmlns:a16="http://schemas.microsoft.com/office/drawing/2014/main" id="{F90DBD4F-3961-F869-6323-2F2272C6E737}"/>
              </a:ext>
            </a:extLst>
          </p:cNvPr>
          <p:cNvSpPr txBox="1"/>
          <p:nvPr/>
        </p:nvSpPr>
        <p:spPr>
          <a:xfrm>
            <a:off x="6416904" y="7513291"/>
            <a:ext cx="5454192" cy="40966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75"/>
              </a:lnSpc>
              <a:spcBef>
                <a:spcPct val="0"/>
              </a:spcBef>
            </a:pPr>
            <a:r>
              <a:rPr lang="en-US" sz="2250" spc="112" dirty="0" err="1">
                <a:solidFill>
                  <a:srgbClr val="000000"/>
                </a:solidFill>
                <a:latin typeface="Bebas Neue Bold"/>
              </a:rPr>
              <a:t>figura</a:t>
            </a:r>
            <a:r>
              <a:rPr lang="en-US" sz="2250" spc="112" dirty="0">
                <a:solidFill>
                  <a:srgbClr val="000000"/>
                </a:solidFill>
                <a:latin typeface="Bebas Neue Bold"/>
              </a:rPr>
              <a:t> 6. </a:t>
            </a:r>
            <a:r>
              <a:rPr lang="en-US" sz="2250" spc="112" dirty="0" err="1">
                <a:solidFill>
                  <a:srgbClr val="000000"/>
                </a:solidFill>
                <a:latin typeface="Bebas Neue Bold"/>
              </a:rPr>
              <a:t>Metodologia</a:t>
            </a:r>
            <a:r>
              <a:rPr lang="en-US" sz="2250" spc="112" dirty="0">
                <a:solidFill>
                  <a:srgbClr val="000000"/>
                </a:solidFill>
                <a:latin typeface="Bebas Neue Bold"/>
              </a:rPr>
              <a:t> </a:t>
            </a:r>
            <a:r>
              <a:rPr lang="en-US" sz="2250" spc="112" dirty="0" err="1">
                <a:solidFill>
                  <a:srgbClr val="000000"/>
                </a:solidFill>
                <a:latin typeface="Bebas Neue Bold"/>
              </a:rPr>
              <a:t>Propuesta</a:t>
            </a:r>
            <a:endParaRPr lang="en-US" sz="2250" spc="112" dirty="0">
              <a:solidFill>
                <a:srgbClr val="000000"/>
              </a:solidFill>
              <a:latin typeface="Bebas Neue"/>
            </a:endParaRPr>
          </a:p>
        </p:txBody>
      </p:sp>
    </p:spTree>
    <p:extLst>
      <p:ext uri="{BB962C8B-B14F-4D97-AF65-F5344CB8AC3E}">
        <p14:creationId xmlns:p14="http://schemas.microsoft.com/office/powerpoint/2010/main" val="422937230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>
            <a:extLst>
              <a:ext uri="{FF2B5EF4-FFF2-40B4-BE49-F238E27FC236}">
                <a16:creationId xmlns:a16="http://schemas.microsoft.com/office/drawing/2014/main" id="{0FA151E6-CF35-4023-A6FA-F89F17D41E6E}"/>
              </a:ext>
            </a:extLst>
          </p:cNvPr>
          <p:cNvGrpSpPr/>
          <p:nvPr/>
        </p:nvGrpSpPr>
        <p:grpSpPr>
          <a:xfrm>
            <a:off x="0" y="459014"/>
            <a:ext cx="18263886" cy="9799532"/>
            <a:chOff x="0" y="459014"/>
            <a:chExt cx="18263886" cy="9799532"/>
          </a:xfrm>
        </p:grpSpPr>
        <p:sp>
          <p:nvSpPr>
            <p:cNvPr id="2" name="AutoShape 2">
              <a:extLst>
                <a:ext uri="{FF2B5EF4-FFF2-40B4-BE49-F238E27FC236}">
                  <a16:creationId xmlns:a16="http://schemas.microsoft.com/office/drawing/2014/main" id="{09724A55-87FB-CE57-257E-F961CC54C1C3}"/>
                </a:ext>
              </a:extLst>
            </p:cNvPr>
            <p:cNvSpPr/>
            <p:nvPr/>
          </p:nvSpPr>
          <p:spPr>
            <a:xfrm rot="5400000">
              <a:off x="3066456" y="-1271943"/>
              <a:ext cx="145456" cy="6278368"/>
            </a:xfrm>
            <a:prstGeom prst="rect">
              <a:avLst/>
            </a:prstGeom>
            <a:solidFill>
              <a:srgbClr val="B71C2A"/>
            </a:solidFill>
          </p:spPr>
          <p:txBody>
            <a:bodyPr/>
            <a:lstStyle/>
            <a:p>
              <a:endParaRPr lang="es-MX"/>
            </a:p>
          </p:txBody>
        </p:sp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4D9B03AE-2BBC-512B-D015-6915DD1229BB}"/>
                </a:ext>
              </a:extLst>
            </p:cNvPr>
            <p:cNvSpPr/>
            <p:nvPr/>
          </p:nvSpPr>
          <p:spPr>
            <a:xfrm>
              <a:off x="10745894" y="459014"/>
              <a:ext cx="6513406" cy="1139371"/>
            </a:xfrm>
            <a:custGeom>
              <a:avLst/>
              <a:gdLst/>
              <a:ahLst/>
              <a:cxnLst/>
              <a:rect l="l" t="t" r="r" b="b"/>
              <a:pathLst>
                <a:path w="6513406" h="1139371">
                  <a:moveTo>
                    <a:pt x="0" y="0"/>
                  </a:moveTo>
                  <a:lnTo>
                    <a:pt x="6513406" y="0"/>
                  </a:lnTo>
                  <a:lnTo>
                    <a:pt x="6513406" y="1139372"/>
                  </a:lnTo>
                  <a:lnTo>
                    <a:pt x="0" y="113937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  <p:txBody>
            <a:bodyPr/>
            <a:lstStyle/>
            <a:p>
              <a:endParaRPr lang="es-MX"/>
            </a:p>
          </p:txBody>
        </p:sp>
        <p:sp>
          <p:nvSpPr>
            <p:cNvPr id="4" name="Freeform 4">
              <a:extLst>
                <a:ext uri="{FF2B5EF4-FFF2-40B4-BE49-F238E27FC236}">
                  <a16:creationId xmlns:a16="http://schemas.microsoft.com/office/drawing/2014/main" id="{6BDE1994-0335-2127-DBCF-DF10A5A7EF8E}"/>
                </a:ext>
              </a:extLst>
            </p:cNvPr>
            <p:cNvSpPr/>
            <p:nvPr/>
          </p:nvSpPr>
          <p:spPr>
            <a:xfrm rot="5400000" flipV="1">
              <a:off x="14402039" y="6396699"/>
              <a:ext cx="2191311" cy="5532383"/>
            </a:xfrm>
            <a:custGeom>
              <a:avLst/>
              <a:gdLst/>
              <a:ahLst/>
              <a:cxnLst/>
              <a:rect l="l" t="t" r="r" b="b"/>
              <a:pathLst>
                <a:path w="2191311" h="5532383">
                  <a:moveTo>
                    <a:pt x="0" y="5532383"/>
                  </a:moveTo>
                  <a:lnTo>
                    <a:pt x="2191311" y="5532383"/>
                  </a:lnTo>
                  <a:lnTo>
                    <a:pt x="2191311" y="0"/>
                  </a:lnTo>
                  <a:lnTo>
                    <a:pt x="0" y="0"/>
                  </a:lnTo>
                  <a:lnTo>
                    <a:pt x="0" y="5532383"/>
                  </a:lnTo>
                  <a:close/>
                </a:path>
              </a:pathLst>
            </a:custGeom>
            <a:blipFill>
              <a:blip r:embed="rId4"/>
              <a:stretch>
                <a:fillRect/>
              </a:stretch>
            </a:blipFill>
          </p:spPr>
          <p:txBody>
            <a:bodyPr/>
            <a:lstStyle/>
            <a:p>
              <a:endParaRPr lang="es-MX"/>
            </a:p>
          </p:txBody>
        </p:sp>
      </p:grpSp>
      <p:sp>
        <p:nvSpPr>
          <p:cNvPr id="5" name="TextBox 5">
            <a:extLst>
              <a:ext uri="{FF2B5EF4-FFF2-40B4-BE49-F238E27FC236}">
                <a16:creationId xmlns:a16="http://schemas.microsoft.com/office/drawing/2014/main" id="{9E35F5E3-9012-F428-EE27-374DE062B073}"/>
              </a:ext>
            </a:extLst>
          </p:cNvPr>
          <p:cNvSpPr txBox="1"/>
          <p:nvPr/>
        </p:nvSpPr>
        <p:spPr>
          <a:xfrm>
            <a:off x="548415" y="493394"/>
            <a:ext cx="6513406" cy="89210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7537"/>
              </a:lnSpc>
              <a:spcBef>
                <a:spcPct val="0"/>
              </a:spcBef>
            </a:pPr>
            <a:r>
              <a:rPr lang="en-US" sz="5024" spc="251" dirty="0">
                <a:solidFill>
                  <a:srgbClr val="000000"/>
                </a:solidFill>
                <a:latin typeface="League Gothic"/>
              </a:rPr>
              <a:t>OPTIMIZACION COMBINATORIA</a:t>
            </a:r>
          </a:p>
        </p:txBody>
      </p:sp>
      <p:sp>
        <p:nvSpPr>
          <p:cNvPr id="6" name="TextBox 8">
            <a:extLst>
              <a:ext uri="{FF2B5EF4-FFF2-40B4-BE49-F238E27FC236}">
                <a16:creationId xmlns:a16="http://schemas.microsoft.com/office/drawing/2014/main" id="{143A244D-D03D-9583-DB74-8644BB9A3189}"/>
              </a:ext>
            </a:extLst>
          </p:cNvPr>
          <p:cNvSpPr txBox="1"/>
          <p:nvPr/>
        </p:nvSpPr>
        <p:spPr>
          <a:xfrm>
            <a:off x="1041142" y="9191625"/>
            <a:ext cx="1579863" cy="3095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2775"/>
              </a:lnSpc>
            </a:pPr>
            <a:r>
              <a:rPr lang="en-US" sz="1850" spc="92" dirty="0">
                <a:solidFill>
                  <a:srgbClr val="000000"/>
                </a:solidFill>
                <a:latin typeface="Bebas Neue Bold"/>
              </a:rPr>
              <a:t>PÁG. 9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58FBDF5D-31E5-F3BE-CBE2-55AF64B5D213}"/>
                  </a:ext>
                </a:extLst>
              </p:cNvPr>
              <p:cNvSpPr txBox="1"/>
              <p:nvPr/>
            </p:nvSpPr>
            <p:spPr>
              <a:xfrm>
                <a:off x="548414" y="2628899"/>
                <a:ext cx="16520385" cy="668375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s-MX" sz="2800" spc="149" dirty="0">
                    <a:solidFill>
                      <a:srgbClr val="000000"/>
                    </a:solidFill>
                    <a:latin typeface="Bahnschrift" panose="020B0502040204020203" pitchFamily="34" charset="0"/>
                  </a:rPr>
                  <a:t>16 Canales = 16 Electrodos</a:t>
                </a:r>
              </a:p>
              <a:p>
                <a:endParaRPr lang="es-MX" sz="2800" spc="149" dirty="0">
                  <a:solidFill>
                    <a:srgbClr val="000000"/>
                  </a:solidFill>
                  <a:latin typeface="Bahnschrift" panose="020B0502040204020203" pitchFamily="34" charset="0"/>
                </a:endParaRPr>
              </a:p>
              <a:p>
                <a:r>
                  <a:rPr lang="es-MX" sz="2800" spc="149" dirty="0">
                    <a:solidFill>
                      <a:srgbClr val="000000"/>
                    </a:solidFill>
                    <a:latin typeface="Bahnschrift" panose="020B0502040204020203" pitchFamily="34" charset="0"/>
                  </a:rPr>
                  <a:t>¿Todos los electrodos aportan información relevante?</a:t>
                </a:r>
              </a:p>
              <a:p>
                <a:endParaRPr lang="es-MX" sz="2800" spc="149" dirty="0">
                  <a:solidFill>
                    <a:srgbClr val="000000"/>
                  </a:solidFill>
                  <a:latin typeface="Bahnschrift" panose="020B0502040204020203" pitchFamily="34" charset="0"/>
                </a:endParaRPr>
              </a:p>
              <a:p>
                <a:r>
                  <a:rPr lang="es-MX" sz="2800" spc="149" dirty="0">
                    <a:solidFill>
                      <a:srgbClr val="000000"/>
                    </a:solidFill>
                    <a:latin typeface="Bahnschrift" panose="020B0502040204020203" pitchFamily="34" charset="0"/>
                  </a:rPr>
                  <a:t>k= subconjunto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s-MX" sz="2800" b="0" i="1" spc="149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C</m:t>
                      </m:r>
                      <m:r>
                        <a:rPr lang="es-MX" sz="2800" b="0" i="1" spc="149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(16,</m:t>
                      </m:r>
                      <m:r>
                        <m:rPr>
                          <m:sty m:val="p"/>
                        </m:rPr>
                        <a:rPr lang="es-MX" sz="2800" b="0" i="1" spc="149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k</m:t>
                      </m:r>
                      <m:r>
                        <a:rPr lang="es-MX" sz="2800" b="0" i="1" spc="149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)=</m:t>
                      </m:r>
                      <m:f>
                        <m:fPr>
                          <m:ctrlPr>
                            <a:rPr lang="es-MX" sz="2800" b="0" i="1" spc="149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s-MX" sz="2800" i="1" spc="149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16!</m:t>
                          </m:r>
                        </m:num>
                        <m:den>
                          <m:r>
                            <a:rPr lang="es-MX" sz="2800" b="0" i="1" spc="149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m:rPr>
                              <m:sty m:val="p"/>
                            </m:rPr>
                            <a:rPr lang="es-MX" sz="2800" b="0" i="1" spc="149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k</m:t>
                          </m:r>
                          <m:r>
                            <a:rPr lang="es-MX" sz="2800" b="0" i="1" spc="149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!∗(16−</m:t>
                          </m:r>
                          <m:r>
                            <m:rPr>
                              <m:sty m:val="p"/>
                            </m:rPr>
                            <a:rPr lang="es-MX" sz="2800" b="0" i="1" spc="149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k</m:t>
                          </m:r>
                          <m:r>
                            <a:rPr lang="es-MX" sz="2800" b="0" i="1" spc="149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)!)</m:t>
                          </m:r>
                        </m:den>
                      </m:f>
                    </m:oMath>
                  </m:oMathPara>
                </a14:m>
                <a:endParaRPr lang="es-MX" sz="2800" spc="149" dirty="0">
                  <a:solidFill>
                    <a:srgbClr val="000000"/>
                  </a:solidFill>
                  <a:latin typeface="Bahnschrift" panose="020B0502040204020203" pitchFamily="34" charset="0"/>
                </a:endParaRPr>
              </a:p>
              <a:p>
                <a:endParaRPr lang="es-MX" sz="2800" spc="149" dirty="0">
                  <a:solidFill>
                    <a:srgbClr val="000000"/>
                  </a:solidFill>
                  <a:latin typeface="Bahnschrift" panose="020B0502040204020203" pitchFamily="34" charset="0"/>
                </a:endParaRPr>
              </a:p>
              <a:p>
                <a:r>
                  <a:rPr lang="es-MX" sz="2800" spc="149" dirty="0">
                    <a:solidFill>
                      <a:srgbClr val="000000"/>
                    </a:solidFill>
                    <a:latin typeface="Bahnschrift" panose="020B0502040204020203" pitchFamily="34" charset="0"/>
                  </a:rPr>
                  <a:t>k=8</a:t>
                </a:r>
              </a:p>
              <a:p>
                <a:r>
                  <a:rPr lang="es-MX" sz="2800" spc="149" dirty="0">
                    <a:solidFill>
                      <a:srgbClr val="000000"/>
                    </a:solidFill>
                    <a:latin typeface="Bahnschrift" panose="020B0502040204020203" pitchFamily="34" charset="0"/>
                  </a:rPr>
                  <a:t>C(16,8)= 12,870</a:t>
                </a:r>
              </a:p>
              <a:p>
                <a:endParaRPr lang="es-MX" sz="2800" spc="149" dirty="0">
                  <a:solidFill>
                    <a:srgbClr val="000000"/>
                  </a:solidFill>
                  <a:latin typeface="Bahnschrift" panose="020B0502040204020203" pitchFamily="34" charset="0"/>
                </a:endParaRPr>
              </a:p>
              <a:p>
                <a:r>
                  <a:rPr lang="es-MX" sz="2800" spc="149" dirty="0">
                    <a:solidFill>
                      <a:srgbClr val="000000"/>
                    </a:solidFill>
                    <a:latin typeface="Bahnschrift" panose="020B0502040204020203" pitchFamily="34" charset="0"/>
                  </a:rPr>
                  <a:t>Evaluando todas las posibles combinaciones</a:t>
                </a:r>
              </a:p>
              <a:p>
                <a:endParaRPr lang="es-MX" sz="2800" spc="149" dirty="0">
                  <a:solidFill>
                    <a:srgbClr val="000000"/>
                  </a:solidFill>
                  <a:latin typeface="Bahnschrift" panose="020B0502040204020203" pitchFamily="34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s-MX" sz="2800" i="1" spc="149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s-MX" sz="2800" b="0" i="1" spc="149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e>
                        <m:sup>
                          <m:r>
                            <a:rPr lang="es-MX" sz="2800" b="0" i="1" spc="149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16</m:t>
                          </m:r>
                        </m:sup>
                      </m:sSup>
                      <m:r>
                        <a:rPr lang="es-MX" sz="2800" b="0" i="1" spc="149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=65,536</m:t>
                      </m:r>
                    </m:oMath>
                  </m:oMathPara>
                </a14:m>
                <a:endParaRPr lang="es-MX" sz="2800" b="0" spc="149" dirty="0">
                  <a:solidFill>
                    <a:srgbClr val="000000"/>
                  </a:solidFill>
                  <a:latin typeface="Bahnschrift" panose="020B0502040204020203" pitchFamily="34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s-MX" sz="2800" i="1" spc="149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s-MX" sz="2800" b="0" i="1" spc="149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e>
                        <m:sup>
                          <m:r>
                            <a:rPr lang="es-MX" sz="2800" b="0" i="1" spc="149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32</m:t>
                          </m:r>
                        </m:sup>
                      </m:sSup>
                      <m:r>
                        <a:rPr lang="es-MX" sz="2800" b="0" i="1" spc="149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nor/>
                        </m:rPr>
                        <a:rPr lang="es-MX" sz="2800"/>
                        <m:t>4,294,967,296</m:t>
                      </m:r>
                    </m:oMath>
                  </m:oMathPara>
                </a14:m>
                <a:endParaRPr lang="es-MX" sz="2800" spc="149" dirty="0">
                  <a:solidFill>
                    <a:srgbClr val="000000"/>
                  </a:solidFill>
                  <a:latin typeface="Bahnschrift" panose="020B0502040204020203" pitchFamily="34" charset="0"/>
                </a:endParaRPr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58FBDF5D-31E5-F3BE-CBE2-55AF64B5D21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8414" y="2628899"/>
                <a:ext cx="16520385" cy="6683753"/>
              </a:xfrm>
              <a:prstGeom prst="rect">
                <a:avLst/>
              </a:prstGeom>
              <a:blipFill>
                <a:blip r:embed="rId5"/>
                <a:stretch>
                  <a:fillRect l="-775" t="-1003"/>
                </a:stretch>
              </a:blipFill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68404389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7AB957-383B-8948-3550-2A80C49AD3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>
            <a:extLst>
              <a:ext uri="{FF2B5EF4-FFF2-40B4-BE49-F238E27FC236}">
                <a16:creationId xmlns:a16="http://schemas.microsoft.com/office/drawing/2014/main" id="{B6D1E17E-4A14-BF72-2209-C3D78A744DB8}"/>
              </a:ext>
            </a:extLst>
          </p:cNvPr>
          <p:cNvGrpSpPr/>
          <p:nvPr/>
        </p:nvGrpSpPr>
        <p:grpSpPr>
          <a:xfrm>
            <a:off x="0" y="459014"/>
            <a:ext cx="18263886" cy="9799532"/>
            <a:chOff x="0" y="459014"/>
            <a:chExt cx="18263886" cy="9799532"/>
          </a:xfrm>
        </p:grpSpPr>
        <p:sp>
          <p:nvSpPr>
            <p:cNvPr id="2" name="AutoShape 2">
              <a:extLst>
                <a:ext uri="{FF2B5EF4-FFF2-40B4-BE49-F238E27FC236}">
                  <a16:creationId xmlns:a16="http://schemas.microsoft.com/office/drawing/2014/main" id="{0D026E8A-FD7A-5A1A-10C1-E300ADAADB37}"/>
                </a:ext>
              </a:extLst>
            </p:cNvPr>
            <p:cNvSpPr/>
            <p:nvPr/>
          </p:nvSpPr>
          <p:spPr>
            <a:xfrm rot="5400000">
              <a:off x="3066456" y="-1271943"/>
              <a:ext cx="145456" cy="6278368"/>
            </a:xfrm>
            <a:prstGeom prst="rect">
              <a:avLst/>
            </a:prstGeom>
            <a:solidFill>
              <a:srgbClr val="B71C2A"/>
            </a:solidFill>
          </p:spPr>
          <p:txBody>
            <a:bodyPr/>
            <a:lstStyle/>
            <a:p>
              <a:endParaRPr lang="es-MX"/>
            </a:p>
          </p:txBody>
        </p:sp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F4CD641A-6C4B-A124-2A54-12CB24228151}"/>
                </a:ext>
              </a:extLst>
            </p:cNvPr>
            <p:cNvSpPr/>
            <p:nvPr/>
          </p:nvSpPr>
          <p:spPr>
            <a:xfrm>
              <a:off x="10745894" y="459014"/>
              <a:ext cx="6513406" cy="1139371"/>
            </a:xfrm>
            <a:custGeom>
              <a:avLst/>
              <a:gdLst/>
              <a:ahLst/>
              <a:cxnLst/>
              <a:rect l="l" t="t" r="r" b="b"/>
              <a:pathLst>
                <a:path w="6513406" h="1139371">
                  <a:moveTo>
                    <a:pt x="0" y="0"/>
                  </a:moveTo>
                  <a:lnTo>
                    <a:pt x="6513406" y="0"/>
                  </a:lnTo>
                  <a:lnTo>
                    <a:pt x="6513406" y="1139372"/>
                  </a:lnTo>
                  <a:lnTo>
                    <a:pt x="0" y="113937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  <p:txBody>
            <a:bodyPr/>
            <a:lstStyle/>
            <a:p>
              <a:endParaRPr lang="es-MX"/>
            </a:p>
          </p:txBody>
        </p:sp>
        <p:sp>
          <p:nvSpPr>
            <p:cNvPr id="4" name="Freeform 4">
              <a:extLst>
                <a:ext uri="{FF2B5EF4-FFF2-40B4-BE49-F238E27FC236}">
                  <a16:creationId xmlns:a16="http://schemas.microsoft.com/office/drawing/2014/main" id="{72479D35-80B5-3919-2DF4-E002F1287ABB}"/>
                </a:ext>
              </a:extLst>
            </p:cNvPr>
            <p:cNvSpPr/>
            <p:nvPr/>
          </p:nvSpPr>
          <p:spPr>
            <a:xfrm rot="5400000" flipV="1">
              <a:off x="14402039" y="6396699"/>
              <a:ext cx="2191311" cy="5532383"/>
            </a:xfrm>
            <a:custGeom>
              <a:avLst/>
              <a:gdLst/>
              <a:ahLst/>
              <a:cxnLst/>
              <a:rect l="l" t="t" r="r" b="b"/>
              <a:pathLst>
                <a:path w="2191311" h="5532383">
                  <a:moveTo>
                    <a:pt x="0" y="5532383"/>
                  </a:moveTo>
                  <a:lnTo>
                    <a:pt x="2191311" y="5532383"/>
                  </a:lnTo>
                  <a:lnTo>
                    <a:pt x="2191311" y="0"/>
                  </a:lnTo>
                  <a:lnTo>
                    <a:pt x="0" y="0"/>
                  </a:lnTo>
                  <a:lnTo>
                    <a:pt x="0" y="5532383"/>
                  </a:lnTo>
                  <a:close/>
                </a:path>
              </a:pathLst>
            </a:custGeom>
            <a:blipFill>
              <a:blip r:embed="rId4"/>
              <a:stretch>
                <a:fillRect/>
              </a:stretch>
            </a:blipFill>
          </p:spPr>
          <p:txBody>
            <a:bodyPr/>
            <a:lstStyle/>
            <a:p>
              <a:endParaRPr lang="es-MX"/>
            </a:p>
          </p:txBody>
        </p:sp>
      </p:grpSp>
      <p:sp>
        <p:nvSpPr>
          <p:cNvPr id="5" name="TextBox 5">
            <a:extLst>
              <a:ext uri="{FF2B5EF4-FFF2-40B4-BE49-F238E27FC236}">
                <a16:creationId xmlns:a16="http://schemas.microsoft.com/office/drawing/2014/main" id="{9B5E2F2B-C93A-085F-5ABA-9D870A04968A}"/>
              </a:ext>
            </a:extLst>
          </p:cNvPr>
          <p:cNvSpPr txBox="1"/>
          <p:nvPr/>
        </p:nvSpPr>
        <p:spPr>
          <a:xfrm>
            <a:off x="548415" y="493394"/>
            <a:ext cx="6513406" cy="89210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7537"/>
              </a:lnSpc>
              <a:spcBef>
                <a:spcPct val="0"/>
              </a:spcBef>
            </a:pPr>
            <a:r>
              <a:rPr lang="en-US" sz="5024" spc="251" dirty="0">
                <a:solidFill>
                  <a:srgbClr val="000000"/>
                </a:solidFill>
                <a:latin typeface="League Gothic"/>
              </a:rPr>
              <a:t>OPTIMIZACION COMBINATORIA</a:t>
            </a:r>
          </a:p>
        </p:txBody>
      </p:sp>
      <p:sp>
        <p:nvSpPr>
          <p:cNvPr id="6" name="TextBox 8">
            <a:extLst>
              <a:ext uri="{FF2B5EF4-FFF2-40B4-BE49-F238E27FC236}">
                <a16:creationId xmlns:a16="http://schemas.microsoft.com/office/drawing/2014/main" id="{88B5DF79-02A3-5232-D6E9-335089952DB4}"/>
              </a:ext>
            </a:extLst>
          </p:cNvPr>
          <p:cNvSpPr txBox="1"/>
          <p:nvPr/>
        </p:nvSpPr>
        <p:spPr>
          <a:xfrm>
            <a:off x="1041142" y="9191625"/>
            <a:ext cx="1579863" cy="3095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2775"/>
              </a:lnSpc>
            </a:pPr>
            <a:r>
              <a:rPr lang="en-US" sz="1850" spc="92" dirty="0">
                <a:solidFill>
                  <a:srgbClr val="000000"/>
                </a:solidFill>
                <a:latin typeface="Bebas Neue Bold"/>
              </a:rPr>
              <a:t>PÁG. 10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D703FB85-A3C4-FCE3-4234-D9109D8221AD}"/>
                  </a:ext>
                </a:extLst>
              </p:cNvPr>
              <p:cNvSpPr txBox="1"/>
              <p:nvPr/>
            </p:nvSpPr>
            <p:spPr>
              <a:xfrm>
                <a:off x="883807" y="3231219"/>
                <a:ext cx="16520385" cy="440120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57200" indent="-457200">
                  <a:lnSpc>
                    <a:spcPct val="200000"/>
                  </a:lnSpc>
                  <a:buFont typeface="Arial" panose="020B0604020202020204" pitchFamily="34" charset="0"/>
                  <a:buChar char="•"/>
                </a:pPr>
                <a:r>
                  <a:rPr lang="es-MX" sz="2800" spc="149" dirty="0">
                    <a:solidFill>
                      <a:srgbClr val="000000"/>
                    </a:solidFill>
                    <a:latin typeface="Bahnschrift" panose="020B0502040204020203" pitchFamily="34" charset="0"/>
                  </a:rPr>
                  <a:t>Capturan ruido ambiental o artefactos musculares </a:t>
                </a:r>
              </a:p>
              <a:p>
                <a:pPr marL="457200" indent="-457200">
                  <a:lnSpc>
                    <a:spcPct val="200000"/>
                  </a:lnSpc>
                  <a:buFont typeface="Arial" panose="020B0604020202020204" pitchFamily="34" charset="0"/>
                  <a:buChar char="•"/>
                </a:pPr>
                <a:r>
                  <a:rPr lang="es-MX" sz="2800" spc="149" dirty="0">
                    <a:solidFill>
                      <a:srgbClr val="000000"/>
                    </a:solidFill>
                    <a:latin typeface="Bahnschrift" panose="020B0502040204020203" pitchFamily="34" charset="0"/>
                  </a:rPr>
                  <a:t>Son redundantes porque están muy cerca entre sí </a:t>
                </a:r>
              </a:p>
              <a:p>
                <a:pPr marL="457200" indent="-457200">
                  <a:lnSpc>
                    <a:spcPct val="200000"/>
                  </a:lnSpc>
                  <a:buFont typeface="Arial" panose="020B0604020202020204" pitchFamily="34" charset="0"/>
                  <a:buChar char="•"/>
                </a:pPr>
                <a:r>
                  <a:rPr lang="es-MX" sz="2800" spc="149" dirty="0">
                    <a:solidFill>
                      <a:srgbClr val="000000"/>
                    </a:solidFill>
                    <a:latin typeface="Bahnschrift" panose="020B0502040204020203" pitchFamily="34" charset="0"/>
                  </a:rPr>
                  <a:t>Tienen baja sensibilidad a fuentes profundas</a:t>
                </a:r>
              </a:p>
              <a:p>
                <a:pPr marL="457200" indent="-457200">
                  <a:lnSpc>
                    <a:spcPct val="200000"/>
                  </a:lnSpc>
                  <a:buFont typeface="Arial" panose="020B0604020202020204" pitchFamily="34" charset="0"/>
                  <a:buChar char="•"/>
                </a:pPr>
                <a:endParaRPr lang="es-MX" sz="2800" spc="149" dirty="0">
                  <a:solidFill>
                    <a:srgbClr val="000000"/>
                  </a:solidFill>
                  <a:latin typeface="Bahnschrift" panose="020B0502040204020203" pitchFamily="34" charset="0"/>
                </a:endParaRPr>
              </a:p>
              <a:p>
                <a:pPr marL="457200" indent="-457200">
                  <a:buFont typeface="Arial" panose="020B0604020202020204" pitchFamily="34" charset="0"/>
                  <a:buChar char="•"/>
                </a:pPr>
                <a:endParaRPr lang="es-MX" sz="2800" spc="149" dirty="0">
                  <a:solidFill>
                    <a:srgbClr val="000000"/>
                  </a:solidFill>
                  <a:latin typeface="Bahnschrift" panose="020B0502040204020203" pitchFamily="34" charset="0"/>
                </a:endParaRPr>
              </a:p>
              <a:p>
                <a:pPr algn="ctr"/>
                <a14:m>
                  <m:oMath xmlns:m="http://schemas.openxmlformats.org/officeDocument/2006/math">
                    <m:sSub>
                      <m:sSubPr>
                        <m:ctrlPr>
                          <a:rPr lang="es-MX" sz="2800" i="1" spc="149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s-MX" sz="2800" b="0" i="1" spc="149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k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s-MX" sz="2800" b="0" i="1" spc="149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ideal</m:t>
                        </m:r>
                      </m:sub>
                    </m:sSub>
                    <m:r>
                      <a:rPr lang="es-MX" sz="2800" b="0" i="1" spc="149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= </m:t>
                    </m:r>
                  </m:oMath>
                </a14:m>
                <a:r>
                  <a:rPr lang="es-MX" sz="2800" spc="149" dirty="0">
                    <a:solidFill>
                      <a:srgbClr val="000000"/>
                    </a:solidFill>
                    <a:latin typeface="Bahnschrift" panose="020B0502040204020203" pitchFamily="34" charset="0"/>
                  </a:rPr>
                  <a:t>?</a:t>
                </a:r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D703FB85-A3C4-FCE3-4234-D9109D8221A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3807" y="3231219"/>
                <a:ext cx="16520385" cy="4401205"/>
              </a:xfrm>
              <a:prstGeom prst="rect">
                <a:avLst/>
              </a:prstGeom>
              <a:blipFill>
                <a:blip r:embed="rId5"/>
                <a:stretch>
                  <a:fillRect l="-664" b="-2632"/>
                </a:stretch>
              </a:blipFill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85458055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25A2DF-9BEE-E6BE-F22C-E739E2F15D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>
            <a:extLst>
              <a:ext uri="{FF2B5EF4-FFF2-40B4-BE49-F238E27FC236}">
                <a16:creationId xmlns:a16="http://schemas.microsoft.com/office/drawing/2014/main" id="{F6171958-2B91-2BB1-EB4A-D8EDB31B3F4A}"/>
              </a:ext>
            </a:extLst>
          </p:cNvPr>
          <p:cNvGrpSpPr/>
          <p:nvPr/>
        </p:nvGrpSpPr>
        <p:grpSpPr>
          <a:xfrm>
            <a:off x="0" y="459014"/>
            <a:ext cx="18263886" cy="9799532"/>
            <a:chOff x="0" y="459014"/>
            <a:chExt cx="18263886" cy="9799532"/>
          </a:xfrm>
        </p:grpSpPr>
        <p:sp>
          <p:nvSpPr>
            <p:cNvPr id="2" name="AutoShape 2">
              <a:extLst>
                <a:ext uri="{FF2B5EF4-FFF2-40B4-BE49-F238E27FC236}">
                  <a16:creationId xmlns:a16="http://schemas.microsoft.com/office/drawing/2014/main" id="{3B378502-DCF4-975B-85D5-C1388099BCEC}"/>
                </a:ext>
              </a:extLst>
            </p:cNvPr>
            <p:cNvSpPr/>
            <p:nvPr/>
          </p:nvSpPr>
          <p:spPr>
            <a:xfrm rot="5400000">
              <a:off x="3066456" y="-1271943"/>
              <a:ext cx="145456" cy="6278368"/>
            </a:xfrm>
            <a:prstGeom prst="rect">
              <a:avLst/>
            </a:prstGeom>
            <a:solidFill>
              <a:srgbClr val="B71C2A"/>
            </a:solidFill>
          </p:spPr>
          <p:txBody>
            <a:bodyPr/>
            <a:lstStyle/>
            <a:p>
              <a:endParaRPr lang="es-MX"/>
            </a:p>
          </p:txBody>
        </p:sp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764D05D7-DB35-4D18-756C-CF2F4BAC7187}"/>
                </a:ext>
              </a:extLst>
            </p:cNvPr>
            <p:cNvSpPr/>
            <p:nvPr/>
          </p:nvSpPr>
          <p:spPr>
            <a:xfrm>
              <a:off x="10745894" y="459014"/>
              <a:ext cx="6513406" cy="1139371"/>
            </a:xfrm>
            <a:custGeom>
              <a:avLst/>
              <a:gdLst/>
              <a:ahLst/>
              <a:cxnLst/>
              <a:rect l="l" t="t" r="r" b="b"/>
              <a:pathLst>
                <a:path w="6513406" h="1139371">
                  <a:moveTo>
                    <a:pt x="0" y="0"/>
                  </a:moveTo>
                  <a:lnTo>
                    <a:pt x="6513406" y="0"/>
                  </a:lnTo>
                  <a:lnTo>
                    <a:pt x="6513406" y="1139372"/>
                  </a:lnTo>
                  <a:lnTo>
                    <a:pt x="0" y="113937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  <p:txBody>
            <a:bodyPr/>
            <a:lstStyle/>
            <a:p>
              <a:endParaRPr lang="es-MX"/>
            </a:p>
          </p:txBody>
        </p:sp>
        <p:sp>
          <p:nvSpPr>
            <p:cNvPr id="4" name="Freeform 4">
              <a:extLst>
                <a:ext uri="{FF2B5EF4-FFF2-40B4-BE49-F238E27FC236}">
                  <a16:creationId xmlns:a16="http://schemas.microsoft.com/office/drawing/2014/main" id="{970C9A4C-293C-7695-62B5-1905601B439F}"/>
                </a:ext>
              </a:extLst>
            </p:cNvPr>
            <p:cNvSpPr/>
            <p:nvPr/>
          </p:nvSpPr>
          <p:spPr>
            <a:xfrm rot="5400000" flipV="1">
              <a:off x="14402039" y="6396699"/>
              <a:ext cx="2191311" cy="5532383"/>
            </a:xfrm>
            <a:custGeom>
              <a:avLst/>
              <a:gdLst/>
              <a:ahLst/>
              <a:cxnLst/>
              <a:rect l="l" t="t" r="r" b="b"/>
              <a:pathLst>
                <a:path w="2191311" h="5532383">
                  <a:moveTo>
                    <a:pt x="0" y="5532383"/>
                  </a:moveTo>
                  <a:lnTo>
                    <a:pt x="2191311" y="5532383"/>
                  </a:lnTo>
                  <a:lnTo>
                    <a:pt x="2191311" y="0"/>
                  </a:lnTo>
                  <a:lnTo>
                    <a:pt x="0" y="0"/>
                  </a:lnTo>
                  <a:lnTo>
                    <a:pt x="0" y="5532383"/>
                  </a:lnTo>
                  <a:close/>
                </a:path>
              </a:pathLst>
            </a:custGeom>
            <a:blipFill>
              <a:blip r:embed="rId4"/>
              <a:stretch>
                <a:fillRect/>
              </a:stretch>
            </a:blipFill>
          </p:spPr>
          <p:txBody>
            <a:bodyPr/>
            <a:lstStyle/>
            <a:p>
              <a:endParaRPr lang="es-MX"/>
            </a:p>
          </p:txBody>
        </p:sp>
      </p:grpSp>
      <p:sp>
        <p:nvSpPr>
          <p:cNvPr id="5" name="TextBox 5">
            <a:extLst>
              <a:ext uri="{FF2B5EF4-FFF2-40B4-BE49-F238E27FC236}">
                <a16:creationId xmlns:a16="http://schemas.microsoft.com/office/drawing/2014/main" id="{4A20B4CC-3F13-D675-588D-57EB8321C2E6}"/>
              </a:ext>
            </a:extLst>
          </p:cNvPr>
          <p:cNvSpPr txBox="1"/>
          <p:nvPr/>
        </p:nvSpPr>
        <p:spPr>
          <a:xfrm>
            <a:off x="548415" y="493394"/>
            <a:ext cx="6513406" cy="89210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7537"/>
              </a:lnSpc>
              <a:spcBef>
                <a:spcPct val="0"/>
              </a:spcBef>
            </a:pPr>
            <a:r>
              <a:rPr lang="en-US" sz="5024" spc="251" dirty="0">
                <a:solidFill>
                  <a:srgbClr val="000000"/>
                </a:solidFill>
                <a:latin typeface="League Gothic"/>
              </a:rPr>
              <a:t>OPTIMIZACION COMBINATORIA</a:t>
            </a:r>
          </a:p>
        </p:txBody>
      </p:sp>
      <p:sp>
        <p:nvSpPr>
          <p:cNvPr id="6" name="TextBox 8">
            <a:extLst>
              <a:ext uri="{FF2B5EF4-FFF2-40B4-BE49-F238E27FC236}">
                <a16:creationId xmlns:a16="http://schemas.microsoft.com/office/drawing/2014/main" id="{472A5908-2C08-C87A-22EE-F59E363E7C78}"/>
              </a:ext>
            </a:extLst>
          </p:cNvPr>
          <p:cNvSpPr txBox="1"/>
          <p:nvPr/>
        </p:nvSpPr>
        <p:spPr>
          <a:xfrm>
            <a:off x="1041142" y="9191625"/>
            <a:ext cx="1579863" cy="3095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2775"/>
              </a:lnSpc>
            </a:pPr>
            <a:r>
              <a:rPr lang="en-US" sz="1850" spc="92" dirty="0">
                <a:solidFill>
                  <a:srgbClr val="000000"/>
                </a:solidFill>
                <a:latin typeface="Bebas Neue Bold"/>
              </a:rPr>
              <a:t>PÁG. 11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E3A6F6D3-EEF1-5225-2149-52A863038388}"/>
                  </a:ext>
                </a:extLst>
              </p:cNvPr>
              <p:cNvSpPr txBox="1"/>
              <p:nvPr/>
            </p:nvSpPr>
            <p:spPr>
              <a:xfrm>
                <a:off x="548415" y="2476500"/>
                <a:ext cx="16520385" cy="61247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s-MX" sz="2800" spc="149" dirty="0">
                    <a:solidFill>
                      <a:srgbClr val="000000"/>
                    </a:solidFill>
                    <a:latin typeface="Bahnschrift" panose="020B0502040204020203" pitchFamily="34" charset="0"/>
                  </a:rPr>
                  <a:t>Vector Binario (16-32)</a:t>
                </a:r>
              </a:p>
              <a:p>
                <a:endParaRPr lang="es-MX" sz="2800" spc="149" dirty="0">
                  <a:solidFill>
                    <a:srgbClr val="000000"/>
                  </a:solidFill>
                  <a:latin typeface="Bahnschrift" panose="020B0502040204020203" pitchFamily="34" charset="0"/>
                </a:endParaRPr>
              </a:p>
              <a:p>
                <a:endParaRPr lang="es-MX" sz="2800" spc="149" dirty="0">
                  <a:solidFill>
                    <a:srgbClr val="000000"/>
                  </a:solidFill>
                  <a:latin typeface="Bahnschrift" panose="020B0502040204020203" pitchFamily="34" charset="0"/>
                </a:endParaRPr>
              </a:p>
              <a:p>
                <a:endParaRPr lang="es-MX" sz="2800" spc="149" dirty="0">
                  <a:solidFill>
                    <a:srgbClr val="000000"/>
                  </a:solidFill>
                  <a:latin typeface="Bahnschrift" panose="020B0502040204020203" pitchFamily="34" charset="0"/>
                </a:endParaRPr>
              </a:p>
              <a:p>
                <a:r>
                  <a:rPr lang="es-MX" sz="2800" spc="149" dirty="0">
                    <a:solidFill>
                      <a:srgbClr val="000000"/>
                    </a:solidFill>
                    <a:latin typeface="Bahnschrift" panose="020B0502040204020203" pitchFamily="34" charset="0"/>
                  </a:rPr>
                  <a:t>Fijamos un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s-MX" sz="2800" i="1" spc="149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s-MX" sz="2800" b="0" i="1" spc="149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k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s-MX" sz="2800" b="0" i="1" spc="149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min</m:t>
                        </m:r>
                      </m:sub>
                    </m:sSub>
                  </m:oMath>
                </a14:m>
                <a:r>
                  <a:rPr lang="es-MX" sz="2800" spc="149" dirty="0">
                    <a:solidFill>
                      <a:srgbClr val="000000"/>
                    </a:solidFill>
                    <a:latin typeface="Bahnschrift" panose="020B0502040204020203" pitchFamily="34" charset="0"/>
                  </a:rPr>
                  <a:t> de forma que tengamos un subconjunto valido.</a:t>
                </a:r>
              </a:p>
              <a:p>
                <a:endParaRPr lang="es-MX" sz="2800" spc="149" dirty="0">
                  <a:solidFill>
                    <a:srgbClr val="000000"/>
                  </a:solidFill>
                  <a:latin typeface="Bahnschrift" panose="020B0502040204020203" pitchFamily="34" charset="0"/>
                </a:endParaRPr>
              </a:p>
              <a:p>
                <a:r>
                  <a:rPr lang="es-MX" sz="2800" spc="149" dirty="0">
                    <a:solidFill>
                      <a:srgbClr val="000000"/>
                    </a:solidFill>
                    <a:latin typeface="Bahnschrift" panose="020B0502040204020203" pitchFamily="34" charset="0"/>
                  </a:rPr>
                  <a:t>Para EEG:</a:t>
                </a:r>
              </a:p>
              <a:p>
                <a:endParaRPr lang="es-MX" sz="2800" spc="149" dirty="0">
                  <a:solidFill>
                    <a:srgbClr val="000000"/>
                  </a:solidFill>
                  <a:latin typeface="Bahnschrift" panose="020B0502040204020203" pitchFamily="34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s-MX" sz="2800" i="1" spc="149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s-MX" sz="2800" b="0" i="1" spc="149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k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s-MX" sz="2800" b="0" i="1" spc="149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min</m:t>
                          </m:r>
                        </m:sub>
                      </m:sSub>
                      <m:r>
                        <a:rPr lang="es-MX" sz="2800" b="0" i="1" spc="149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 2</m:t>
                      </m:r>
                      <m:r>
                        <a:rPr lang="es-MX" sz="2800" b="0" i="1" spc="149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r>
                        <a:rPr lang="es-MX" sz="2800" b="0" i="1" spc="149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𝐹𝑢𝑒𝑛𝑡𝑒𝑠</m:t>
                      </m:r>
                    </m:oMath>
                  </m:oMathPara>
                </a14:m>
                <a:endParaRPr lang="es-MX" sz="2800" b="0" spc="149" dirty="0">
                  <a:solidFill>
                    <a:srgbClr val="000000"/>
                  </a:solidFill>
                  <a:latin typeface="Bahnschrift" panose="020B0502040204020203" pitchFamily="34" charset="0"/>
                  <a:ea typeface="Cambria Math" panose="02040503050406030204" pitchFamily="18" charset="0"/>
                </a:endParaRPr>
              </a:p>
              <a:p>
                <a:endParaRPr lang="es-MX" sz="2800" spc="149" dirty="0">
                  <a:solidFill>
                    <a:srgbClr val="000000"/>
                  </a:solidFill>
                  <a:latin typeface="Bahnschrift" panose="020B0502040204020203" pitchFamily="34" charset="0"/>
                </a:endParaRPr>
              </a:p>
              <a:p>
                <a:r>
                  <a:rPr lang="es-MX" sz="2800" spc="149" dirty="0">
                    <a:solidFill>
                      <a:srgbClr val="000000"/>
                    </a:solidFill>
                    <a:latin typeface="Bahnschrift" panose="020B0502040204020203" pitchFamily="34" charset="0"/>
                  </a:rPr>
                  <a:t>Con esto proponemos un Algoritmo Genético debido a:</a:t>
                </a:r>
              </a:p>
              <a:p>
                <a:pPr marL="914400" lvl="1" indent="-457200">
                  <a:buFont typeface="Arial" panose="020B0604020202020204" pitchFamily="34" charset="0"/>
                  <a:buChar char="•"/>
                </a:pPr>
                <a:r>
                  <a:rPr lang="es-MX" sz="2800" spc="149" dirty="0">
                    <a:solidFill>
                      <a:srgbClr val="000000"/>
                    </a:solidFill>
                    <a:latin typeface="Bahnschrift" panose="020B0502040204020203" pitchFamily="34" charset="0"/>
                  </a:rPr>
                  <a:t>Maneja bien espacios de búsqueda grandes y discretos</a:t>
                </a:r>
              </a:p>
              <a:p>
                <a:pPr marL="914400" lvl="1" indent="-457200">
                  <a:buFont typeface="Arial" panose="020B0604020202020204" pitchFamily="34" charset="0"/>
                  <a:buChar char="•"/>
                </a:pPr>
                <a:r>
                  <a:rPr lang="es-MX" sz="2800" spc="149" dirty="0">
                    <a:solidFill>
                      <a:srgbClr val="000000"/>
                    </a:solidFill>
                    <a:latin typeface="Bahnschrift" panose="020B0502040204020203" pitchFamily="34" charset="0"/>
                  </a:rPr>
                  <a:t>No requiere que la función objetivo sea diferenciable</a:t>
                </a:r>
              </a:p>
              <a:p>
                <a:pPr marL="914400" lvl="1" indent="-457200">
                  <a:buFont typeface="Arial" panose="020B0604020202020204" pitchFamily="34" charset="0"/>
                  <a:buChar char="•"/>
                </a:pPr>
                <a:r>
                  <a:rPr lang="es-MX" sz="2800" spc="149" dirty="0">
                    <a:solidFill>
                      <a:srgbClr val="000000"/>
                    </a:solidFill>
                    <a:latin typeface="Bahnschrift" panose="020B0502040204020203" pitchFamily="34" charset="0"/>
                  </a:rPr>
                  <a:t>Permite explorar y explotar simultáneamente</a:t>
                </a:r>
              </a:p>
            </p:txBody>
          </p:sp>
        </mc:Choice>
        <mc:Fallback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E3A6F6D3-EEF1-5225-2149-52A86303838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8415" y="2476500"/>
                <a:ext cx="16520385" cy="6124754"/>
              </a:xfrm>
              <a:prstGeom prst="rect">
                <a:avLst/>
              </a:prstGeom>
              <a:blipFill>
                <a:blip r:embed="rId5"/>
                <a:stretch>
                  <a:fillRect l="-775" t="-1095" b="-1692"/>
                </a:stretch>
              </a:blipFill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9" name="Table 8">
                <a:extLst>
                  <a:ext uri="{FF2B5EF4-FFF2-40B4-BE49-F238E27FC236}">
                    <a16:creationId xmlns:a16="http://schemas.microsoft.com/office/drawing/2014/main" id="{E138494C-6381-2DAF-6529-31D2F9DAFB3D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908563726"/>
                  </p:ext>
                </p:extLst>
              </p:nvPr>
            </p:nvGraphicFramePr>
            <p:xfrm>
              <a:off x="2712607" y="3123890"/>
              <a:ext cx="12192000" cy="370840"/>
            </p:xfrm>
            <a:graphic>
              <a:graphicData uri="http://schemas.openxmlformats.org/drawingml/2006/table">
                <a:tbl>
                  <a:tblPr bandRow="1">
                    <a:tableStyleId>{5C22544A-7EE6-4342-B048-85BDC9FD1C3A}</a:tableStyleId>
                  </a:tblPr>
                  <a:tblGrid>
                    <a:gridCol w="1783193">
                      <a:extLst>
                        <a:ext uri="{9D8B030D-6E8A-4147-A177-3AD203B41FA5}">
                          <a16:colId xmlns:a16="http://schemas.microsoft.com/office/drawing/2014/main" val="2219015284"/>
                        </a:ext>
                      </a:extLst>
                    </a:gridCol>
                    <a:gridCol w="2280807">
                      <a:extLst>
                        <a:ext uri="{9D8B030D-6E8A-4147-A177-3AD203B41FA5}">
                          <a16:colId xmlns:a16="http://schemas.microsoft.com/office/drawing/2014/main" val="776721821"/>
                        </a:ext>
                      </a:extLst>
                    </a:gridCol>
                    <a:gridCol w="2032000">
                      <a:extLst>
                        <a:ext uri="{9D8B030D-6E8A-4147-A177-3AD203B41FA5}">
                          <a16:colId xmlns:a16="http://schemas.microsoft.com/office/drawing/2014/main" val="149149602"/>
                        </a:ext>
                      </a:extLst>
                    </a:gridCol>
                    <a:gridCol w="2032000">
                      <a:extLst>
                        <a:ext uri="{9D8B030D-6E8A-4147-A177-3AD203B41FA5}">
                          <a16:colId xmlns:a16="http://schemas.microsoft.com/office/drawing/2014/main" val="1496273816"/>
                        </a:ext>
                      </a:extLst>
                    </a:gridCol>
                    <a:gridCol w="2032000">
                      <a:extLst>
                        <a:ext uri="{9D8B030D-6E8A-4147-A177-3AD203B41FA5}">
                          <a16:colId xmlns:a16="http://schemas.microsoft.com/office/drawing/2014/main" val="346435022"/>
                        </a:ext>
                      </a:extLst>
                    </a:gridCol>
                    <a:gridCol w="2032000">
                      <a:extLst>
                        <a:ext uri="{9D8B030D-6E8A-4147-A177-3AD203B41FA5}">
                          <a16:colId xmlns:a16="http://schemas.microsoft.com/office/drawing/2014/main" val="74217442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s-MX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s-MX" b="0" i="1" smtClean="0">
                                        <a:latin typeface="Cambria Math" panose="02040503050406030204" pitchFamily="18" charset="0"/>
                                      </a:rPr>
                                      <m:t>k</m:t>
                                    </m:r>
                                  </m:e>
                                  <m:sub>
                                    <m:r>
                                      <a:rPr lang="es-MX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s-MX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s-MX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s-MX" b="0" i="1" smtClean="0">
                                        <a:latin typeface="Cambria Math" panose="02040503050406030204" pitchFamily="18" charset="0"/>
                                      </a:rPr>
                                      <m:t>k</m:t>
                                    </m:r>
                                  </m:e>
                                  <m:sub>
                                    <m:r>
                                      <a:rPr lang="es-MX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s-MX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s-MX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s-MX" b="0" i="1" smtClean="0">
                                        <a:latin typeface="Cambria Math" panose="02040503050406030204" pitchFamily="18" charset="0"/>
                                      </a:rPr>
                                      <m:t>k</m:t>
                                    </m:r>
                                  </m:e>
                                  <m:sub>
                                    <m:r>
                                      <a:rPr lang="es-MX" b="0" i="1" smtClean="0"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s-MX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s-MX" dirty="0"/>
                            <a:t>…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s-MX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s-MX" b="0" i="1" smtClean="0">
                                        <a:latin typeface="Cambria Math" panose="02040503050406030204" pitchFamily="18" charset="0"/>
                                      </a:rPr>
                                      <m:t>k</m:t>
                                    </m:r>
                                  </m:e>
                                  <m:sub>
                                    <m:r>
                                      <m:rPr>
                                        <m:sty m:val="p"/>
                                      </m:rPr>
                                      <a:rPr lang="es-MX" b="0" i="1" smtClean="0">
                                        <a:latin typeface="Cambria Math" panose="02040503050406030204" pitchFamily="18" charset="0"/>
                                      </a:rPr>
                                      <m:t>n</m:t>
                                    </m:r>
                                    <m:r>
                                      <a:rPr lang="es-MX" b="0" i="1" smtClean="0">
                                        <a:latin typeface="Cambria Math" panose="02040503050406030204" pitchFamily="18" charset="0"/>
                                      </a:rPr>
                                      <m:t>−1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s-MX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s-MX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s-MX" b="0" i="1" smtClean="0">
                                        <a:latin typeface="Cambria Math" panose="02040503050406030204" pitchFamily="18" charset="0"/>
                                      </a:rPr>
                                      <m:t>k</m:t>
                                    </m:r>
                                  </m:e>
                                  <m:sub>
                                    <m:r>
                                      <m:rPr>
                                        <m:sty m:val="p"/>
                                      </m:rPr>
                                      <a:rPr lang="es-MX" b="0" i="1" smtClean="0">
                                        <a:latin typeface="Cambria Math" panose="02040503050406030204" pitchFamily="18" charset="0"/>
                                      </a:rPr>
                                      <m:t>e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s-MX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extLst>
                      <a:ext uri="{0D108BD9-81ED-4DB2-BD59-A6C34878D82A}">
                        <a16:rowId xmlns:a16="http://schemas.microsoft.com/office/drawing/2014/main" val="237512155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9" name="Table 8">
                <a:extLst>
                  <a:ext uri="{FF2B5EF4-FFF2-40B4-BE49-F238E27FC236}">
                    <a16:creationId xmlns:a16="http://schemas.microsoft.com/office/drawing/2014/main" id="{E138494C-6381-2DAF-6529-31D2F9DAFB3D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908563726"/>
                  </p:ext>
                </p:extLst>
              </p:nvPr>
            </p:nvGraphicFramePr>
            <p:xfrm>
              <a:off x="2712607" y="3123890"/>
              <a:ext cx="12192000" cy="370840"/>
            </p:xfrm>
            <a:graphic>
              <a:graphicData uri="http://schemas.openxmlformats.org/drawingml/2006/table">
                <a:tbl>
                  <a:tblPr bandRow="1">
                    <a:tableStyleId>{5C22544A-7EE6-4342-B048-85BDC9FD1C3A}</a:tableStyleId>
                  </a:tblPr>
                  <a:tblGrid>
                    <a:gridCol w="1783193">
                      <a:extLst>
                        <a:ext uri="{9D8B030D-6E8A-4147-A177-3AD203B41FA5}">
                          <a16:colId xmlns:a16="http://schemas.microsoft.com/office/drawing/2014/main" val="2219015284"/>
                        </a:ext>
                      </a:extLst>
                    </a:gridCol>
                    <a:gridCol w="2280807">
                      <a:extLst>
                        <a:ext uri="{9D8B030D-6E8A-4147-A177-3AD203B41FA5}">
                          <a16:colId xmlns:a16="http://schemas.microsoft.com/office/drawing/2014/main" val="776721821"/>
                        </a:ext>
                      </a:extLst>
                    </a:gridCol>
                    <a:gridCol w="2032000">
                      <a:extLst>
                        <a:ext uri="{9D8B030D-6E8A-4147-A177-3AD203B41FA5}">
                          <a16:colId xmlns:a16="http://schemas.microsoft.com/office/drawing/2014/main" val="149149602"/>
                        </a:ext>
                      </a:extLst>
                    </a:gridCol>
                    <a:gridCol w="2032000">
                      <a:extLst>
                        <a:ext uri="{9D8B030D-6E8A-4147-A177-3AD203B41FA5}">
                          <a16:colId xmlns:a16="http://schemas.microsoft.com/office/drawing/2014/main" val="1496273816"/>
                        </a:ext>
                      </a:extLst>
                    </a:gridCol>
                    <a:gridCol w="2032000">
                      <a:extLst>
                        <a:ext uri="{9D8B030D-6E8A-4147-A177-3AD203B41FA5}">
                          <a16:colId xmlns:a16="http://schemas.microsoft.com/office/drawing/2014/main" val="346435022"/>
                        </a:ext>
                      </a:extLst>
                    </a:gridCol>
                    <a:gridCol w="2032000">
                      <a:extLst>
                        <a:ext uri="{9D8B030D-6E8A-4147-A177-3AD203B41FA5}">
                          <a16:colId xmlns:a16="http://schemas.microsoft.com/office/drawing/2014/main" val="74217442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endParaRPr lang="es-MX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6"/>
                          <a:stretch>
                            <a:fillRect l="-341" t="-8065" r="-583959" b="-2258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MX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6"/>
                          <a:stretch>
                            <a:fillRect l="-78610" t="-8065" r="-357487" b="-2258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MX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6"/>
                          <a:stretch>
                            <a:fillRect l="-200000" t="-8065" r="-300299" b="-2258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s-MX" dirty="0"/>
                            <a:t>…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endParaRPr lang="es-MX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6"/>
                          <a:stretch>
                            <a:fillRect l="-399701" t="-8065" r="-100599" b="-2258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MX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6"/>
                          <a:stretch>
                            <a:fillRect l="-501201" t="-8065" r="-901" b="-2258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375121554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165643268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9000CC-66E8-B86D-05B6-47D9ECEC73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>
            <a:extLst>
              <a:ext uri="{FF2B5EF4-FFF2-40B4-BE49-F238E27FC236}">
                <a16:creationId xmlns:a16="http://schemas.microsoft.com/office/drawing/2014/main" id="{1F5064C0-D771-AE2B-0CE2-15B41F2C4CBC}"/>
              </a:ext>
            </a:extLst>
          </p:cNvPr>
          <p:cNvGrpSpPr/>
          <p:nvPr/>
        </p:nvGrpSpPr>
        <p:grpSpPr>
          <a:xfrm>
            <a:off x="0" y="459014"/>
            <a:ext cx="18263886" cy="9799532"/>
            <a:chOff x="0" y="459014"/>
            <a:chExt cx="18263886" cy="9799532"/>
          </a:xfrm>
        </p:grpSpPr>
        <p:sp>
          <p:nvSpPr>
            <p:cNvPr id="2" name="AutoShape 2">
              <a:extLst>
                <a:ext uri="{FF2B5EF4-FFF2-40B4-BE49-F238E27FC236}">
                  <a16:creationId xmlns:a16="http://schemas.microsoft.com/office/drawing/2014/main" id="{3651C5B8-39FA-0782-CCC4-8F119D20FBD5}"/>
                </a:ext>
              </a:extLst>
            </p:cNvPr>
            <p:cNvSpPr/>
            <p:nvPr/>
          </p:nvSpPr>
          <p:spPr>
            <a:xfrm rot="5400000">
              <a:off x="3066456" y="-1271943"/>
              <a:ext cx="145456" cy="6278368"/>
            </a:xfrm>
            <a:prstGeom prst="rect">
              <a:avLst/>
            </a:prstGeom>
            <a:solidFill>
              <a:srgbClr val="B71C2A"/>
            </a:solidFill>
          </p:spPr>
          <p:txBody>
            <a:bodyPr/>
            <a:lstStyle/>
            <a:p>
              <a:endParaRPr lang="es-MX"/>
            </a:p>
          </p:txBody>
        </p:sp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5692C603-7001-E2E3-64CC-50CB1565BC46}"/>
                </a:ext>
              </a:extLst>
            </p:cNvPr>
            <p:cNvSpPr/>
            <p:nvPr/>
          </p:nvSpPr>
          <p:spPr>
            <a:xfrm>
              <a:off x="10745894" y="459014"/>
              <a:ext cx="6513406" cy="1139371"/>
            </a:xfrm>
            <a:custGeom>
              <a:avLst/>
              <a:gdLst/>
              <a:ahLst/>
              <a:cxnLst/>
              <a:rect l="l" t="t" r="r" b="b"/>
              <a:pathLst>
                <a:path w="6513406" h="1139371">
                  <a:moveTo>
                    <a:pt x="0" y="0"/>
                  </a:moveTo>
                  <a:lnTo>
                    <a:pt x="6513406" y="0"/>
                  </a:lnTo>
                  <a:lnTo>
                    <a:pt x="6513406" y="1139372"/>
                  </a:lnTo>
                  <a:lnTo>
                    <a:pt x="0" y="113937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  <p:txBody>
            <a:bodyPr/>
            <a:lstStyle/>
            <a:p>
              <a:endParaRPr lang="es-MX"/>
            </a:p>
          </p:txBody>
        </p:sp>
        <p:sp>
          <p:nvSpPr>
            <p:cNvPr id="4" name="Freeform 4">
              <a:extLst>
                <a:ext uri="{FF2B5EF4-FFF2-40B4-BE49-F238E27FC236}">
                  <a16:creationId xmlns:a16="http://schemas.microsoft.com/office/drawing/2014/main" id="{E24CDA53-A025-4B84-E73A-82BBDE714CA3}"/>
                </a:ext>
              </a:extLst>
            </p:cNvPr>
            <p:cNvSpPr/>
            <p:nvPr/>
          </p:nvSpPr>
          <p:spPr>
            <a:xfrm rot="5400000" flipV="1">
              <a:off x="14402039" y="6396699"/>
              <a:ext cx="2191311" cy="5532383"/>
            </a:xfrm>
            <a:custGeom>
              <a:avLst/>
              <a:gdLst/>
              <a:ahLst/>
              <a:cxnLst/>
              <a:rect l="l" t="t" r="r" b="b"/>
              <a:pathLst>
                <a:path w="2191311" h="5532383">
                  <a:moveTo>
                    <a:pt x="0" y="5532383"/>
                  </a:moveTo>
                  <a:lnTo>
                    <a:pt x="2191311" y="5532383"/>
                  </a:lnTo>
                  <a:lnTo>
                    <a:pt x="2191311" y="0"/>
                  </a:lnTo>
                  <a:lnTo>
                    <a:pt x="0" y="0"/>
                  </a:lnTo>
                  <a:lnTo>
                    <a:pt x="0" y="5532383"/>
                  </a:lnTo>
                  <a:close/>
                </a:path>
              </a:pathLst>
            </a:custGeom>
            <a:blipFill>
              <a:blip r:embed="rId4"/>
              <a:stretch>
                <a:fillRect/>
              </a:stretch>
            </a:blipFill>
          </p:spPr>
          <p:txBody>
            <a:bodyPr/>
            <a:lstStyle/>
            <a:p>
              <a:endParaRPr lang="es-MX"/>
            </a:p>
          </p:txBody>
        </p:sp>
      </p:grpSp>
      <p:sp>
        <p:nvSpPr>
          <p:cNvPr id="5" name="TextBox 5">
            <a:extLst>
              <a:ext uri="{FF2B5EF4-FFF2-40B4-BE49-F238E27FC236}">
                <a16:creationId xmlns:a16="http://schemas.microsoft.com/office/drawing/2014/main" id="{9EB9F856-2D38-FE63-7B23-3112E2356BD1}"/>
              </a:ext>
            </a:extLst>
          </p:cNvPr>
          <p:cNvSpPr txBox="1"/>
          <p:nvPr/>
        </p:nvSpPr>
        <p:spPr>
          <a:xfrm>
            <a:off x="548415" y="493394"/>
            <a:ext cx="6513406" cy="89210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7537"/>
              </a:lnSpc>
              <a:spcBef>
                <a:spcPct val="0"/>
              </a:spcBef>
            </a:pPr>
            <a:r>
              <a:rPr lang="en-US" sz="5024" spc="251" dirty="0">
                <a:solidFill>
                  <a:srgbClr val="000000"/>
                </a:solidFill>
                <a:latin typeface="League Gothic"/>
              </a:rPr>
              <a:t>OPTIMIZACION COMBINATORIA</a:t>
            </a:r>
          </a:p>
        </p:txBody>
      </p:sp>
      <p:sp>
        <p:nvSpPr>
          <p:cNvPr id="6" name="TextBox 8">
            <a:extLst>
              <a:ext uri="{FF2B5EF4-FFF2-40B4-BE49-F238E27FC236}">
                <a16:creationId xmlns:a16="http://schemas.microsoft.com/office/drawing/2014/main" id="{39B149D1-676A-3347-1ABD-7726BBC4AD10}"/>
              </a:ext>
            </a:extLst>
          </p:cNvPr>
          <p:cNvSpPr txBox="1"/>
          <p:nvPr/>
        </p:nvSpPr>
        <p:spPr>
          <a:xfrm>
            <a:off x="1041142" y="9191625"/>
            <a:ext cx="1579863" cy="3095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2775"/>
              </a:lnSpc>
            </a:pPr>
            <a:r>
              <a:rPr lang="en-US" sz="1850" spc="92" dirty="0">
                <a:solidFill>
                  <a:srgbClr val="000000"/>
                </a:solidFill>
                <a:latin typeface="Bebas Neue Bold"/>
              </a:rPr>
              <a:t>PÁG. 12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02D51F0-3813-51F3-6286-C60418F52371}"/>
              </a:ext>
            </a:extLst>
          </p:cNvPr>
          <p:cNvSpPr txBox="1"/>
          <p:nvPr/>
        </p:nvSpPr>
        <p:spPr>
          <a:xfrm>
            <a:off x="548415" y="2476500"/>
            <a:ext cx="16520385" cy="56938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s-MX" sz="2800" b="1" spc="149" dirty="0">
                <a:solidFill>
                  <a:srgbClr val="000000"/>
                </a:solidFill>
                <a:latin typeface="Bahnschrift" panose="020B0502040204020203" pitchFamily="34" charset="0"/>
              </a:rPr>
              <a:t>Impacto en precisión</a:t>
            </a:r>
            <a:r>
              <a:rPr lang="es-MX" sz="2800" spc="149" dirty="0">
                <a:solidFill>
                  <a:srgbClr val="000000"/>
                </a:solidFill>
                <a:latin typeface="Bahnschrift" panose="020B0502040204020203" pitchFamily="34" charset="0"/>
              </a:rPr>
              <a:t>: Al eliminar electrodos ruidosos o redundantes, el modelo recibe una señal más limpia, lo que se traduce en menor LE y </a:t>
            </a:r>
            <a:r>
              <a:rPr lang="es-MX" sz="2800" spc="149" dirty="0" err="1">
                <a:solidFill>
                  <a:srgbClr val="000000"/>
                </a:solidFill>
                <a:latin typeface="Bahnschrift" panose="020B0502040204020203" pitchFamily="34" charset="0"/>
              </a:rPr>
              <a:t>nMSE</a:t>
            </a:r>
            <a:r>
              <a:rPr lang="es-MX" sz="2800" spc="149" dirty="0">
                <a:solidFill>
                  <a:srgbClr val="000000"/>
                </a:solidFill>
                <a:latin typeface="Bahnschrift" panose="020B0502040204020203" pitchFamily="34" charset="0"/>
              </a:rPr>
              <a:t>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s-MX" sz="2800" spc="149" dirty="0">
              <a:solidFill>
                <a:srgbClr val="000000"/>
              </a:solidFill>
              <a:latin typeface="Bahnschrift" panose="020B0502040204020203" pitchFamily="34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s-MX" sz="2800" b="1" spc="149" dirty="0">
                <a:solidFill>
                  <a:srgbClr val="000000"/>
                </a:solidFill>
                <a:latin typeface="Bahnschrift" panose="020B0502040204020203" pitchFamily="34" charset="0"/>
              </a:rPr>
              <a:t>Impacto en robustez</a:t>
            </a:r>
            <a:r>
              <a:rPr lang="es-MX" sz="2800" spc="149" dirty="0">
                <a:solidFill>
                  <a:srgbClr val="000000"/>
                </a:solidFill>
                <a:latin typeface="Bahnschrift" panose="020B0502040204020203" pitchFamily="34" charset="0"/>
              </a:rPr>
              <a:t>: Un subconjunto optimizado es menos sensible a variaciones anatómicas entre sujetos, mejorando la generalización.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s-MX" sz="2800" spc="149" dirty="0">
              <a:solidFill>
                <a:srgbClr val="000000"/>
              </a:solidFill>
              <a:latin typeface="Bahnschrift" panose="020B0502040204020203" pitchFamily="34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s-MX" sz="2800" b="1" spc="149" dirty="0">
                <a:solidFill>
                  <a:srgbClr val="000000"/>
                </a:solidFill>
                <a:latin typeface="Bahnschrift" panose="020B0502040204020203" pitchFamily="34" charset="0"/>
              </a:rPr>
              <a:t>Impacto en comparación con métodos clásicos</a:t>
            </a:r>
            <a:r>
              <a:rPr lang="es-MX" sz="2800" spc="149" dirty="0">
                <a:solidFill>
                  <a:srgbClr val="000000"/>
                </a:solidFill>
                <a:latin typeface="Bahnschrift" panose="020B0502040204020203" pitchFamily="34" charset="0"/>
              </a:rPr>
              <a:t>: MNE, </a:t>
            </a:r>
            <a:r>
              <a:rPr lang="es-MX" sz="2800" spc="149" dirty="0" err="1">
                <a:solidFill>
                  <a:srgbClr val="000000"/>
                </a:solidFill>
                <a:latin typeface="Bahnschrift" panose="020B0502040204020203" pitchFamily="34" charset="0"/>
              </a:rPr>
              <a:t>sLORETA</a:t>
            </a:r>
            <a:r>
              <a:rPr lang="es-MX" sz="2800" spc="149" dirty="0">
                <a:solidFill>
                  <a:srgbClr val="000000"/>
                </a:solidFill>
                <a:latin typeface="Bahnschrift" panose="020B0502040204020203" pitchFamily="34" charset="0"/>
              </a:rPr>
              <a:t> y VARETA usan configuraciones fijas de electrodos. Un modelo con electrodos seleccionados puede contener más información relevante que una configuración fija.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s-MX" sz="2800" spc="149" dirty="0">
              <a:solidFill>
                <a:srgbClr val="000000"/>
              </a:solidFill>
              <a:latin typeface="Bahnschrift" panose="020B0502040204020203" pitchFamily="34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s-MX" sz="2800" b="1" spc="149" dirty="0">
                <a:solidFill>
                  <a:srgbClr val="000000"/>
                </a:solidFill>
                <a:latin typeface="Bahnschrift" panose="020B0502040204020203" pitchFamily="34" charset="0"/>
              </a:rPr>
              <a:t>Impacto académico</a:t>
            </a:r>
            <a:r>
              <a:rPr lang="es-MX" sz="2800" spc="149" dirty="0">
                <a:solidFill>
                  <a:srgbClr val="000000"/>
                </a:solidFill>
                <a:latin typeface="Bahnschrift" panose="020B0502040204020203" pitchFamily="34" charset="0"/>
              </a:rPr>
              <a:t>: Añade una contribución metodológica al estado del arte: no solo se propone un modelo de </a:t>
            </a:r>
            <a:r>
              <a:rPr lang="es-MX" sz="2800" spc="149" dirty="0" err="1">
                <a:solidFill>
                  <a:srgbClr val="000000"/>
                </a:solidFill>
                <a:latin typeface="Bahnschrift" panose="020B0502040204020203" pitchFamily="34" charset="0"/>
              </a:rPr>
              <a:t>deep</a:t>
            </a:r>
            <a:r>
              <a:rPr lang="es-MX" sz="2800" spc="149" dirty="0">
                <a:solidFill>
                  <a:srgbClr val="000000"/>
                </a:solidFill>
                <a:latin typeface="Bahnschrift" panose="020B0502040204020203" pitchFamily="34" charset="0"/>
              </a:rPr>
              <a:t> </a:t>
            </a:r>
            <a:r>
              <a:rPr lang="es-MX" sz="2800" spc="149" dirty="0" err="1">
                <a:solidFill>
                  <a:srgbClr val="000000"/>
                </a:solidFill>
                <a:latin typeface="Bahnschrift" panose="020B0502040204020203" pitchFamily="34" charset="0"/>
              </a:rPr>
              <a:t>learning</a:t>
            </a:r>
            <a:r>
              <a:rPr lang="es-MX" sz="2800" spc="149" dirty="0">
                <a:solidFill>
                  <a:srgbClr val="000000"/>
                </a:solidFill>
                <a:latin typeface="Bahnschrift" panose="020B0502040204020203" pitchFamily="34" charset="0"/>
              </a:rPr>
              <a:t>, sino también un marco de selección óptima de configuración de adquisición.</a:t>
            </a:r>
          </a:p>
        </p:txBody>
      </p:sp>
    </p:spTree>
    <p:extLst>
      <p:ext uri="{BB962C8B-B14F-4D97-AF65-F5344CB8AC3E}">
        <p14:creationId xmlns:p14="http://schemas.microsoft.com/office/powerpoint/2010/main" val="205287439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EFEF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D909B6C-E355-F32A-D219-96F6D21AC9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>
            <a:extLst>
              <a:ext uri="{FF2B5EF4-FFF2-40B4-BE49-F238E27FC236}">
                <a16:creationId xmlns:a16="http://schemas.microsoft.com/office/drawing/2014/main" id="{6965752D-60E4-FC3B-9EBD-53EA3EA29A53}"/>
              </a:ext>
            </a:extLst>
          </p:cNvPr>
          <p:cNvSpPr/>
          <p:nvPr/>
        </p:nvSpPr>
        <p:spPr>
          <a:xfrm rot="5400000">
            <a:off x="3066456" y="-1271943"/>
            <a:ext cx="145456" cy="6278368"/>
          </a:xfrm>
          <a:prstGeom prst="rect">
            <a:avLst/>
          </a:prstGeom>
          <a:solidFill>
            <a:srgbClr val="B71C2A"/>
          </a:solidFill>
        </p:spPr>
        <p:txBody>
          <a:bodyPr/>
          <a:lstStyle/>
          <a:p>
            <a:endParaRPr lang="es-MX"/>
          </a:p>
        </p:txBody>
      </p:sp>
      <p:sp>
        <p:nvSpPr>
          <p:cNvPr id="3" name="Freeform 3">
            <a:extLst>
              <a:ext uri="{FF2B5EF4-FFF2-40B4-BE49-F238E27FC236}">
                <a16:creationId xmlns:a16="http://schemas.microsoft.com/office/drawing/2014/main" id="{DB8494A0-67F1-90A5-E689-2AA0AD318F95}"/>
              </a:ext>
            </a:extLst>
          </p:cNvPr>
          <p:cNvSpPr/>
          <p:nvPr/>
        </p:nvSpPr>
        <p:spPr>
          <a:xfrm>
            <a:off x="10745894" y="459014"/>
            <a:ext cx="6513406" cy="1139371"/>
          </a:xfrm>
          <a:custGeom>
            <a:avLst/>
            <a:gdLst/>
            <a:ahLst/>
            <a:cxnLst/>
            <a:rect l="l" t="t" r="r" b="b"/>
            <a:pathLst>
              <a:path w="6513406" h="1139371">
                <a:moveTo>
                  <a:pt x="0" y="0"/>
                </a:moveTo>
                <a:lnTo>
                  <a:pt x="6513406" y="0"/>
                </a:lnTo>
                <a:lnTo>
                  <a:pt x="6513406" y="1139372"/>
                </a:lnTo>
                <a:lnTo>
                  <a:pt x="0" y="113937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sp>
        <p:nvSpPr>
          <p:cNvPr id="4" name="Freeform 4">
            <a:extLst>
              <a:ext uri="{FF2B5EF4-FFF2-40B4-BE49-F238E27FC236}">
                <a16:creationId xmlns:a16="http://schemas.microsoft.com/office/drawing/2014/main" id="{F3E0A69C-F281-CD38-E713-8CC262F58762}"/>
              </a:ext>
            </a:extLst>
          </p:cNvPr>
          <p:cNvSpPr/>
          <p:nvPr/>
        </p:nvSpPr>
        <p:spPr>
          <a:xfrm rot="5400000" flipV="1">
            <a:off x="14426153" y="6648700"/>
            <a:ext cx="2191311" cy="5532383"/>
          </a:xfrm>
          <a:custGeom>
            <a:avLst/>
            <a:gdLst/>
            <a:ahLst/>
            <a:cxnLst/>
            <a:rect l="l" t="t" r="r" b="b"/>
            <a:pathLst>
              <a:path w="2191311" h="5532383">
                <a:moveTo>
                  <a:pt x="0" y="5532383"/>
                </a:moveTo>
                <a:lnTo>
                  <a:pt x="2191311" y="5532383"/>
                </a:lnTo>
                <a:lnTo>
                  <a:pt x="2191311" y="0"/>
                </a:lnTo>
                <a:lnTo>
                  <a:pt x="0" y="0"/>
                </a:lnTo>
                <a:lnTo>
                  <a:pt x="0" y="5532383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sp>
        <p:nvSpPr>
          <p:cNvPr id="6" name="TextBox 6">
            <a:extLst>
              <a:ext uri="{FF2B5EF4-FFF2-40B4-BE49-F238E27FC236}">
                <a16:creationId xmlns:a16="http://schemas.microsoft.com/office/drawing/2014/main" id="{EEC03024-0EA5-14DA-4869-F13B27437778}"/>
              </a:ext>
            </a:extLst>
          </p:cNvPr>
          <p:cNvSpPr txBox="1"/>
          <p:nvPr/>
        </p:nvSpPr>
        <p:spPr>
          <a:xfrm>
            <a:off x="842169" y="5398590"/>
            <a:ext cx="16230600" cy="70403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825"/>
              </a:lnSpc>
              <a:spcBef>
                <a:spcPct val="0"/>
              </a:spcBef>
            </a:pPr>
            <a:r>
              <a:rPr lang="es-ES" sz="8800" spc="127" dirty="0">
                <a:solidFill>
                  <a:srgbClr val="000000"/>
                </a:solidFill>
                <a:latin typeface="Bebas Neue"/>
              </a:rPr>
              <a:t>Gracias!</a:t>
            </a:r>
            <a:endParaRPr lang="en-US" sz="8800" spc="127" dirty="0">
              <a:solidFill>
                <a:srgbClr val="000000"/>
              </a:solidFill>
              <a:latin typeface="Bebas Neue"/>
            </a:endParaRPr>
          </a:p>
        </p:txBody>
      </p:sp>
    </p:spTree>
    <p:extLst>
      <p:ext uri="{BB962C8B-B14F-4D97-AF65-F5344CB8AC3E}">
        <p14:creationId xmlns:p14="http://schemas.microsoft.com/office/powerpoint/2010/main" val="330804050"/>
      </p:ext>
    </p:extLst>
  </p:cSld>
  <p:clrMapOvr>
    <a:masterClrMapping/>
  </p:clrMapOvr>
</p:sld>
</file>

<file path=ppt/theme/theme1.xml><?xml version="1.0" encoding="utf-8"?>
<a:theme xmlns:a="http://schemas.openxmlformats.org/drawingml/2006/main" name="UAQ_FI_MCIA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UAQ_FI_MCIA" id="{1F85EE02-FD86-4DDF-ADCD-0C78365A229A}" vid="{06D9A0DC-4F1D-48ED-A62E-043EEF0F6804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836</TotalTime>
  <Words>937</Words>
  <Application>Microsoft Office PowerPoint</Application>
  <PresentationFormat>Custom</PresentationFormat>
  <Paragraphs>125</Paragraphs>
  <Slides>14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3" baseType="lpstr">
      <vt:lpstr>Quicksand Bold</vt:lpstr>
      <vt:lpstr>Bahnschrift</vt:lpstr>
      <vt:lpstr>Arial</vt:lpstr>
      <vt:lpstr>League Gothic</vt:lpstr>
      <vt:lpstr>Cambria Math</vt:lpstr>
      <vt:lpstr>Bebas Neue</vt:lpstr>
      <vt:lpstr>Bebas Neue Bold</vt:lpstr>
      <vt:lpstr>Calibri</vt:lpstr>
      <vt:lpstr>UAQ_FI_MCIA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Presentación_Final_CGRF</dc:title>
  <dc:creator>Daniel Gonzalez</dc:creator>
  <cp:lastModifiedBy>Daniel Gonzalez</cp:lastModifiedBy>
  <cp:revision>22</cp:revision>
  <dcterms:created xsi:type="dcterms:W3CDTF">2006-08-16T00:00:00Z</dcterms:created>
  <dcterms:modified xsi:type="dcterms:W3CDTF">2026-06-10T03:31:35Z</dcterms:modified>
  <dc:identifier>DAFqILKuhGQ</dc:identifier>
</cp:coreProperties>
</file>