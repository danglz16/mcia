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</p:sldIdLst>
  <p:sldSz cx="9144000" cy="6858000" type="screen4x3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193"/>
    <a:srgbClr val="DD8C7F"/>
    <a:srgbClr val="E4BC94"/>
    <a:srgbClr val="DCA7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345" autoAdjust="0"/>
  </p:normalViewPr>
  <p:slideViewPr>
    <p:cSldViewPr>
      <p:cViewPr varScale="1">
        <p:scale>
          <a:sx n="75" d="100"/>
          <a:sy n="75" d="100"/>
        </p:scale>
        <p:origin x="1694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95928-2773-4A5F-B808-0E44B5ADF11A}" type="datetimeFigureOut">
              <a:rPr lang="es-MX" smtClean="0"/>
              <a:t>21/05/2026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70B4E-FD3C-48BB-83BE-A1436CEDF85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566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TS1-ex:</a:t>
            </a:r>
            <a:r>
              <a:rPr lang="en-US" dirty="0"/>
              <a:t> Tabu Search with 1-exchange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TSVLSN:</a:t>
            </a:r>
            <a:r>
              <a:rPr lang="en-US" dirty="0"/>
              <a:t> Tabu Search with Very Large Scale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MC-TS1-ex:</a:t>
            </a:r>
            <a:r>
              <a:rPr lang="en-US" dirty="0"/>
              <a:t> Min-Conflicts Tabu Search with 1-exchange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GLS:</a:t>
            </a:r>
            <a:r>
              <a:rPr lang="en-US" dirty="0"/>
              <a:t> Guided Local Search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70B4E-FD3C-48BB-83BE-A1436CEDF858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64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ILS:</a:t>
            </a:r>
            <a:r>
              <a:rPr lang="es-MX" dirty="0"/>
              <a:t> </a:t>
            </a:r>
            <a:r>
              <a:rPr lang="es-MX" dirty="0" err="1"/>
              <a:t>Iterated</a:t>
            </a:r>
            <a:r>
              <a:rPr lang="es-MX" dirty="0"/>
              <a:t> Local Search </a:t>
            </a:r>
            <a:br>
              <a:rPr lang="es-MX" dirty="0"/>
            </a:br>
            <a:r>
              <a:rPr lang="es-MX" b="1" dirty="0"/>
              <a:t>HEA:</a:t>
            </a:r>
            <a:r>
              <a:rPr lang="es-MX" dirty="0"/>
              <a:t> Hybrid </a:t>
            </a:r>
            <a:r>
              <a:rPr lang="es-MX" dirty="0" err="1"/>
              <a:t>Evolutionary</a:t>
            </a:r>
            <a:r>
              <a:rPr lang="es-MX" dirty="0"/>
              <a:t> </a:t>
            </a:r>
            <a:r>
              <a:rPr lang="es-MX" dirty="0" err="1"/>
              <a:t>Algorithm</a:t>
            </a:r>
            <a:r>
              <a:rPr lang="es-MX" dirty="0"/>
              <a:t> </a:t>
            </a:r>
            <a:br>
              <a:rPr lang="es-MX" dirty="0"/>
            </a:br>
            <a:r>
              <a:rPr lang="es-MX" b="1" dirty="0" err="1"/>
              <a:t>SAKempe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Simulated</a:t>
            </a:r>
            <a:r>
              <a:rPr lang="es-MX" dirty="0"/>
              <a:t> </a:t>
            </a:r>
            <a:r>
              <a:rPr lang="es-MX" dirty="0" err="1"/>
              <a:t>Annealing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Kempe </a:t>
            </a:r>
            <a:r>
              <a:rPr lang="es-MX" dirty="0" err="1"/>
              <a:t>chain</a:t>
            </a:r>
            <a:r>
              <a:rPr lang="es-MX" dirty="0"/>
              <a:t> </a:t>
            </a:r>
            <a:r>
              <a:rPr lang="es-MX" dirty="0" err="1"/>
              <a:t>neighbourhood</a:t>
            </a:r>
            <a:r>
              <a:rPr lang="es-MX" dirty="0"/>
              <a:t> </a:t>
            </a:r>
            <a:br>
              <a:rPr lang="es-MX" dirty="0"/>
            </a:br>
            <a:r>
              <a:rPr lang="es-MX" b="1" dirty="0"/>
              <a:t>XRLF:</a:t>
            </a:r>
            <a:r>
              <a:rPr lang="es-MX" dirty="0"/>
              <a:t> Extended Recursive </a:t>
            </a:r>
            <a:r>
              <a:rPr lang="es-MX" dirty="0" err="1"/>
              <a:t>Largest</a:t>
            </a:r>
            <a:r>
              <a:rPr lang="es-MX" dirty="0"/>
              <a:t> First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70B4E-FD3C-48BB-83BE-A1436CEDF858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0138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TS1-ex:</a:t>
            </a:r>
            <a:r>
              <a:rPr lang="en-US" dirty="0"/>
              <a:t> Tabu Search with 1-exchange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TSVLSN:</a:t>
            </a:r>
            <a:r>
              <a:rPr lang="en-US" dirty="0"/>
              <a:t> Tabu Search with Very Large Scale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MC-TS1-ex:</a:t>
            </a:r>
            <a:r>
              <a:rPr lang="en-US" dirty="0"/>
              <a:t> Min-Conflicts Tabu Search with 1-exchange </a:t>
            </a:r>
            <a:r>
              <a:rPr lang="en-US" dirty="0" err="1"/>
              <a:t>neighbourhood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GLS:</a:t>
            </a:r>
            <a:r>
              <a:rPr lang="en-US" dirty="0"/>
              <a:t> Guided Local Search</a:t>
            </a:r>
            <a:br>
              <a:rPr lang="en-US" dirty="0"/>
            </a:br>
            <a:r>
              <a:rPr lang="es-MX" b="1" dirty="0"/>
              <a:t>ILS:</a:t>
            </a:r>
            <a:r>
              <a:rPr lang="es-MX" dirty="0"/>
              <a:t> </a:t>
            </a:r>
            <a:r>
              <a:rPr lang="es-MX" dirty="0" err="1"/>
              <a:t>Iterated</a:t>
            </a:r>
            <a:r>
              <a:rPr lang="es-MX" dirty="0"/>
              <a:t> Local Search </a:t>
            </a:r>
            <a:br>
              <a:rPr lang="es-MX" dirty="0"/>
            </a:br>
            <a:r>
              <a:rPr lang="es-MX" b="1" dirty="0"/>
              <a:t>HEA:</a:t>
            </a:r>
            <a:r>
              <a:rPr lang="es-MX" dirty="0"/>
              <a:t> Hybrid </a:t>
            </a:r>
            <a:r>
              <a:rPr lang="es-MX" dirty="0" err="1"/>
              <a:t>Evolutionary</a:t>
            </a:r>
            <a:r>
              <a:rPr lang="es-MX" dirty="0"/>
              <a:t> </a:t>
            </a:r>
            <a:r>
              <a:rPr lang="es-MX" dirty="0" err="1"/>
              <a:t>Algorithm</a:t>
            </a:r>
            <a:r>
              <a:rPr lang="es-MX" dirty="0"/>
              <a:t> </a:t>
            </a:r>
            <a:br>
              <a:rPr lang="es-MX" dirty="0"/>
            </a:br>
            <a:r>
              <a:rPr lang="es-MX" b="1" dirty="0" err="1"/>
              <a:t>SAKempe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Simulated</a:t>
            </a:r>
            <a:r>
              <a:rPr lang="es-MX" dirty="0"/>
              <a:t> </a:t>
            </a:r>
            <a:r>
              <a:rPr lang="es-MX" dirty="0" err="1"/>
              <a:t>Annealing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Kempe </a:t>
            </a:r>
            <a:r>
              <a:rPr lang="es-MX" dirty="0" err="1"/>
              <a:t>chain</a:t>
            </a:r>
            <a:r>
              <a:rPr lang="es-MX" dirty="0"/>
              <a:t> </a:t>
            </a:r>
            <a:r>
              <a:rPr lang="es-MX" dirty="0" err="1"/>
              <a:t>neighbourhood</a:t>
            </a:r>
            <a:r>
              <a:rPr lang="es-MX" dirty="0"/>
              <a:t> </a:t>
            </a:r>
            <a:br>
              <a:rPr lang="es-MX" dirty="0"/>
            </a:br>
            <a:r>
              <a:rPr lang="es-MX" b="1" dirty="0"/>
              <a:t>XRLF:</a:t>
            </a:r>
            <a:r>
              <a:rPr lang="es-MX" dirty="0"/>
              <a:t> Extended Recursive </a:t>
            </a:r>
            <a:r>
              <a:rPr lang="es-MX" dirty="0" err="1"/>
              <a:t>Largest</a:t>
            </a:r>
            <a:r>
              <a:rPr lang="es-MX" dirty="0"/>
              <a:t> First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70B4E-FD3C-48BB-83BE-A1436CEDF858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1174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20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6A7C2A1B-2CBF-94A9-8625-A3B14052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DA84C4A-B84D-4742-84B9-D03F247D6E12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08A7589-C094-5F78-E6E2-792B0FEF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FAF61314-B8E8-3744-553E-31E1BA06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659489F-6C65-4856-91BB-461C1284E102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25541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C57EBA96-4751-5737-1759-A8879AD1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8A826E5-EB96-4D30-8752-9BE7C13E8F65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A454D70-C743-25A2-5694-509E5400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8CFE7709-BCE2-0F49-D8BC-9DC94ECE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CD9CAA0-CA8C-4E73-BFF8-94AA28554FC3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2926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>
            <a:extLst>
              <a:ext uri="{FF2B5EF4-FFF2-40B4-BE49-F238E27FC236}">
                <a16:creationId xmlns:a16="http://schemas.microsoft.com/office/drawing/2014/main" id="{D31B46EA-98ED-444D-BF65-CF3F5F0F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53DC8D81-9A11-4A38-AF82-965EB3130AFB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3" name="2 Marcador de pie de página">
            <a:extLst>
              <a:ext uri="{FF2B5EF4-FFF2-40B4-BE49-F238E27FC236}">
                <a16:creationId xmlns:a16="http://schemas.microsoft.com/office/drawing/2014/main" id="{B30FC3AD-0A75-2C15-50CF-DA6160C7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30361628-C9CA-3771-AF2F-C6F8828B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8C775B1-DE37-4810-84DB-F45F7F3AEA77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605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59F721AC-489D-D122-7C51-D2A3A70D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FA4078BE-FBCF-4B49-8650-68B6801AFFB3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831571EC-42CC-5B68-6217-43C48F72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3DDA9A00-3885-2EFA-6792-A3725CC1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79EFC85-8E46-4520-BD44-FFD4675DDB9F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38425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1891FA16-18B6-E78B-2ECC-713FDC2D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2D25BE1C-F31F-423C-A4A9-6E86C652EC7A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B557316C-0D57-3DBF-B742-821836ED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567F6A58-9247-2403-205D-F695DBF0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0D51781-8894-4C5A-9448-C5308B2455B6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46712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62FFD5E3-654A-A203-2B61-C3CEEAA2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ACF3539-4A82-4337-B68C-286C9B5BA241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94DC495-F83B-846C-6559-1F84E700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0CCAD7A-130D-C8C2-4E61-B0B8EF7A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B99BA91-3F77-451D-BB9B-B19CD85153E6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85414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D230246F-26DF-F4D4-82D7-8111DB4D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F555AAD8-F867-446D-A81E-36CFF0AF817F}" type="datetimeFigureOut">
              <a:rPr lang="es-MX"/>
              <a:pPr>
                <a:defRPr/>
              </a:pPr>
              <a:t>21/05/2026</a:t>
            </a:fld>
            <a:endParaRPr lang="es-MX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45FC7A64-AF4C-0062-95FA-ADAA46AD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5670F06A-0E33-F202-546B-66EF84FD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D5D74D9-1D8D-4A3C-9749-313D0B38895A}" type="slidenum">
              <a:rPr lang="es-MX" altLang="es-MX"/>
              <a:pPr>
                <a:defRPr/>
              </a:pPr>
              <a:t>‹Nº›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2672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7 CuadroTexto">
            <a:extLst>
              <a:ext uri="{FF2B5EF4-FFF2-40B4-BE49-F238E27FC236}">
                <a16:creationId xmlns:a16="http://schemas.microsoft.com/office/drawing/2014/main" id="{31FCA981-3D74-952E-44BF-0C08C8FC52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13512"/>
            <a:ext cx="9182100" cy="3397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1600" dirty="0">
                <a:latin typeface="Calibri" panose="020F0502020204030204" pitchFamily="34" charset="0"/>
              </a:rPr>
              <a:t>Optimización Combinatoria	                               SLSA-GCP		                   Ing. Daniel González</a:t>
            </a:r>
          </a:p>
        </p:txBody>
      </p:sp>
      <p:sp>
        <p:nvSpPr>
          <p:cNvPr id="9" name="8 Rectángulo">
            <a:extLst>
              <a:ext uri="{FF2B5EF4-FFF2-40B4-BE49-F238E27FC236}">
                <a16:creationId xmlns:a16="http://schemas.microsoft.com/office/drawing/2014/main" id="{E35ACBBB-3E7F-95FC-BA4B-A45AA0226E11}"/>
              </a:ext>
            </a:extLst>
          </p:cNvPr>
          <p:cNvSpPr/>
          <p:nvPr userDrawn="1"/>
        </p:nvSpPr>
        <p:spPr>
          <a:xfrm flipV="1">
            <a:off x="0" y="719138"/>
            <a:ext cx="9144000" cy="53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MX"/>
          </a:p>
        </p:txBody>
      </p:sp>
      <p:pic>
        <p:nvPicPr>
          <p:cNvPr id="1028" name="Picture 8">
            <a:extLst>
              <a:ext uri="{FF2B5EF4-FFF2-40B4-BE49-F238E27FC236}">
                <a16:creationId xmlns:a16="http://schemas.microsoft.com/office/drawing/2014/main" id="{EE917815-AC79-2BF8-2190-5453FE684B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821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>
            <a:extLst>
              <a:ext uri="{FF2B5EF4-FFF2-40B4-BE49-F238E27FC236}">
                <a16:creationId xmlns:a16="http://schemas.microsoft.com/office/drawing/2014/main" id="{F2BCA25E-A076-EAF2-3794-335F1E134075}"/>
              </a:ext>
            </a:extLst>
          </p:cNvPr>
          <p:cNvSpPr/>
          <p:nvPr/>
        </p:nvSpPr>
        <p:spPr>
          <a:xfrm>
            <a:off x="-2772816" y="1052736"/>
            <a:ext cx="12673408" cy="1569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Stochastic Local Search Algorithms </a:t>
            </a:r>
          </a:p>
          <a:p>
            <a:pPr algn="ctr" eaLnBrk="1" hangingPunct="1">
              <a:defRPr/>
            </a:pPr>
            <a:r>
              <a:rPr lang="en-US" sz="32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for the </a:t>
            </a:r>
          </a:p>
          <a:p>
            <a:pPr algn="ctr" eaLnBrk="1" hangingPunct="1">
              <a:defRPr/>
            </a:pPr>
            <a:r>
              <a:rPr lang="en-US" sz="32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			Graph </a:t>
            </a:r>
            <a:r>
              <a:rPr lang="en-US" sz="3200" b="1" dirty="0" err="1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Colouring</a:t>
            </a:r>
            <a:r>
              <a:rPr lang="en-US" sz="32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 Problem</a:t>
            </a:r>
            <a:r>
              <a:rPr lang="es-ES" sz="3200" b="1" dirty="0">
                <a:ln w="12700">
                  <a:solidFill>
                    <a:schemeClr val="bg1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  <a:cs typeface="Arial" charset="0"/>
              </a:rPr>
              <a:t> Secuencial 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A6969A9-8C37-8EA9-EADD-B797B117760A}"/>
              </a:ext>
            </a:extLst>
          </p:cNvPr>
          <p:cNvSpPr txBox="1"/>
          <p:nvPr/>
        </p:nvSpPr>
        <p:spPr>
          <a:xfrm>
            <a:off x="179512" y="3140968"/>
            <a:ext cx="3449638" cy="317022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4759"/>
              </a:lnSpc>
              <a:defRPr/>
            </a:pPr>
            <a:r>
              <a:rPr lang="en-US" sz="2000" spc="169" dirty="0">
                <a:solidFill>
                  <a:srgbClr val="191919"/>
                </a:solidFill>
              </a:rPr>
              <a:t>AUTORES: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s-MX" sz="1400" spc="169" dirty="0">
                <a:solidFill>
                  <a:srgbClr val="191919"/>
                </a:solidFill>
                <a:latin typeface="Bebas Neue"/>
              </a:rPr>
              <a:t>-Marco </a:t>
            </a:r>
            <a:r>
              <a:rPr lang="es-MX" sz="1400" spc="169" dirty="0" err="1">
                <a:solidFill>
                  <a:srgbClr val="191919"/>
                </a:solidFill>
                <a:latin typeface="Bebas Neue"/>
              </a:rPr>
              <a:t>Chiarandini</a:t>
            </a:r>
            <a:endParaRPr lang="es-MX" sz="1400" spc="169" dirty="0">
              <a:solidFill>
                <a:srgbClr val="191919"/>
              </a:solidFill>
              <a:latin typeface="Bebas Neue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s-MX" sz="1400" spc="169" dirty="0">
                <a:solidFill>
                  <a:srgbClr val="191919"/>
                </a:solidFill>
                <a:latin typeface="Bebas Neue"/>
              </a:rPr>
              <a:t>-Irina Dumitrescu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s-MX" sz="1400" spc="169" dirty="0">
                <a:solidFill>
                  <a:srgbClr val="191919"/>
                </a:solidFill>
                <a:latin typeface="Bebas Neue"/>
              </a:rPr>
              <a:t>-Thomas </a:t>
            </a:r>
            <a:r>
              <a:rPr lang="es-MX" sz="1400" spc="169" dirty="0" err="1">
                <a:solidFill>
                  <a:srgbClr val="191919"/>
                </a:solidFill>
                <a:latin typeface="Bebas Neue"/>
              </a:rPr>
              <a:t>Stutzle</a:t>
            </a:r>
            <a:endParaRPr lang="en-US" sz="1400" spc="169" dirty="0">
              <a:solidFill>
                <a:srgbClr val="191919"/>
              </a:solidFill>
              <a:latin typeface="Bebas Neue"/>
            </a:endParaRPr>
          </a:p>
          <a:p>
            <a:pPr eaLnBrk="1" hangingPunct="1">
              <a:lnSpc>
                <a:spcPts val="4759"/>
              </a:lnSpc>
              <a:defRPr/>
            </a:pPr>
            <a:r>
              <a:rPr lang="en-US" sz="2000" spc="169" dirty="0">
                <a:solidFill>
                  <a:srgbClr val="191919"/>
                </a:solidFill>
              </a:rPr>
              <a:t>PRESENTA: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1400" spc="169" dirty="0">
                <a:solidFill>
                  <a:srgbClr val="191919"/>
                </a:solidFill>
                <a:latin typeface="Bebas Neue"/>
              </a:rPr>
              <a:t>Ing. Gonzalez Alvarado Daniel Eduardo</a:t>
            </a:r>
            <a:endParaRPr lang="en-US" sz="2999" spc="149" dirty="0">
              <a:solidFill>
                <a:srgbClr val="191919"/>
              </a:solidFill>
              <a:latin typeface="Bebas Neue"/>
            </a:endParaRPr>
          </a:p>
          <a:p>
            <a:pPr algn="ctr" eaLnBrk="1" hangingPunct="1">
              <a:lnSpc>
                <a:spcPts val="4619"/>
              </a:lnSpc>
              <a:defRPr/>
            </a:pPr>
            <a:endParaRPr lang="en-US" sz="3299" u="sng" spc="164" dirty="0">
              <a:solidFill>
                <a:srgbClr val="191919"/>
              </a:solidFill>
              <a:latin typeface="League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CB6A7-1DF0-1954-8EC7-2304A453E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4" t="8915" r="10863" b="14428"/>
          <a:stretch>
            <a:fillRect/>
          </a:stretch>
        </p:blipFill>
        <p:spPr>
          <a:xfrm>
            <a:off x="4572000" y="3078446"/>
            <a:ext cx="2160240" cy="20642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D9D69-984D-9124-4673-78496373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580926"/>
          </a:xfrm>
        </p:spPr>
        <p:txBody>
          <a:bodyPr/>
          <a:lstStyle/>
          <a:p>
            <a:r>
              <a:rPr lang="es-MX" dirty="0"/>
              <a:t>¿QUÉ ES?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1C184-1EC6-3BBE-C896-1A713C6EB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8840"/>
            <a:ext cx="4038600" cy="4525963"/>
          </a:xfrm>
        </p:spPr>
        <p:txBody>
          <a:bodyPr/>
          <a:lstStyle/>
          <a:p>
            <a:r>
              <a:rPr lang="es-ES" dirty="0"/>
              <a:t>Cada color representa un recurso, y cada arista representa un conflicto.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44C417-BB12-780C-7F50-96C661E35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1" t="7974" r="10101" b="11150"/>
          <a:stretch>
            <a:fillRect/>
          </a:stretch>
        </p:blipFill>
        <p:spPr>
          <a:xfrm>
            <a:off x="4649328" y="3068960"/>
            <a:ext cx="2022970" cy="205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2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533D7-3F61-CC1A-C263-587BC63D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508918"/>
          </a:xfrm>
        </p:spPr>
        <p:txBody>
          <a:bodyPr/>
          <a:lstStyle/>
          <a:p>
            <a:r>
              <a:rPr lang="es-MX" dirty="0"/>
              <a:t>K-Colores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A84A946-E800-9B28-EEB1-0494C9E9E0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3648" y="1484784"/>
            <a:ext cx="5832648" cy="472453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ABA8E50-E6A2-78C9-FBDF-899F847E25B9}"/>
              </a:ext>
            </a:extLst>
          </p:cNvPr>
          <p:cNvSpPr/>
          <p:nvPr/>
        </p:nvSpPr>
        <p:spPr>
          <a:xfrm>
            <a:off x="1547664" y="5805264"/>
            <a:ext cx="1090464" cy="3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EA6592A-14A0-DE10-4E73-DB4FA5D93C2B}"/>
                  </a:ext>
                </a:extLst>
              </p:cNvPr>
              <p:cNvSpPr txBox="1"/>
              <p:nvPr/>
            </p:nvSpPr>
            <p:spPr>
              <a:xfrm>
                <a:off x="2524944" y="4077072"/>
                <a:ext cx="22636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EA6592A-14A0-DE10-4E73-DB4FA5D9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944" y="4077072"/>
                <a:ext cx="226368" cy="276999"/>
              </a:xfrm>
              <a:prstGeom prst="rect">
                <a:avLst/>
              </a:prstGeom>
              <a:blipFill>
                <a:blip r:embed="rId3"/>
                <a:stretch>
                  <a:fillRect l="-27027" r="-105405" b="-88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605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AD2C1-0B20-DDC9-F429-5A7CE340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836712"/>
            <a:ext cx="8229600" cy="1143000"/>
          </a:xfrm>
        </p:spPr>
        <p:txBody>
          <a:bodyPr/>
          <a:lstStyle/>
          <a:p>
            <a:r>
              <a:rPr lang="es-MX" dirty="0"/>
              <a:t>Reglas de Reducción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9CF45-2C0B-4DB8-E2EE-523489778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327" y="2636912"/>
            <a:ext cx="4038600" cy="2625440"/>
          </a:xfrm>
        </p:spPr>
        <p:txBody>
          <a:bodyPr/>
          <a:lstStyle/>
          <a:p>
            <a:r>
              <a:rPr lang="es-MX" sz="2000" dirty="0"/>
              <a:t>Eliminar vértices cuyo grado sea menos que el de mayor k</a:t>
            </a:r>
          </a:p>
          <a:p>
            <a:pPr marL="0" indent="0">
              <a:buNone/>
            </a:pPr>
            <a:r>
              <a:rPr lang="es-MX" sz="2000" dirty="0"/>
              <a:t>                 d(u)&lt;k</a:t>
            </a:r>
          </a:p>
          <a:p>
            <a:r>
              <a:rPr lang="es-ES" sz="2000" dirty="0"/>
              <a:t>Aunque todos sus vecinos usaran colores distintos, usarían menos de k colores. Por lo tanto, queda al menos un color libre para u</a:t>
            </a:r>
            <a:endParaRPr lang="es-MX" sz="20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E15B25-D135-3C0C-6AE0-5DEE4C49BD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5245" t="20460" r="2039" b="6819"/>
          <a:stretch>
            <a:fillRect/>
          </a:stretch>
        </p:blipFill>
        <p:spPr>
          <a:xfrm>
            <a:off x="4122039" y="1979712"/>
            <a:ext cx="4896544" cy="34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8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69CA-B4DC-DCB6-7E2D-7701912A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75AA4-0731-EBA0-D276-5FA18D71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836712"/>
            <a:ext cx="8229600" cy="1143000"/>
          </a:xfrm>
        </p:spPr>
        <p:txBody>
          <a:bodyPr/>
          <a:lstStyle/>
          <a:p>
            <a:r>
              <a:rPr lang="es-MX" dirty="0"/>
              <a:t>Reglas de Reducción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8D1B3E0-1F13-90E9-2928-1AF6B43C0FA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6326" y="2636912"/>
                <a:ext cx="4145633" cy="2625440"/>
              </a:xfrm>
            </p:spPr>
            <p:txBody>
              <a:bodyPr/>
              <a:lstStyle/>
              <a:p>
                <a:r>
                  <a:rPr lang="es-ES" sz="2000" dirty="0"/>
                  <a:t>Si existe un vértice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 dirty="0"/>
                  <a:t>que está conectado a todos los vecinos de otro vértice </a:t>
                </a:r>
                <a14:m>
                  <m:oMath xmlns:m="http://schemas.openxmlformats.org/officeDocument/2006/math">
                    <m:r>
                      <a:rPr lang="es-ES" sz="2000" i="1"/>
                      <m:t>𝑣</m:t>
                    </m:r>
                  </m:oMath>
                </a14:m>
                <a:r>
                  <a:rPr lang="es-ES" sz="2000" dirty="0"/>
                  <a:t>, y </a:t>
                </a:r>
                <a14:m>
                  <m:oMath xmlns:m="http://schemas.openxmlformats.org/officeDocument/2006/math">
                    <m:r>
                      <a:rPr lang="es-ES" sz="2000" i="1"/>
                      <m:t>𝑢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 dirty="0"/>
                  <a:t>no es vecino de </a:t>
                </a:r>
                <a14:m>
                  <m:oMath xmlns:m="http://schemas.openxmlformats.org/officeDocument/2006/math">
                    <m:r>
                      <a:rPr lang="es-ES" sz="2000" i="1"/>
                      <m:t>𝑣</m:t>
                    </m:r>
                  </m:oMath>
                </a14:m>
                <a:r>
                  <a:rPr lang="es-ES" sz="2000" dirty="0"/>
                  <a:t>, entonces cualquier color válido para </a:t>
                </a:r>
                <a14:m>
                  <m:oMath xmlns:m="http://schemas.openxmlformats.org/officeDocument/2006/math">
                    <m:r>
                      <a:rPr lang="es-ES" sz="2000" i="1"/>
                      <m:t>𝑢</m:t>
                    </m:r>
                  </m:oMath>
                </a14:m>
                <a:r>
                  <a:rPr lang="es-ES" sz="2000" dirty="0"/>
                  <a:t> también puede servir para </a:t>
                </a:r>
                <a14:m>
                  <m:oMath xmlns:m="http://schemas.openxmlformats.org/officeDocument/2006/math">
                    <m:r>
                      <a:rPr lang="es-ES" sz="2000" i="1"/>
                      <m:t>𝑣</m:t>
                    </m:r>
                  </m:oMath>
                </a14:m>
                <a:endParaRPr lang="es-MX" sz="20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8D1B3E0-1F13-90E9-2928-1AF6B43C0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6326" y="2636912"/>
                <a:ext cx="4145633" cy="2625440"/>
              </a:xfrm>
              <a:blipFill>
                <a:blip r:embed="rId2"/>
                <a:stretch>
                  <a:fillRect l="-1324" t="-13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028E80DF-95C7-2E58-7698-E948DF27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319" t="-2807" r="3319" b="14594"/>
          <a:stretch>
            <a:fillRect/>
          </a:stretch>
        </p:blipFill>
        <p:spPr>
          <a:xfrm>
            <a:off x="3779912" y="1595648"/>
            <a:ext cx="5215522" cy="41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8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8ABF4-199D-94A9-85BF-AB2A5CCA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6711"/>
            <a:ext cx="8229600" cy="807245"/>
          </a:xfrm>
        </p:spPr>
        <p:txBody>
          <a:bodyPr/>
          <a:lstStyle/>
          <a:p>
            <a:r>
              <a:rPr lang="es-MX" dirty="0"/>
              <a:t>Heurísticas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BE4C6B7-2AF0-4C9E-FDD7-5431D7F36E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-1" t="5444" r="-9463" b="5840"/>
          <a:stretch>
            <a:fillRect/>
          </a:stretch>
        </p:blipFill>
        <p:spPr>
          <a:xfrm>
            <a:off x="421728" y="1412776"/>
            <a:ext cx="8496944" cy="506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9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ED1DC-7A34-D9B7-3A51-BED720E5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143000"/>
          </a:xfrm>
        </p:spPr>
        <p:txBody>
          <a:bodyPr/>
          <a:lstStyle/>
          <a:p>
            <a:r>
              <a:rPr lang="es-MX" dirty="0"/>
              <a:t>Local Search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BF49C0-4EEC-5BFA-6C35-71A61F8B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5" b="7608"/>
          <a:stretch>
            <a:fillRect/>
          </a:stretch>
        </p:blipFill>
        <p:spPr>
          <a:xfrm>
            <a:off x="1187624" y="1408212"/>
            <a:ext cx="6480720" cy="521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59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526B5-3F0C-5896-8B91-B733186F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36712"/>
            <a:ext cx="8229600" cy="1143000"/>
          </a:xfrm>
        </p:spPr>
        <p:txBody>
          <a:bodyPr/>
          <a:lstStyle/>
          <a:p>
            <a:r>
              <a:rPr lang="es-MX" dirty="0"/>
              <a:t>Taboo Search – TS1ex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C05CA9-AC86-197F-B3AA-227C82CB57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Intercambio de colores entre dos vértices.</a:t>
            </a:r>
          </a:p>
          <a:p>
            <a:r>
              <a:rPr lang="es-MX" dirty="0"/>
              <a:t>Se Registra</a:t>
            </a:r>
          </a:p>
          <a:p>
            <a:r>
              <a:rPr lang="es-MX" dirty="0"/>
              <a:t>Comprobación Tabú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6FF361F-9AB3-4E98-7231-1A6B2BDDFEDC}"/>
              </a:ext>
            </a:extLst>
          </p:cNvPr>
          <p:cNvGrpSpPr/>
          <p:nvPr/>
        </p:nvGrpSpPr>
        <p:grpSpPr>
          <a:xfrm>
            <a:off x="5652120" y="2042293"/>
            <a:ext cx="2507317" cy="1865131"/>
            <a:chOff x="4967629" y="2775427"/>
            <a:chExt cx="2507317" cy="1865131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F5451A3-DA10-C097-4F89-98F945E7DC0F}"/>
                </a:ext>
              </a:extLst>
            </p:cNvPr>
            <p:cNvSpPr/>
            <p:nvPr/>
          </p:nvSpPr>
          <p:spPr>
            <a:xfrm>
              <a:off x="5292080" y="2924944"/>
              <a:ext cx="648072" cy="6480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5E92984-5C10-BD8E-E575-8A7A94715A9F}"/>
                </a:ext>
              </a:extLst>
            </p:cNvPr>
            <p:cNvSpPr/>
            <p:nvPr/>
          </p:nvSpPr>
          <p:spPr>
            <a:xfrm>
              <a:off x="6418288" y="3725416"/>
              <a:ext cx="648072" cy="64807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Flecha: curvada hacia la derecha 12">
              <a:extLst>
                <a:ext uri="{FF2B5EF4-FFF2-40B4-BE49-F238E27FC236}">
                  <a16:creationId xmlns:a16="http://schemas.microsoft.com/office/drawing/2014/main" id="{487DCC25-0D8E-E6FF-AD8A-FEF1450A10CF}"/>
                </a:ext>
              </a:extLst>
            </p:cNvPr>
            <p:cNvSpPr/>
            <p:nvPr/>
          </p:nvSpPr>
          <p:spPr>
            <a:xfrm rot="18310392">
              <a:off x="5512411" y="3465961"/>
              <a:ext cx="629815" cy="1719379"/>
            </a:xfrm>
            <a:prstGeom prst="curvedRightArrow">
              <a:avLst>
                <a:gd name="adj1" fmla="val 25000"/>
                <a:gd name="adj2" fmla="val 62800"/>
                <a:gd name="adj3" fmla="val 25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  <p:sp>
          <p:nvSpPr>
            <p:cNvPr id="15" name="Flecha: curvada hacia la derecha 14">
              <a:extLst>
                <a:ext uri="{FF2B5EF4-FFF2-40B4-BE49-F238E27FC236}">
                  <a16:creationId xmlns:a16="http://schemas.microsoft.com/office/drawing/2014/main" id="{D6F9C255-5433-D6A6-825B-A89830168C66}"/>
                </a:ext>
              </a:extLst>
            </p:cNvPr>
            <p:cNvSpPr/>
            <p:nvPr/>
          </p:nvSpPr>
          <p:spPr>
            <a:xfrm rot="7647675">
              <a:off x="6300349" y="2230645"/>
              <a:ext cx="629815" cy="1719379"/>
            </a:xfrm>
            <a:prstGeom prst="curvedRightArrow">
              <a:avLst>
                <a:gd name="adj1" fmla="val 25000"/>
                <a:gd name="adj2" fmla="val 62800"/>
                <a:gd name="adj3" fmla="val 25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</p:grp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F4512BF2-8ECE-E8D6-84F2-3A7B7CF2B983}"/>
              </a:ext>
            </a:extLst>
          </p:cNvPr>
          <p:cNvSpPr/>
          <p:nvPr/>
        </p:nvSpPr>
        <p:spPr>
          <a:xfrm>
            <a:off x="6632611" y="4200367"/>
            <a:ext cx="504056" cy="6480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Onda 17">
            <a:extLst>
              <a:ext uri="{FF2B5EF4-FFF2-40B4-BE49-F238E27FC236}">
                <a16:creationId xmlns:a16="http://schemas.microsoft.com/office/drawing/2014/main" id="{01B93823-7422-6F99-358E-046A67333B04}"/>
              </a:ext>
            </a:extLst>
          </p:cNvPr>
          <p:cNvSpPr/>
          <p:nvPr/>
        </p:nvSpPr>
        <p:spPr>
          <a:xfrm>
            <a:off x="6300607" y="5013176"/>
            <a:ext cx="1151713" cy="1112987"/>
          </a:xfrm>
          <a:prstGeom prst="wav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18CA8346-D092-60D0-1432-C0F19520DC8B}"/>
              </a:ext>
            </a:extLst>
          </p:cNvPr>
          <p:cNvSpPr/>
          <p:nvPr/>
        </p:nvSpPr>
        <p:spPr>
          <a:xfrm>
            <a:off x="6578397" y="5317641"/>
            <a:ext cx="612483" cy="504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115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7118-9D2D-1099-5858-FF751468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31E56-754F-8AB4-407F-A96699A8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36712"/>
            <a:ext cx="8229600" cy="1143000"/>
          </a:xfrm>
        </p:spPr>
        <p:txBody>
          <a:bodyPr/>
          <a:lstStyle/>
          <a:p>
            <a:r>
              <a:rPr lang="es-MX" dirty="0"/>
              <a:t>Cadenas de Kempe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571C0F-594E-96E2-46CD-A4EC626D5E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1352" y="1600200"/>
                <a:ext cx="4038600" cy="4525963"/>
              </a:xfrm>
            </p:spPr>
            <p:txBody>
              <a:bodyPr/>
              <a:lstStyle/>
              <a:p>
                <a:r>
                  <a:rPr lang="es-MX" sz="2000" dirty="0"/>
                  <a:t>La idea principal consiste en intercambiar los colores dentro de la componente conectada. </a:t>
                </a:r>
              </a:p>
              <a:p>
                <a:r>
                  <a:rPr lang="es-MX" sz="2000" dirty="0"/>
                  <a:t>Es decir, todos los vértices que tenían el color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i="1"/>
                          <m:t>𝐶</m:t>
                        </m:r>
                      </m:e>
                      <m:sub>
                        <m:r>
                          <a:rPr lang="ar-AE" sz="2000" i="1"/>
                          <m:t>𝑖</m:t>
                        </m:r>
                      </m:sub>
                    </m:sSub>
                  </m:oMath>
                </a14:m>
                <a:r>
                  <a:rPr lang="es-MX" sz="2000" dirty="0"/>
                  <a:t>pasan a tener el color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i="1"/>
                          <m:t>𝐶</m:t>
                        </m:r>
                      </m:e>
                      <m:sub>
                        <m:r>
                          <a:rPr lang="ar-AE" sz="2000" i="1"/>
                          <m:t>𝑗</m:t>
                        </m:r>
                      </m:sub>
                    </m:sSub>
                  </m:oMath>
                </a14:m>
                <a:r>
                  <a:rPr lang="ar-AE" sz="2000" dirty="0"/>
                  <a:t>, </a:t>
                </a:r>
                <a:r>
                  <a:rPr lang="es-MX" sz="2000" dirty="0"/>
                  <a:t>y todos los vértices que tenían el color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i="1"/>
                          <m:t>𝐶</m:t>
                        </m:r>
                      </m:e>
                      <m:sub>
                        <m:r>
                          <a:rPr lang="ar-AE" sz="2000" i="1"/>
                          <m:t>𝑗</m:t>
                        </m:r>
                      </m:sub>
                    </m:sSub>
                  </m:oMath>
                </a14:m>
                <a:r>
                  <a:rPr lang="es-MX" sz="2000" dirty="0"/>
                  <a:t>pasan a tener el color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/>
                        </m:ctrlPr>
                      </m:sSubPr>
                      <m:e>
                        <m:r>
                          <a:rPr lang="ar-AE" sz="2000" i="1"/>
                          <m:t>𝐶</m:t>
                        </m:r>
                      </m:e>
                      <m:sub>
                        <m:r>
                          <a:rPr lang="ar-AE" sz="2000" i="1"/>
                          <m:t>𝑖</m:t>
                        </m:r>
                      </m:sub>
                    </m:sSub>
                  </m:oMath>
                </a14:m>
                <a:r>
                  <a:rPr lang="ar-AE" sz="2000" dirty="0"/>
                  <a:t>.</a:t>
                </a:r>
                <a:endParaRPr lang="es-MX" sz="2000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4571C0F-594E-96E2-46CD-A4EC626D5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1352" y="1600200"/>
                <a:ext cx="4038600" cy="4525963"/>
              </a:xfrm>
              <a:blipFill>
                <a:blip r:embed="rId2"/>
                <a:stretch>
                  <a:fillRect l="-1360" t="-809" r="-30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02F1A940-B5DC-75F5-1A4C-AA96D13741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59" b="100000"/>
          <a:stretch>
            <a:fillRect/>
          </a:stretch>
        </p:blipFill>
        <p:spPr>
          <a:xfrm>
            <a:off x="3779912" y="1268760"/>
            <a:ext cx="5212452" cy="1849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82A7FB-B009-C494-2775-87DC9FC47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78" b="5519"/>
          <a:stretch>
            <a:fillRect/>
          </a:stretch>
        </p:blipFill>
        <p:spPr>
          <a:xfrm>
            <a:off x="4139952" y="1489051"/>
            <a:ext cx="5212452" cy="46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3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EA72-A29B-2389-AFEA-8472BE18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550FF1C-CBEB-78C5-F37C-5FB4B22681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7351" b="8112"/>
          <a:stretch>
            <a:fillRect/>
          </a:stretch>
        </p:blipFill>
        <p:spPr>
          <a:xfrm>
            <a:off x="1187624" y="980728"/>
            <a:ext cx="6768752" cy="523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4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05604-4ADA-B73F-7C4E-A37D0794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E440A33-6C20-2169-AA44-36E252ABA4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6414" b="6994"/>
          <a:stretch>
            <a:fillRect/>
          </a:stretch>
        </p:blipFill>
        <p:spPr>
          <a:xfrm>
            <a:off x="479922" y="908720"/>
            <a:ext cx="8184156" cy="55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3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D9FC3E-66BA-E6EA-31B0-EFC8DE1BF2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7163" b="9134"/>
          <a:stretch>
            <a:fillRect/>
          </a:stretch>
        </p:blipFill>
        <p:spPr>
          <a:xfrm>
            <a:off x="1151620" y="980728"/>
            <a:ext cx="6840760" cy="548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993CD71-24B5-156A-D3B4-851ABDA4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56" y="1628800"/>
            <a:ext cx="9144000" cy="378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9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A3505-64B2-876A-D5F7-7B3AEE82D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708920"/>
            <a:ext cx="8435280" cy="3417243"/>
          </a:xfrm>
        </p:spPr>
        <p:txBody>
          <a:bodyPr/>
          <a:lstStyle/>
          <a:p>
            <a:pPr marL="0" indent="0" algn="ctr">
              <a:buNone/>
            </a:pPr>
            <a:r>
              <a:rPr lang="es-MX" sz="96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208359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Ing_secuencial</Template>
  <TotalTime>200</TotalTime>
  <Words>329</Words>
  <Application>Microsoft Office PowerPoint</Application>
  <PresentationFormat>Presentación en pantalla (4:3)</PresentationFormat>
  <Paragraphs>35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League Gothic</vt:lpstr>
      <vt:lpstr>Arial</vt:lpstr>
      <vt:lpstr>Bebas Neue</vt:lpstr>
      <vt:lpstr>Calibri</vt:lpstr>
      <vt:lpstr>Cambria Math</vt:lpstr>
      <vt:lpstr>Tema de Office</vt:lpstr>
      <vt:lpstr>Presentación de PowerPoint</vt:lpstr>
      <vt:lpstr>¿QUÉ ES?</vt:lpstr>
      <vt:lpstr>K-Colores</vt:lpstr>
      <vt:lpstr>Reglas de Reducción</vt:lpstr>
      <vt:lpstr>Reglas de Reducción</vt:lpstr>
      <vt:lpstr>Heurísticas</vt:lpstr>
      <vt:lpstr>Local Search</vt:lpstr>
      <vt:lpstr>Taboo Search – TS1ex</vt:lpstr>
      <vt:lpstr>Cadenas de Kempe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Gonzalez</dc:creator>
  <cp:lastModifiedBy>Daniel Gonzalez</cp:lastModifiedBy>
  <cp:revision>1</cp:revision>
  <dcterms:created xsi:type="dcterms:W3CDTF">2026-05-21T16:00:07Z</dcterms:created>
  <dcterms:modified xsi:type="dcterms:W3CDTF">2026-05-21T19:20:19Z</dcterms:modified>
</cp:coreProperties>
</file>