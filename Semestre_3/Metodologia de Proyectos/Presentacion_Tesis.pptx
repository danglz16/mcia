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9" r:id="rId6"/>
    <p:sldId id="289" r:id="rId7"/>
    <p:sldId id="290" r:id="rId8"/>
    <p:sldId id="292" r:id="rId9"/>
  </p:sldIdLst>
  <p:sldSz cx="18288000" cy="10287000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Bebas Neue Bold" panose="020B0604020202020204" charset="0"/>
      <p:regular r:id="rId12"/>
    </p:embeddedFont>
    <p:embeddedFont>
      <p:font typeface="League Gothic" panose="020B0604020202020204" charset="0"/>
      <p:regular r:id="rId13"/>
    </p:embeddedFont>
    <p:embeddedFont>
      <p:font typeface="Quicksand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0" d="100"/>
          <a:sy n="50" d="100"/>
        </p:scale>
        <p:origin x="97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08C56-340B-4323-9489-5BB3250B74C8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7D9AF-AEED-4416-9A78-78467AC971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248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Sin embargo, interpretar estas señales no es sencillo. Un mismo patrón en los electrodos puede originarse en distintas zonas del cerebro, lo que hace que el </a:t>
            </a:r>
            <a:r>
              <a:rPr lang="es-ES" b="1" dirty="0"/>
              <a:t>problema inverso del EEG</a:t>
            </a:r>
            <a:r>
              <a:rPr lang="es-ES" dirty="0"/>
              <a:t> —estimar la ubicación real de las fuentes neuronales— sea un desafío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7D9AF-AEED-4416-9A78-78467AC97137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9922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17166" y="8092243"/>
            <a:ext cx="5485213" cy="2185837"/>
          </a:xfrm>
          <a:custGeom>
            <a:avLst/>
            <a:gdLst/>
            <a:ahLst/>
            <a:cxnLst/>
            <a:rect l="l" t="t" r="r" b="b"/>
            <a:pathLst>
              <a:path w="5485213" h="2185837">
                <a:moveTo>
                  <a:pt x="0" y="0"/>
                </a:moveTo>
                <a:lnTo>
                  <a:pt x="5485213" y="0"/>
                </a:lnTo>
                <a:lnTo>
                  <a:pt x="5485213" y="2185836"/>
                </a:lnTo>
                <a:lnTo>
                  <a:pt x="0" y="2185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" name="Freeform 3"/>
          <p:cNvSpPr/>
          <p:nvPr/>
        </p:nvSpPr>
        <p:spPr>
          <a:xfrm>
            <a:off x="10077495" y="400554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4" name="TextBox 4"/>
          <p:cNvSpPr txBox="1"/>
          <p:nvPr/>
        </p:nvSpPr>
        <p:spPr>
          <a:xfrm>
            <a:off x="9153525" y="4557281"/>
            <a:ext cx="7282430" cy="309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39"/>
              </a:lnSpc>
            </a:pPr>
            <a:r>
              <a:rPr lang="en-US" sz="3099" spc="154" dirty="0">
                <a:solidFill>
                  <a:srgbClr val="191919"/>
                </a:solidFill>
                <a:latin typeface="League Gothic"/>
              </a:rPr>
              <a:t>DIRECTOR DE TESIS:</a:t>
            </a:r>
          </a:p>
          <a:p>
            <a:pPr>
              <a:lnSpc>
                <a:spcPts val="3779"/>
              </a:lnSpc>
            </a:pPr>
            <a:r>
              <a:rPr lang="en-US" sz="2700" spc="135" dirty="0">
                <a:solidFill>
                  <a:srgbClr val="191919"/>
                </a:solidFill>
                <a:latin typeface="Bebas Neue"/>
              </a:rPr>
              <a:t>Dr. Takacs Andras</a:t>
            </a:r>
          </a:p>
          <a:p>
            <a:pPr>
              <a:lnSpc>
                <a:spcPts val="4339"/>
              </a:lnSpc>
            </a:pPr>
            <a:r>
              <a:rPr lang="en-US" sz="3099" spc="154" dirty="0">
                <a:solidFill>
                  <a:srgbClr val="191919"/>
                </a:solidFill>
                <a:latin typeface="League Gothic"/>
              </a:rPr>
              <a:t>SECRETARIO:</a:t>
            </a:r>
          </a:p>
          <a:p>
            <a:pPr>
              <a:lnSpc>
                <a:spcPts val="4339"/>
              </a:lnSpc>
            </a:pPr>
            <a:r>
              <a:rPr lang="en-US" sz="3099" spc="154" dirty="0">
                <a:solidFill>
                  <a:srgbClr val="191919"/>
                </a:solidFill>
                <a:latin typeface="League Gothic"/>
              </a:rPr>
              <a:t>DR.HERBERT LUIS HERNANDEZ MONTIEL</a:t>
            </a:r>
            <a:endParaRPr lang="en-US" sz="2700" spc="135" dirty="0">
              <a:solidFill>
                <a:srgbClr val="191919"/>
              </a:solidFill>
              <a:latin typeface="Bebas Neue"/>
            </a:endParaRPr>
          </a:p>
          <a:p>
            <a:pPr>
              <a:lnSpc>
                <a:spcPts val="3779"/>
              </a:lnSpc>
            </a:pPr>
            <a:r>
              <a:rPr lang="en-US" sz="2700" spc="135" dirty="0">
                <a:solidFill>
                  <a:srgbClr val="191919"/>
                </a:solidFill>
                <a:latin typeface="Bebas Neue Bold"/>
              </a:rPr>
              <a:t>VOCAL:</a:t>
            </a:r>
          </a:p>
          <a:p>
            <a:pPr>
              <a:lnSpc>
                <a:spcPts val="3779"/>
              </a:lnSpc>
            </a:pPr>
            <a:r>
              <a:rPr lang="en-US" sz="2700" spc="135" dirty="0" err="1">
                <a:solidFill>
                  <a:srgbClr val="191919"/>
                </a:solidFill>
                <a:latin typeface="Bebas Neue"/>
              </a:rPr>
              <a:t>DR.Marcos</a:t>
            </a:r>
            <a:r>
              <a:rPr lang="en-US" sz="2700" spc="135" dirty="0">
                <a:solidFill>
                  <a:srgbClr val="191919"/>
                </a:solidFill>
                <a:latin typeface="Bebas Neue"/>
              </a:rPr>
              <a:t> ROMO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6832" y="5095875"/>
            <a:ext cx="7282430" cy="2760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spc="169" dirty="0">
                <a:solidFill>
                  <a:srgbClr val="191919"/>
                </a:solidFill>
                <a:latin typeface="League Gothic"/>
              </a:rPr>
              <a:t>PRESENTA:</a:t>
            </a:r>
          </a:p>
          <a:p>
            <a:pPr>
              <a:lnSpc>
                <a:spcPts val="4199"/>
              </a:lnSpc>
            </a:pPr>
            <a:r>
              <a:rPr lang="en-US" sz="2999" spc="149" dirty="0">
                <a:solidFill>
                  <a:srgbClr val="191919"/>
                </a:solidFill>
                <a:latin typeface="Bebas Neue"/>
              </a:rPr>
              <a:t>Ing. Daniel Eduardo González Alvarado</a:t>
            </a:r>
          </a:p>
          <a:p>
            <a:pPr>
              <a:lnSpc>
                <a:spcPts val="3640"/>
              </a:lnSpc>
            </a:pPr>
            <a:endParaRPr lang="en-US" sz="2999" spc="149" dirty="0">
              <a:solidFill>
                <a:srgbClr val="191919"/>
              </a:solidFill>
              <a:latin typeface="Bebas Neue"/>
            </a:endParaRPr>
          </a:p>
          <a:p>
            <a:pPr algn="ctr">
              <a:lnSpc>
                <a:spcPts val="4619"/>
              </a:lnSpc>
            </a:pPr>
            <a:endParaRPr lang="en-US" sz="3299" spc="164" dirty="0">
              <a:solidFill>
                <a:srgbClr val="191919"/>
              </a:solidFill>
              <a:latin typeface="League Gothic"/>
            </a:endParaRPr>
          </a:p>
          <a:p>
            <a:pPr algn="ctr">
              <a:lnSpc>
                <a:spcPts val="4619"/>
              </a:lnSpc>
            </a:pPr>
            <a:r>
              <a:rPr lang="en-US" sz="3299" spc="164" dirty="0" err="1">
                <a:solidFill>
                  <a:srgbClr val="191919"/>
                </a:solidFill>
                <a:latin typeface="League Gothic"/>
              </a:rPr>
              <a:t>Febrero</a:t>
            </a:r>
            <a:r>
              <a:rPr lang="en-US" sz="3299" spc="164" dirty="0">
                <a:solidFill>
                  <a:srgbClr val="191919"/>
                </a:solidFill>
                <a:latin typeface="League Gothic"/>
              </a:rPr>
              <a:t>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92504" y="1854677"/>
            <a:ext cx="11502993" cy="2278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s-ES" sz="5400" spc="162" dirty="0">
                <a:solidFill>
                  <a:srgbClr val="2C341F"/>
                </a:solidFill>
                <a:latin typeface="League Gothic"/>
              </a:rPr>
              <a:t>Localización avanzada de fuentes de señales de electroencefalograma mediante técnicas de computación avanzada</a:t>
            </a:r>
            <a:endParaRPr lang="en-US" sz="5400" spc="162" dirty="0">
              <a:solidFill>
                <a:srgbClr val="2C341F"/>
              </a:solidFill>
              <a:latin typeface="League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9777" cy="10287000"/>
          </a:xfrm>
          <a:custGeom>
            <a:avLst/>
            <a:gdLst/>
            <a:ahLst/>
            <a:cxnLst/>
            <a:rect l="l" t="t" r="r" b="b"/>
            <a:pathLst>
              <a:path w="1859777" h="10287000">
                <a:moveTo>
                  <a:pt x="0" y="0"/>
                </a:moveTo>
                <a:lnTo>
                  <a:pt x="1859777" y="0"/>
                </a:lnTo>
                <a:lnTo>
                  <a:pt x="18597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101" r="-9466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163645" y="4754617"/>
            <a:ext cx="2191311" cy="5532383"/>
          </a:xfrm>
          <a:custGeom>
            <a:avLst/>
            <a:gdLst/>
            <a:ahLst/>
            <a:cxnLst/>
            <a:rect l="l" t="t" r="r" b="b"/>
            <a:pathLst>
              <a:path w="2191311" h="5532383">
                <a:moveTo>
                  <a:pt x="0" y="0"/>
                </a:moveTo>
                <a:lnTo>
                  <a:pt x="2191310" y="0"/>
                </a:lnTo>
                <a:lnTo>
                  <a:pt x="2191310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0697934" y="505761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2538018" y="907977"/>
            <a:ext cx="1330970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spc="249">
                <a:solidFill>
                  <a:srgbClr val="000000"/>
                </a:solidFill>
                <a:latin typeface="League Gothic"/>
              </a:rPr>
              <a:t>INDICE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38018" y="1704903"/>
            <a:ext cx="14988862" cy="272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>
              <a:lnSpc>
                <a:spcPts val="5439"/>
              </a:lnSpc>
              <a:buFont typeface="Arial"/>
              <a:buChar char="•"/>
            </a:pPr>
            <a:r>
              <a:rPr lang="es-419" sz="3399" noProof="0" dirty="0">
                <a:solidFill>
                  <a:srgbClr val="000000"/>
                </a:solidFill>
                <a:latin typeface="Bebas Neue"/>
              </a:rPr>
              <a:t>Introducción</a:t>
            </a:r>
          </a:p>
          <a:p>
            <a:pPr marL="734056" lvl="1" indent="-367028">
              <a:lnSpc>
                <a:spcPts val="543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Bebas Neue"/>
              </a:rPr>
              <a:t>JUSTIFICACIóN</a:t>
            </a:r>
            <a:endParaRPr lang="en-US" sz="3399" dirty="0">
              <a:solidFill>
                <a:srgbClr val="000000"/>
              </a:solidFill>
              <a:latin typeface="Bebas Neue"/>
            </a:endParaRPr>
          </a:p>
          <a:p>
            <a:pPr marL="734056" lvl="1" indent="-367028">
              <a:lnSpc>
                <a:spcPts val="543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Bebas Neue"/>
              </a:rPr>
              <a:t>HIPOTESIS</a:t>
            </a:r>
          </a:p>
          <a:p>
            <a:pPr marL="734056" lvl="1" indent="-367028">
              <a:lnSpc>
                <a:spcPts val="543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Bebas Neue"/>
              </a:rPr>
              <a:t>OBJETIVOS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4660016" y="-2963475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5400000">
            <a:off x="-1837770" y="6058153"/>
            <a:ext cx="6066616" cy="2391077"/>
          </a:xfrm>
          <a:custGeom>
            <a:avLst/>
            <a:gdLst/>
            <a:ahLst/>
            <a:cxnLst/>
            <a:rect l="l" t="t" r="r" b="b"/>
            <a:pathLst>
              <a:path w="6066616" h="2391077">
                <a:moveTo>
                  <a:pt x="0" y="0"/>
                </a:moveTo>
                <a:lnTo>
                  <a:pt x="6066616" y="0"/>
                </a:lnTo>
                <a:lnTo>
                  <a:pt x="6066616" y="2391076"/>
                </a:lnTo>
                <a:lnTo>
                  <a:pt x="0" y="2391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4" name="Freeform 4"/>
          <p:cNvSpPr/>
          <p:nvPr/>
        </p:nvSpPr>
        <p:spPr>
          <a:xfrm>
            <a:off x="10077495" y="400554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16469369" y="8973979"/>
            <a:ext cx="1579863" cy="105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>
                <a:solidFill>
                  <a:srgbClr val="000000"/>
                </a:solidFill>
                <a:latin typeface="Bebas Neue Bold"/>
              </a:rPr>
              <a:t>PÁG. 3</a:t>
            </a:r>
          </a:p>
          <a:p>
            <a:pPr algn="just">
              <a:lnSpc>
                <a:spcPts val="2775"/>
              </a:lnSpc>
            </a:pPr>
            <a:endParaRPr lang="en-US" sz="1850" spc="92">
              <a:solidFill>
                <a:srgbClr val="000000"/>
              </a:solidFill>
              <a:latin typeface="Bebas Neue Bold"/>
            </a:endParaRPr>
          </a:p>
          <a:p>
            <a:pPr algn="just">
              <a:lnSpc>
                <a:spcPts val="2775"/>
              </a:lnSpc>
              <a:spcBef>
                <a:spcPct val="0"/>
              </a:spcBef>
            </a:pPr>
            <a:endParaRPr lang="en-US" sz="1850" spc="92">
              <a:solidFill>
                <a:srgbClr val="000000"/>
              </a:solidFill>
              <a:latin typeface="Bebas Neu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8208" y="486250"/>
            <a:ext cx="3325192" cy="918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INTRODUCCIÓN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06716" y="7468145"/>
            <a:ext cx="3172728" cy="845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FIGURA 1. </a:t>
            </a: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Representación</a:t>
            </a: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 de un </a:t>
            </a: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electroencefalograma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7812" y="7676676"/>
            <a:ext cx="4601170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FIGURA 2.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Señales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Obtenidas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 de un EEG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4F780B-B2DB-EC46-A4EA-E6B7C0755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036255"/>
            <a:ext cx="59436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51A5A3B-087D-A2BF-85EA-6D16DFD18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547" y="2560758"/>
            <a:ext cx="7323056" cy="5165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95775"/>
            <a:ext cx="3206156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HIPOTESIS</a:t>
            </a:r>
          </a:p>
        </p:txBody>
      </p:sp>
      <p:sp>
        <p:nvSpPr>
          <p:cNvPr id="3" name="AutoShape 3"/>
          <p:cNvSpPr/>
          <p:nvPr/>
        </p:nvSpPr>
        <p:spPr>
          <a:xfrm rot="5400000">
            <a:off x="4660016" y="-3115243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1688415" y="2107566"/>
            <a:ext cx="14911170" cy="1739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5"/>
              </a:lnSpc>
              <a:spcBef>
                <a:spcPct val="0"/>
              </a:spcBef>
            </a:pPr>
            <a:r>
              <a:rPr lang="es-ES" sz="3050" spc="152" dirty="0">
                <a:solidFill>
                  <a:srgbClr val="000000"/>
                </a:solidFill>
                <a:latin typeface="Bebas Neue"/>
              </a:rPr>
              <a:t>El uso de un modelo híbrido de </a:t>
            </a:r>
            <a:r>
              <a:rPr lang="es-ES" sz="3050" spc="152" dirty="0" err="1">
                <a:solidFill>
                  <a:srgbClr val="000000"/>
                </a:solidFill>
                <a:latin typeface="Bebas Neue"/>
              </a:rPr>
              <a:t>deep</a:t>
            </a:r>
            <a:r>
              <a:rPr lang="es-ES" sz="3050" spc="152" dirty="0">
                <a:solidFill>
                  <a:srgbClr val="000000"/>
                </a:solidFill>
                <a:latin typeface="Bebas Neue"/>
              </a:rPr>
              <a:t> </a:t>
            </a:r>
            <a:r>
              <a:rPr lang="es-ES" sz="3050" spc="152" dirty="0" err="1">
                <a:solidFill>
                  <a:srgbClr val="000000"/>
                </a:solidFill>
                <a:latin typeface="Bebas Neue"/>
              </a:rPr>
              <a:t>learning</a:t>
            </a:r>
            <a:r>
              <a:rPr lang="es-ES" sz="3050" spc="152" dirty="0">
                <a:solidFill>
                  <a:srgbClr val="000000"/>
                </a:solidFill>
                <a:latin typeface="Bebas Neue"/>
              </a:rPr>
              <a:t> entrenado con datos sintéticos permitirá mejorar la precisión en la localización de fuentes neuronales en comparación con los métodos clásicos (MNE, </a:t>
            </a:r>
            <a:r>
              <a:rPr lang="es-ES" sz="3050" spc="152" dirty="0" err="1">
                <a:solidFill>
                  <a:srgbClr val="000000"/>
                </a:solidFill>
                <a:latin typeface="Bebas Neue"/>
              </a:rPr>
              <a:t>sLORETA</a:t>
            </a:r>
            <a:r>
              <a:rPr lang="es-ES" sz="3050" spc="152" dirty="0">
                <a:solidFill>
                  <a:srgbClr val="000000"/>
                </a:solidFill>
                <a:latin typeface="Bebas Neue"/>
              </a:rPr>
              <a:t>, VARETA), incluso en condiciones con ruido y variaciones anatómicas</a:t>
            </a:r>
            <a:endParaRPr lang="en-US" sz="3050" spc="152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4991100"/>
            <a:ext cx="3206156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OBJETIVOS</a:t>
            </a:r>
          </a:p>
        </p:txBody>
      </p:sp>
      <p:sp>
        <p:nvSpPr>
          <p:cNvPr id="6" name="AutoShape 6"/>
          <p:cNvSpPr/>
          <p:nvPr/>
        </p:nvSpPr>
        <p:spPr>
          <a:xfrm rot="5400000">
            <a:off x="4660016" y="1479014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1688415" y="6515112"/>
            <a:ext cx="14911170" cy="1739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5"/>
              </a:lnSpc>
              <a:spcBef>
                <a:spcPct val="0"/>
              </a:spcBef>
            </a:pPr>
            <a:r>
              <a:rPr lang="en-US" sz="3050" spc="152" dirty="0" err="1">
                <a:solidFill>
                  <a:srgbClr val="000000"/>
                </a:solidFill>
                <a:latin typeface="Bebas Neue"/>
              </a:rPr>
              <a:t>Objetivo</a:t>
            </a:r>
            <a:r>
              <a:rPr lang="en-US" sz="3050" spc="152" dirty="0">
                <a:solidFill>
                  <a:srgbClr val="000000"/>
                </a:solidFill>
                <a:latin typeface="Bebas Neue"/>
              </a:rPr>
              <a:t> General</a:t>
            </a:r>
          </a:p>
          <a:p>
            <a:pPr algn="just">
              <a:lnSpc>
                <a:spcPts val="4575"/>
              </a:lnSpc>
              <a:spcBef>
                <a:spcPct val="0"/>
              </a:spcBef>
            </a:pPr>
            <a:r>
              <a:rPr lang="en-US" sz="3050" spc="152" dirty="0">
                <a:solidFill>
                  <a:srgbClr val="000000"/>
                </a:solidFill>
                <a:latin typeface="Bebas Neue"/>
              </a:rPr>
              <a:t>D</a:t>
            </a:r>
            <a:r>
              <a:rPr lang="es-ES" sz="3050" spc="152" dirty="0" err="1">
                <a:solidFill>
                  <a:srgbClr val="000000"/>
                </a:solidFill>
                <a:latin typeface="Bebas Neue"/>
              </a:rPr>
              <a:t>esarrollar</a:t>
            </a:r>
            <a:r>
              <a:rPr lang="es-ES" sz="3050" spc="152" dirty="0">
                <a:solidFill>
                  <a:srgbClr val="000000"/>
                </a:solidFill>
                <a:latin typeface="Bebas Neue"/>
              </a:rPr>
              <a:t> un modelo híbrido de </a:t>
            </a:r>
            <a:r>
              <a:rPr lang="es-ES" sz="3050" spc="152" dirty="0" err="1">
                <a:solidFill>
                  <a:srgbClr val="000000"/>
                </a:solidFill>
                <a:latin typeface="Bebas Neue"/>
              </a:rPr>
              <a:t>deep</a:t>
            </a:r>
            <a:r>
              <a:rPr lang="es-ES" sz="3050" spc="152" dirty="0">
                <a:solidFill>
                  <a:srgbClr val="000000"/>
                </a:solidFill>
                <a:latin typeface="Bebas Neue"/>
              </a:rPr>
              <a:t> </a:t>
            </a:r>
            <a:r>
              <a:rPr lang="es-ES" sz="3050" spc="152" dirty="0" err="1">
                <a:solidFill>
                  <a:srgbClr val="000000"/>
                </a:solidFill>
                <a:latin typeface="Bebas Neue"/>
              </a:rPr>
              <a:t>learning</a:t>
            </a:r>
            <a:r>
              <a:rPr lang="es-ES" sz="3050" spc="152" dirty="0">
                <a:solidFill>
                  <a:srgbClr val="000000"/>
                </a:solidFill>
                <a:latin typeface="Bebas Neue"/>
              </a:rPr>
              <a:t> capaz de mejorar la precisión en la localización de fuentes neuronales a partir de señales EEG sintéticas.</a:t>
            </a:r>
            <a:endParaRPr lang="en-US" sz="3050" spc="152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679437" y="9191625"/>
            <a:ext cx="1579863" cy="348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  <a:spcBef>
                <a:spcPct val="0"/>
              </a:spcBef>
            </a:pPr>
            <a:r>
              <a:rPr lang="en-US" sz="1850" spc="92">
                <a:solidFill>
                  <a:srgbClr val="000000"/>
                </a:solidFill>
                <a:latin typeface="Bebas Neue Bold"/>
              </a:rPr>
              <a:t>PÁG.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3066456" y="-1271943"/>
            <a:ext cx="145456" cy="6278368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0745894" y="459014"/>
            <a:ext cx="6513406" cy="1139371"/>
          </a:xfrm>
          <a:custGeom>
            <a:avLst/>
            <a:gdLst/>
            <a:ahLst/>
            <a:cxnLst/>
            <a:rect l="l" t="t" r="r" b="b"/>
            <a:pathLst>
              <a:path w="6513406" h="1139371">
                <a:moveTo>
                  <a:pt x="0" y="0"/>
                </a:moveTo>
                <a:lnTo>
                  <a:pt x="6513406" y="0"/>
                </a:lnTo>
                <a:lnTo>
                  <a:pt x="6513406" y="1139372"/>
                </a:lnTo>
                <a:lnTo>
                  <a:pt x="0" y="113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5400000" flipV="1">
            <a:off x="14426153" y="6648700"/>
            <a:ext cx="2191311" cy="5532383"/>
          </a:xfrm>
          <a:custGeom>
            <a:avLst/>
            <a:gdLst/>
            <a:ahLst/>
            <a:cxnLst/>
            <a:rect l="l" t="t" r="r" b="b"/>
            <a:pathLst>
              <a:path w="2191311" h="5532383">
                <a:moveTo>
                  <a:pt x="0" y="5532383"/>
                </a:moveTo>
                <a:lnTo>
                  <a:pt x="2191311" y="5532383"/>
                </a:lnTo>
                <a:lnTo>
                  <a:pt x="2191311" y="0"/>
                </a:lnTo>
                <a:lnTo>
                  <a:pt x="0" y="0"/>
                </a:lnTo>
                <a:lnTo>
                  <a:pt x="0" y="5532383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548415" y="493394"/>
            <a:ext cx="4771227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METODOLOGÍA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18232"/>
            <a:ext cx="16230600" cy="241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just">
              <a:lnSpc>
                <a:spcPts val="3825"/>
              </a:lnSpc>
              <a:spcBef>
                <a:spcPct val="0"/>
              </a:spcBef>
              <a:buAutoNum type="arabicPeriod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Generación del </a:t>
            </a:r>
            <a:r>
              <a:rPr lang="es-ES" sz="2550" spc="127" dirty="0" err="1">
                <a:solidFill>
                  <a:srgbClr val="000000"/>
                </a:solidFill>
                <a:latin typeface="Bebas Neue"/>
              </a:rPr>
              <a:t>Dataset</a:t>
            </a: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 Sintético</a:t>
            </a:r>
          </a:p>
          <a:p>
            <a:pPr marL="457200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Se utiliza un modelo de cabeza digital (BEM/FEM/LSMAC) para simular cómo se propaga la actividad eléctrica desde el cerebro hasta los electrodos. Se colocan fuentes neuronales simuladas en diferentes posiciones, profundidades y orientaciones.</a:t>
            </a:r>
          </a:p>
          <a:p>
            <a:pPr marL="457200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Se genera la señal correspondiente en los electrodos usando el problema directo y la Lead Field Matrix.</a:t>
            </a:r>
          </a:p>
          <a:p>
            <a:pPr marL="457200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Se agregan diferentes niveles de ruido y variaciones anatómicas para crear escenarios realistas.</a:t>
            </a:r>
            <a:endParaRPr lang="en-US" sz="2550" spc="127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41142" y="9191625"/>
            <a:ext cx="1579863" cy="70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>
                <a:solidFill>
                  <a:srgbClr val="000000"/>
                </a:solidFill>
                <a:latin typeface="Bebas Neue Bold"/>
              </a:rPr>
              <a:t>PÁG. 14</a:t>
            </a:r>
          </a:p>
          <a:p>
            <a:pPr algn="just">
              <a:lnSpc>
                <a:spcPts val="2775"/>
              </a:lnSpc>
              <a:spcBef>
                <a:spcPct val="0"/>
              </a:spcBef>
            </a:pPr>
            <a:endParaRPr lang="en-US" sz="1850" spc="92">
              <a:solidFill>
                <a:srgbClr val="000000"/>
              </a:solidFill>
              <a:latin typeface="Beba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568695" y="5161201"/>
            <a:ext cx="1388774" cy="47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5"/>
              </a:lnSpc>
              <a:spcBef>
                <a:spcPct val="0"/>
              </a:spcBef>
            </a:pPr>
            <a:r>
              <a:rPr lang="en-US" sz="1404" spc="112">
                <a:solidFill>
                  <a:srgbClr val="FFF3EA"/>
                </a:solidFill>
                <a:latin typeface="Quicksand Bold"/>
              </a:rPr>
              <a:t>BASE DE DATOS*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28884-BD78-8DFC-B3A6-18314ABA1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5F63CFB-CD3F-7BDC-D9F6-C8B6549842A7}"/>
              </a:ext>
            </a:extLst>
          </p:cNvPr>
          <p:cNvSpPr/>
          <p:nvPr/>
        </p:nvSpPr>
        <p:spPr>
          <a:xfrm rot="5400000">
            <a:off x="3066456" y="-1271943"/>
            <a:ext cx="145456" cy="6278368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7C8CF5F-50ED-1DED-6C5C-9CC7DBE46152}"/>
              </a:ext>
            </a:extLst>
          </p:cNvPr>
          <p:cNvSpPr/>
          <p:nvPr/>
        </p:nvSpPr>
        <p:spPr>
          <a:xfrm>
            <a:off x="10745894" y="459014"/>
            <a:ext cx="6513406" cy="1139371"/>
          </a:xfrm>
          <a:custGeom>
            <a:avLst/>
            <a:gdLst/>
            <a:ahLst/>
            <a:cxnLst/>
            <a:rect l="l" t="t" r="r" b="b"/>
            <a:pathLst>
              <a:path w="6513406" h="1139371">
                <a:moveTo>
                  <a:pt x="0" y="0"/>
                </a:moveTo>
                <a:lnTo>
                  <a:pt x="6513406" y="0"/>
                </a:lnTo>
                <a:lnTo>
                  <a:pt x="6513406" y="1139372"/>
                </a:lnTo>
                <a:lnTo>
                  <a:pt x="0" y="113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1EE66D1-A994-D7F5-760E-0C559E0E431B}"/>
              </a:ext>
            </a:extLst>
          </p:cNvPr>
          <p:cNvSpPr/>
          <p:nvPr/>
        </p:nvSpPr>
        <p:spPr>
          <a:xfrm rot="5400000" flipV="1">
            <a:off x="14426153" y="6648700"/>
            <a:ext cx="2191311" cy="5532383"/>
          </a:xfrm>
          <a:custGeom>
            <a:avLst/>
            <a:gdLst/>
            <a:ahLst/>
            <a:cxnLst/>
            <a:rect l="l" t="t" r="r" b="b"/>
            <a:pathLst>
              <a:path w="2191311" h="5532383">
                <a:moveTo>
                  <a:pt x="0" y="5532383"/>
                </a:moveTo>
                <a:lnTo>
                  <a:pt x="2191311" y="5532383"/>
                </a:lnTo>
                <a:lnTo>
                  <a:pt x="2191311" y="0"/>
                </a:lnTo>
                <a:lnTo>
                  <a:pt x="0" y="0"/>
                </a:lnTo>
                <a:lnTo>
                  <a:pt x="0" y="5532383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A8CB3D7-9A2B-4915-800B-335A1076C5F4}"/>
              </a:ext>
            </a:extLst>
          </p:cNvPr>
          <p:cNvSpPr txBox="1"/>
          <p:nvPr/>
        </p:nvSpPr>
        <p:spPr>
          <a:xfrm>
            <a:off x="548415" y="493394"/>
            <a:ext cx="4771227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METODOLOGÍA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B029C0C-1359-7157-5C8E-FCC819A61C62}"/>
              </a:ext>
            </a:extLst>
          </p:cNvPr>
          <p:cNvSpPr txBox="1"/>
          <p:nvPr/>
        </p:nvSpPr>
        <p:spPr>
          <a:xfrm>
            <a:off x="1028700" y="2218232"/>
            <a:ext cx="16230600" cy="5336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5"/>
              </a:lnSpc>
              <a:spcBef>
                <a:spcPct val="0"/>
              </a:spcBef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2. Preparación de los Datos</a:t>
            </a:r>
          </a:p>
          <a:p>
            <a:pPr marL="457200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Las señales simuladas se organizan en una base de datos con:</a:t>
            </a:r>
          </a:p>
          <a:p>
            <a:pPr marL="914400" lvl="1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Señales EEG multicanal</a:t>
            </a:r>
          </a:p>
          <a:p>
            <a:pPr marL="914400" lvl="1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Ubicación real de la fuente (coordenadas 3D)</a:t>
            </a:r>
          </a:p>
          <a:p>
            <a:pPr marL="457200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Se divide en conjuntos de entrenamiento, validación y prueba.</a:t>
            </a:r>
          </a:p>
          <a:p>
            <a:pPr marL="457200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ES" sz="2550" spc="127" dirty="0">
              <a:solidFill>
                <a:srgbClr val="000000"/>
              </a:solidFill>
              <a:latin typeface="Bebas Neue"/>
            </a:endParaRPr>
          </a:p>
          <a:p>
            <a:pPr algn="just">
              <a:lnSpc>
                <a:spcPts val="3825"/>
              </a:lnSpc>
              <a:spcBef>
                <a:spcPct val="0"/>
              </a:spcBef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3. Diseño del Modelo de Deep </a:t>
            </a:r>
            <a:r>
              <a:rPr lang="es-ES" sz="2550" spc="127" dirty="0" err="1">
                <a:solidFill>
                  <a:srgbClr val="000000"/>
                </a:solidFill>
                <a:latin typeface="Bebas Neue"/>
              </a:rPr>
              <a:t>Learning</a:t>
            </a:r>
            <a:endParaRPr lang="es-ES" sz="2550" spc="127" dirty="0">
              <a:solidFill>
                <a:srgbClr val="000000"/>
              </a:solidFill>
              <a:latin typeface="Bebas Neue"/>
            </a:endParaRPr>
          </a:p>
          <a:p>
            <a:pPr marL="457200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Se construye un modelo híbrido combinando:</a:t>
            </a:r>
          </a:p>
          <a:p>
            <a:pPr marL="914400" lvl="1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CNN para extraer patrones espaciales/temporales del EEG.</a:t>
            </a:r>
          </a:p>
          <a:p>
            <a:pPr marL="914400" lvl="1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Modelos secuenciales (LSTM o </a:t>
            </a:r>
            <a:r>
              <a:rPr lang="es-ES" sz="2550" spc="127" dirty="0" err="1">
                <a:solidFill>
                  <a:srgbClr val="000000"/>
                </a:solidFill>
                <a:latin typeface="Bebas Neue"/>
              </a:rPr>
              <a:t>BiLSTM</a:t>
            </a: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) para capturar dependencias temporales.</a:t>
            </a:r>
          </a:p>
          <a:p>
            <a:pPr marL="457200" indent="-457200" algn="just">
              <a:lnSpc>
                <a:spcPts val="38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550" spc="127" dirty="0">
                <a:solidFill>
                  <a:srgbClr val="000000"/>
                </a:solidFill>
                <a:latin typeface="Bebas Neue"/>
              </a:rPr>
              <a:t>La salida del modelo estima la posición 3D de la fuente.</a:t>
            </a:r>
            <a:endParaRPr lang="en-US" sz="2550" spc="127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C7CE7C8-7F07-4E3C-CE11-84D506E11E79}"/>
              </a:ext>
            </a:extLst>
          </p:cNvPr>
          <p:cNvSpPr txBox="1"/>
          <p:nvPr/>
        </p:nvSpPr>
        <p:spPr>
          <a:xfrm>
            <a:off x="1041142" y="9191625"/>
            <a:ext cx="1579863" cy="70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>
                <a:solidFill>
                  <a:srgbClr val="000000"/>
                </a:solidFill>
                <a:latin typeface="Bebas Neue Bold"/>
              </a:rPr>
              <a:t>PÁG. 14</a:t>
            </a:r>
          </a:p>
          <a:p>
            <a:pPr algn="just">
              <a:lnSpc>
                <a:spcPts val="2775"/>
              </a:lnSpc>
              <a:spcBef>
                <a:spcPct val="0"/>
              </a:spcBef>
            </a:pPr>
            <a:endParaRPr lang="en-US" sz="1850" spc="92">
              <a:solidFill>
                <a:srgbClr val="000000"/>
              </a:solidFill>
              <a:latin typeface="Bebas Neue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5774714E-3970-379C-F9E2-A9416C4B6ADF}"/>
              </a:ext>
            </a:extLst>
          </p:cNvPr>
          <p:cNvSpPr txBox="1"/>
          <p:nvPr/>
        </p:nvSpPr>
        <p:spPr>
          <a:xfrm>
            <a:off x="7568695" y="5161201"/>
            <a:ext cx="1388774" cy="47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5"/>
              </a:lnSpc>
              <a:spcBef>
                <a:spcPct val="0"/>
              </a:spcBef>
            </a:pPr>
            <a:r>
              <a:rPr lang="en-US" sz="1404" spc="112">
                <a:solidFill>
                  <a:srgbClr val="FFF3EA"/>
                </a:solidFill>
                <a:latin typeface="Quicksand Bold"/>
              </a:rPr>
              <a:t>BASE DE DATOS*</a:t>
            </a:r>
          </a:p>
        </p:txBody>
      </p:sp>
    </p:spTree>
    <p:extLst>
      <p:ext uri="{BB962C8B-B14F-4D97-AF65-F5344CB8AC3E}">
        <p14:creationId xmlns:p14="http://schemas.microsoft.com/office/powerpoint/2010/main" val="199511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5C638-0043-E16E-21C1-5E0367CB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37DF40-441A-8A5D-6E43-F9F056FE8EBA}"/>
              </a:ext>
            </a:extLst>
          </p:cNvPr>
          <p:cNvSpPr/>
          <p:nvPr/>
        </p:nvSpPr>
        <p:spPr>
          <a:xfrm rot="5400000">
            <a:off x="3066456" y="-1271943"/>
            <a:ext cx="145456" cy="6278368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2953A2-9CFC-FAB2-4E64-83B4E5384D63}"/>
              </a:ext>
            </a:extLst>
          </p:cNvPr>
          <p:cNvSpPr/>
          <p:nvPr/>
        </p:nvSpPr>
        <p:spPr>
          <a:xfrm>
            <a:off x="10745894" y="459014"/>
            <a:ext cx="6513406" cy="1139371"/>
          </a:xfrm>
          <a:custGeom>
            <a:avLst/>
            <a:gdLst/>
            <a:ahLst/>
            <a:cxnLst/>
            <a:rect l="l" t="t" r="r" b="b"/>
            <a:pathLst>
              <a:path w="6513406" h="1139371">
                <a:moveTo>
                  <a:pt x="0" y="0"/>
                </a:moveTo>
                <a:lnTo>
                  <a:pt x="6513406" y="0"/>
                </a:lnTo>
                <a:lnTo>
                  <a:pt x="6513406" y="1139372"/>
                </a:lnTo>
                <a:lnTo>
                  <a:pt x="0" y="113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082A897-8682-7004-6646-ED1042971D82}"/>
              </a:ext>
            </a:extLst>
          </p:cNvPr>
          <p:cNvSpPr/>
          <p:nvPr/>
        </p:nvSpPr>
        <p:spPr>
          <a:xfrm rot="5400000" flipV="1">
            <a:off x="14426153" y="6648700"/>
            <a:ext cx="2191311" cy="5532383"/>
          </a:xfrm>
          <a:custGeom>
            <a:avLst/>
            <a:gdLst/>
            <a:ahLst/>
            <a:cxnLst/>
            <a:rect l="l" t="t" r="r" b="b"/>
            <a:pathLst>
              <a:path w="2191311" h="5532383">
                <a:moveTo>
                  <a:pt x="0" y="5532383"/>
                </a:moveTo>
                <a:lnTo>
                  <a:pt x="2191311" y="5532383"/>
                </a:lnTo>
                <a:lnTo>
                  <a:pt x="2191311" y="0"/>
                </a:lnTo>
                <a:lnTo>
                  <a:pt x="0" y="0"/>
                </a:lnTo>
                <a:lnTo>
                  <a:pt x="0" y="5532383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0867343-5D31-1109-16FF-957F1338CB06}"/>
              </a:ext>
            </a:extLst>
          </p:cNvPr>
          <p:cNvSpPr txBox="1"/>
          <p:nvPr/>
        </p:nvSpPr>
        <p:spPr>
          <a:xfrm>
            <a:off x="548415" y="493394"/>
            <a:ext cx="4771227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METODOLOGÍA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9D41ECE-A3F2-1DE2-1568-2B6FCE66C16B}"/>
              </a:ext>
            </a:extLst>
          </p:cNvPr>
          <p:cNvSpPr txBox="1"/>
          <p:nvPr/>
        </p:nvSpPr>
        <p:spPr>
          <a:xfrm>
            <a:off x="1041142" y="9191625"/>
            <a:ext cx="1579863" cy="70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>
                <a:solidFill>
                  <a:srgbClr val="000000"/>
                </a:solidFill>
                <a:latin typeface="Bebas Neue Bold"/>
              </a:rPr>
              <a:t>PÁG. 14</a:t>
            </a:r>
          </a:p>
          <a:p>
            <a:pPr algn="just">
              <a:lnSpc>
                <a:spcPts val="2775"/>
              </a:lnSpc>
              <a:spcBef>
                <a:spcPct val="0"/>
              </a:spcBef>
            </a:pPr>
            <a:endParaRPr lang="en-US" sz="1850" spc="92">
              <a:solidFill>
                <a:srgbClr val="000000"/>
              </a:solidFill>
              <a:latin typeface="Bebas Neue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461AF2E-5EEB-163B-6454-501725E02935}"/>
              </a:ext>
            </a:extLst>
          </p:cNvPr>
          <p:cNvSpPr txBox="1"/>
          <p:nvPr/>
        </p:nvSpPr>
        <p:spPr>
          <a:xfrm>
            <a:off x="7568695" y="5161201"/>
            <a:ext cx="1388774" cy="47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5"/>
              </a:lnSpc>
              <a:spcBef>
                <a:spcPct val="0"/>
              </a:spcBef>
            </a:pPr>
            <a:r>
              <a:rPr lang="en-US" sz="1404" spc="112">
                <a:solidFill>
                  <a:srgbClr val="FFF3EA"/>
                </a:solidFill>
                <a:latin typeface="Quicksand Bold"/>
              </a:rPr>
              <a:t>BASE DE DATOS*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3AB0915-9F43-4F4B-EB73-9ECB09412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116" y="3133369"/>
            <a:ext cx="14004706" cy="4181687"/>
          </a:xfrm>
          <a:prstGeom prst="rect">
            <a:avLst/>
          </a:prstGeom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F90DBD4F-3961-F869-6323-2F2272C6E737}"/>
              </a:ext>
            </a:extLst>
          </p:cNvPr>
          <p:cNvSpPr txBox="1"/>
          <p:nvPr/>
        </p:nvSpPr>
        <p:spPr>
          <a:xfrm>
            <a:off x="6416904" y="7513291"/>
            <a:ext cx="5454192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figura</a:t>
            </a: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 6. </a:t>
            </a: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Metodologia</a:t>
            </a: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 </a:t>
            </a: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Propuesta</a:t>
            </a:r>
            <a:endParaRPr lang="en-US" sz="2250" spc="112" dirty="0">
              <a:solidFill>
                <a:srgbClr val="000000"/>
              </a:solidFill>
              <a:latin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422937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09B6C-E355-F32A-D219-96F6D21AC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965752D-60E4-FC3B-9EBD-53EA3EA29A53}"/>
              </a:ext>
            </a:extLst>
          </p:cNvPr>
          <p:cNvSpPr/>
          <p:nvPr/>
        </p:nvSpPr>
        <p:spPr>
          <a:xfrm rot="5400000">
            <a:off x="3066456" y="-1271943"/>
            <a:ext cx="145456" cy="6278368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8494A0-67F1-90A5-E689-2AA0AD318F95}"/>
              </a:ext>
            </a:extLst>
          </p:cNvPr>
          <p:cNvSpPr/>
          <p:nvPr/>
        </p:nvSpPr>
        <p:spPr>
          <a:xfrm>
            <a:off x="10745894" y="459014"/>
            <a:ext cx="6513406" cy="1139371"/>
          </a:xfrm>
          <a:custGeom>
            <a:avLst/>
            <a:gdLst/>
            <a:ahLst/>
            <a:cxnLst/>
            <a:rect l="l" t="t" r="r" b="b"/>
            <a:pathLst>
              <a:path w="6513406" h="1139371">
                <a:moveTo>
                  <a:pt x="0" y="0"/>
                </a:moveTo>
                <a:lnTo>
                  <a:pt x="6513406" y="0"/>
                </a:lnTo>
                <a:lnTo>
                  <a:pt x="6513406" y="1139372"/>
                </a:lnTo>
                <a:lnTo>
                  <a:pt x="0" y="113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E0A69C-F281-CD38-E713-8CC262F58762}"/>
              </a:ext>
            </a:extLst>
          </p:cNvPr>
          <p:cNvSpPr/>
          <p:nvPr/>
        </p:nvSpPr>
        <p:spPr>
          <a:xfrm rot="5400000" flipV="1">
            <a:off x="14426153" y="6648700"/>
            <a:ext cx="2191311" cy="5532383"/>
          </a:xfrm>
          <a:custGeom>
            <a:avLst/>
            <a:gdLst/>
            <a:ahLst/>
            <a:cxnLst/>
            <a:rect l="l" t="t" r="r" b="b"/>
            <a:pathLst>
              <a:path w="2191311" h="5532383">
                <a:moveTo>
                  <a:pt x="0" y="5532383"/>
                </a:moveTo>
                <a:lnTo>
                  <a:pt x="2191311" y="5532383"/>
                </a:lnTo>
                <a:lnTo>
                  <a:pt x="2191311" y="0"/>
                </a:lnTo>
                <a:lnTo>
                  <a:pt x="0" y="0"/>
                </a:lnTo>
                <a:lnTo>
                  <a:pt x="0" y="5532383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EC03024-0EA5-14DA-4869-F13B27437778}"/>
              </a:ext>
            </a:extLst>
          </p:cNvPr>
          <p:cNvSpPr txBox="1"/>
          <p:nvPr/>
        </p:nvSpPr>
        <p:spPr>
          <a:xfrm>
            <a:off x="842169" y="5398590"/>
            <a:ext cx="16230600" cy="704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5"/>
              </a:lnSpc>
              <a:spcBef>
                <a:spcPct val="0"/>
              </a:spcBef>
            </a:pPr>
            <a:r>
              <a:rPr lang="es-ES" sz="8800" spc="127" dirty="0">
                <a:solidFill>
                  <a:srgbClr val="000000"/>
                </a:solidFill>
                <a:latin typeface="Bebas Neue"/>
              </a:rPr>
              <a:t>Gracias!</a:t>
            </a:r>
            <a:endParaRPr lang="en-US" sz="8800" spc="127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7F4ACBC-5FE1-7929-FA40-905D20CA271C}"/>
              </a:ext>
            </a:extLst>
          </p:cNvPr>
          <p:cNvSpPr txBox="1"/>
          <p:nvPr/>
        </p:nvSpPr>
        <p:spPr>
          <a:xfrm>
            <a:off x="1041142" y="9191625"/>
            <a:ext cx="1579863" cy="70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>
                <a:solidFill>
                  <a:srgbClr val="000000"/>
                </a:solidFill>
                <a:latin typeface="Bebas Neue Bold"/>
              </a:rPr>
              <a:t>PÁG. 14</a:t>
            </a:r>
          </a:p>
          <a:p>
            <a:pPr algn="just">
              <a:lnSpc>
                <a:spcPts val="2775"/>
              </a:lnSpc>
              <a:spcBef>
                <a:spcPct val="0"/>
              </a:spcBef>
            </a:pPr>
            <a:endParaRPr lang="en-US" sz="1850" spc="92">
              <a:solidFill>
                <a:srgbClr val="000000"/>
              </a:solidFill>
              <a:latin typeface="Bebas Neue Bold"/>
            </a:endParaRPr>
          </a:p>
        </p:txBody>
      </p:sp>
    </p:spTree>
    <p:extLst>
      <p:ext uri="{BB962C8B-B14F-4D97-AF65-F5344CB8AC3E}">
        <p14:creationId xmlns:p14="http://schemas.microsoft.com/office/powerpoint/2010/main" val="330804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396</Words>
  <Application>Microsoft Office PowerPoint</Application>
  <PresentationFormat>Personalizado</PresentationFormat>
  <Paragraphs>56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Bebas Neue</vt:lpstr>
      <vt:lpstr>Bebas Neue Bold</vt:lpstr>
      <vt:lpstr>League Gothic</vt:lpstr>
      <vt:lpstr>Quicksand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Presentación_Final_CGRF</dc:title>
  <dc:creator>Carlos Pedraza Ortega</dc:creator>
  <cp:lastModifiedBy>Daniel Gonzalez</cp:lastModifiedBy>
  <cp:revision>12</cp:revision>
  <dcterms:created xsi:type="dcterms:W3CDTF">2006-08-16T00:00:00Z</dcterms:created>
  <dcterms:modified xsi:type="dcterms:W3CDTF">2026-03-11T13:20:54Z</dcterms:modified>
  <dc:identifier>DAFqILKuhGQ</dc:identifier>
</cp:coreProperties>
</file>