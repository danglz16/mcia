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eague Spartan" charset="1" panose="00000800000000000000"/>
      <p:regular r:id="rId15"/>
    </p:embeddedFont>
    <p:embeddedFont>
      <p:font typeface="Glacial Indifference"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red utilizada fue una perceptron multicapa donde se realiza feedforward, backpropagation y ajuste de pesos.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424377" y="473128"/>
            <a:ext cx="3834923" cy="1111144"/>
          </a:xfrm>
          <a:custGeom>
            <a:avLst/>
            <a:gdLst/>
            <a:ahLst/>
            <a:cxnLst/>
            <a:rect r="r" b="b" t="t" l="l"/>
            <a:pathLst>
              <a:path h="1111144" w="3834923">
                <a:moveTo>
                  <a:pt x="0" y="0"/>
                </a:moveTo>
                <a:lnTo>
                  <a:pt x="3834923" y="0"/>
                </a:lnTo>
                <a:lnTo>
                  <a:pt x="3834923" y="1111144"/>
                </a:lnTo>
                <a:lnTo>
                  <a:pt x="0" y="11111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1359352">
            <a:off x="465070" y="-4294761"/>
            <a:ext cx="11440113" cy="4002475"/>
            <a:chOff x="0" y="0"/>
            <a:chExt cx="3013034" cy="1054150"/>
          </a:xfrm>
        </p:grpSpPr>
        <p:sp>
          <p:nvSpPr>
            <p:cNvPr name="Freeform 11" id="11"/>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2" id="12"/>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28700" y="8528368"/>
            <a:ext cx="2123450" cy="2472722"/>
          </a:xfrm>
          <a:custGeom>
            <a:avLst/>
            <a:gdLst/>
            <a:ahLst/>
            <a:cxnLst/>
            <a:rect r="r" b="b" t="t" l="l"/>
            <a:pathLst>
              <a:path h="2472722" w="2123450">
                <a:moveTo>
                  <a:pt x="0" y="0"/>
                </a:moveTo>
                <a:lnTo>
                  <a:pt x="2123450" y="0"/>
                </a:lnTo>
                <a:lnTo>
                  <a:pt x="2123450" y="2472722"/>
                </a:lnTo>
                <a:lnTo>
                  <a:pt x="0" y="24727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889057" y="3871003"/>
            <a:ext cx="3834923" cy="2544994"/>
          </a:xfrm>
          <a:custGeom>
            <a:avLst/>
            <a:gdLst/>
            <a:ahLst/>
            <a:cxnLst/>
            <a:rect r="r" b="b" t="t" l="l"/>
            <a:pathLst>
              <a:path h="2544994" w="3834923">
                <a:moveTo>
                  <a:pt x="0" y="0"/>
                </a:moveTo>
                <a:lnTo>
                  <a:pt x="3834923" y="0"/>
                </a:lnTo>
                <a:lnTo>
                  <a:pt x="3834923" y="2544994"/>
                </a:lnTo>
                <a:lnTo>
                  <a:pt x="0" y="25449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028700" y="1289019"/>
            <a:ext cx="11011133" cy="3093522"/>
          </a:xfrm>
          <a:prstGeom prst="rect">
            <a:avLst/>
          </a:prstGeom>
        </p:spPr>
        <p:txBody>
          <a:bodyPr anchor="t" rtlCol="false" tIns="0" lIns="0" bIns="0" rIns="0">
            <a:spAutoFit/>
          </a:bodyPr>
          <a:lstStyle/>
          <a:p>
            <a:pPr algn="l">
              <a:lnSpc>
                <a:spcPts val="8129"/>
              </a:lnSpc>
            </a:pPr>
            <a:r>
              <a:rPr lang="en-US" sz="6948">
                <a:solidFill>
                  <a:srgbClr val="FFFFFF"/>
                </a:solidFill>
                <a:latin typeface="League Spartan"/>
                <a:ea typeface="League Spartan"/>
                <a:cs typeface="League Spartan"/>
                <a:sym typeface="League Spartan"/>
              </a:rPr>
              <a:t>RECONOCIMIENTO Y CLASIFICACION DE CARACTERES</a:t>
            </a:r>
          </a:p>
        </p:txBody>
      </p:sp>
      <p:sp>
        <p:nvSpPr>
          <p:cNvPr name="TextBox 16" id="16"/>
          <p:cNvSpPr txBox="true"/>
          <p:nvPr/>
        </p:nvSpPr>
        <p:spPr>
          <a:xfrm rot="0">
            <a:off x="1028700" y="6378785"/>
            <a:ext cx="12849693" cy="1031746"/>
          </a:xfrm>
          <a:prstGeom prst="rect">
            <a:avLst/>
          </a:prstGeom>
        </p:spPr>
        <p:txBody>
          <a:bodyPr anchor="t" rtlCol="false" tIns="0" lIns="0" bIns="0" rIns="0">
            <a:spAutoFit/>
          </a:bodyPr>
          <a:lstStyle/>
          <a:p>
            <a:pPr algn="l">
              <a:lnSpc>
                <a:spcPts val="8369"/>
              </a:lnSpc>
            </a:pPr>
            <a:r>
              <a:rPr lang="en-US" sz="5978">
                <a:solidFill>
                  <a:srgbClr val="FFFFFF"/>
                </a:solidFill>
                <a:latin typeface="Glacial Indifference"/>
                <a:ea typeface="Glacial Indifference"/>
                <a:cs typeface="Glacial Indifference"/>
                <a:sym typeface="Glacial Indifference"/>
              </a:rPr>
              <a:t>Ing. Daniel Gonzalez</a:t>
            </a:r>
          </a:p>
        </p:txBody>
      </p:sp>
      <p:sp>
        <p:nvSpPr>
          <p:cNvPr name="TextBox 17" id="17"/>
          <p:cNvSpPr txBox="true"/>
          <p:nvPr/>
        </p:nvSpPr>
        <p:spPr>
          <a:xfrm rot="0">
            <a:off x="1028700" y="4392066"/>
            <a:ext cx="11011133" cy="537774"/>
          </a:xfrm>
          <a:prstGeom prst="rect">
            <a:avLst/>
          </a:prstGeom>
        </p:spPr>
        <p:txBody>
          <a:bodyPr anchor="t" rtlCol="false" tIns="0" lIns="0" bIns="0" rIns="0">
            <a:spAutoFit/>
          </a:bodyPr>
          <a:lstStyle/>
          <a:p>
            <a:pPr algn="l">
              <a:lnSpc>
                <a:spcPts val="4268"/>
              </a:lnSpc>
            </a:pPr>
            <a:r>
              <a:rPr lang="en-US" sz="3648">
                <a:solidFill>
                  <a:srgbClr val="FFFFFF"/>
                </a:solidFill>
                <a:latin typeface="League Spartan"/>
                <a:ea typeface="League Spartan"/>
                <a:cs typeface="League Spartan"/>
                <a:sym typeface="League Spartan"/>
              </a:rPr>
              <a:t>COMPUTACION AVANZADA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3259660" y="-6775671"/>
            <a:ext cx="15061871" cy="10726217"/>
            <a:chOff x="0" y="0"/>
            <a:chExt cx="20082495" cy="14301622"/>
          </a:xfrm>
        </p:grpSpPr>
        <p:grpSp>
          <p:nvGrpSpPr>
            <p:cNvPr name="Group 7" id="7"/>
            <p:cNvGrpSpPr/>
            <p:nvPr/>
          </p:nvGrpSpPr>
          <p:grpSpPr>
            <a:xfrm rot="-2389105">
              <a:off x="-60138" y="4699996"/>
              <a:ext cx="15253484" cy="5336633"/>
              <a:chOff x="0" y="0"/>
              <a:chExt cx="3013034" cy="1054150"/>
            </a:xfrm>
          </p:grpSpPr>
          <p:sp>
            <p:nvSpPr>
              <p:cNvPr name="Freeform 8" id="8"/>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9" id="9"/>
              <p:cNvSpPr txBox="true"/>
              <p:nvPr/>
            </p:nvSpPr>
            <p:spPr>
              <a:xfrm>
                <a:off x="0" y="-38100"/>
                <a:ext cx="3013034" cy="109225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1359352">
              <a:off x="4389705" y="2731886"/>
              <a:ext cx="15253484" cy="5336633"/>
              <a:chOff x="0" y="0"/>
              <a:chExt cx="3013034" cy="1054150"/>
            </a:xfrm>
          </p:grpSpPr>
          <p:sp>
            <p:nvSpPr>
              <p:cNvPr name="Freeform 11" id="11"/>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2" id="12"/>
              <p:cNvSpPr txBox="true"/>
              <p:nvPr/>
            </p:nvSpPr>
            <p:spPr>
              <a:xfrm>
                <a:off x="0" y="-38100"/>
                <a:ext cx="3013034" cy="1092250"/>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16913838" y="599500"/>
            <a:ext cx="894882" cy="3351046"/>
          </a:xfrm>
          <a:custGeom>
            <a:avLst/>
            <a:gdLst/>
            <a:ahLst/>
            <a:cxnLst/>
            <a:rect r="r" b="b" t="t" l="l"/>
            <a:pathLst>
              <a:path h="3351046" w="894882">
                <a:moveTo>
                  <a:pt x="0" y="0"/>
                </a:moveTo>
                <a:lnTo>
                  <a:pt x="894881" y="0"/>
                </a:lnTo>
                <a:lnTo>
                  <a:pt x="894881" y="3351046"/>
                </a:lnTo>
                <a:lnTo>
                  <a:pt x="0" y="33510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954984" y="8062874"/>
            <a:ext cx="1909968" cy="2224126"/>
          </a:xfrm>
          <a:custGeom>
            <a:avLst/>
            <a:gdLst/>
            <a:ahLst/>
            <a:cxnLst/>
            <a:rect r="r" b="b" t="t" l="l"/>
            <a:pathLst>
              <a:path h="2224126" w="1909968">
                <a:moveTo>
                  <a:pt x="0" y="0"/>
                </a:moveTo>
                <a:lnTo>
                  <a:pt x="1909968" y="0"/>
                </a:lnTo>
                <a:lnTo>
                  <a:pt x="1909968" y="2224126"/>
                </a:lnTo>
                <a:lnTo>
                  <a:pt x="0" y="22241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8835578" y="2950210"/>
            <a:ext cx="7765379" cy="5726430"/>
          </a:xfrm>
          <a:custGeom>
            <a:avLst/>
            <a:gdLst/>
            <a:ahLst/>
            <a:cxnLst/>
            <a:rect r="r" b="b" t="t" l="l"/>
            <a:pathLst>
              <a:path h="5726430" w="7765379">
                <a:moveTo>
                  <a:pt x="0" y="0"/>
                </a:moveTo>
                <a:lnTo>
                  <a:pt x="7765380" y="0"/>
                </a:lnTo>
                <a:lnTo>
                  <a:pt x="7765380" y="5726430"/>
                </a:lnTo>
                <a:lnTo>
                  <a:pt x="0" y="5726430"/>
                </a:lnTo>
                <a:lnTo>
                  <a:pt x="0" y="0"/>
                </a:lnTo>
                <a:close/>
              </a:path>
            </a:pathLst>
          </a:custGeom>
          <a:blipFill>
            <a:blip r:embed="rId7"/>
            <a:stretch>
              <a:fillRect l="0" t="-17802" r="0" b="-17802"/>
            </a:stretch>
          </a:blipFill>
        </p:spPr>
      </p:sp>
      <p:sp>
        <p:nvSpPr>
          <p:cNvPr name="TextBox 16" id="16"/>
          <p:cNvSpPr txBox="true"/>
          <p:nvPr/>
        </p:nvSpPr>
        <p:spPr>
          <a:xfrm rot="0">
            <a:off x="3141782" y="1276350"/>
            <a:ext cx="12004435" cy="1193800"/>
          </a:xfrm>
          <a:prstGeom prst="rect">
            <a:avLst/>
          </a:prstGeom>
        </p:spPr>
        <p:txBody>
          <a:bodyPr anchor="t" rtlCol="false" tIns="0" lIns="0" bIns="0" rIns="0">
            <a:spAutoFit/>
          </a:bodyPr>
          <a:lstStyle/>
          <a:p>
            <a:pPr algn="ctr">
              <a:lnSpc>
                <a:spcPts val="9799"/>
              </a:lnSpc>
            </a:pPr>
            <a:r>
              <a:rPr lang="en-US" sz="6999">
                <a:solidFill>
                  <a:srgbClr val="FFFFFF"/>
                </a:solidFill>
                <a:latin typeface="League Spartan"/>
                <a:ea typeface="League Spartan"/>
                <a:cs typeface="League Spartan"/>
                <a:sym typeface="League Spartan"/>
              </a:rPr>
              <a:t>INTRODUCCIÓN</a:t>
            </a:r>
          </a:p>
        </p:txBody>
      </p:sp>
      <p:sp>
        <p:nvSpPr>
          <p:cNvPr name="TextBox 17" id="17"/>
          <p:cNvSpPr txBox="true"/>
          <p:nvPr/>
        </p:nvSpPr>
        <p:spPr>
          <a:xfrm rot="0">
            <a:off x="954984" y="2883535"/>
            <a:ext cx="7567714" cy="6955155"/>
          </a:xfrm>
          <a:prstGeom prst="rect">
            <a:avLst/>
          </a:prstGeom>
        </p:spPr>
        <p:txBody>
          <a:bodyPr anchor="t" rtlCol="false" tIns="0" lIns="0" bIns="0" rIns="0">
            <a:spAutoFit/>
          </a:bodyPr>
          <a:lstStyle/>
          <a:p>
            <a:pPr algn="just">
              <a:lnSpc>
                <a:spcPts val="4620"/>
              </a:lnSpc>
            </a:pPr>
            <a:r>
              <a:rPr lang="en-US" sz="3300">
                <a:solidFill>
                  <a:srgbClr val="FFFFFF"/>
                </a:solidFill>
                <a:latin typeface="Glacial Indifference"/>
                <a:ea typeface="Glacial Indifference"/>
                <a:cs typeface="Glacial Indifference"/>
                <a:sym typeface="Glacial Indifference"/>
              </a:rPr>
              <a:t>Las redes neuronales son modelos computacionales basados en el cerebro humano, compuesto por capas de neuronas que procesan información mediante conexiones ponderadas que. aprenden a realizar tareas ajustando estos pesos con base en datos de entrenamiento. Dentro de las multiples tareas que se pueden realizar estan la clasificacion caso en el cual nos enfocaremos.</a:t>
            </a:r>
          </a:p>
          <a:p>
            <a:pPr algn="just">
              <a:lnSpc>
                <a:spcPts val="462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3141782" y="866775"/>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5" id="15"/>
          <p:cNvSpPr txBox="true"/>
          <p:nvPr/>
        </p:nvSpPr>
        <p:spPr>
          <a:xfrm rot="0">
            <a:off x="1186578" y="2666457"/>
            <a:ext cx="15532405" cy="6194514"/>
          </a:xfrm>
          <a:prstGeom prst="rect">
            <a:avLst/>
          </a:prstGeom>
        </p:spPr>
        <p:txBody>
          <a:bodyPr anchor="t" rtlCol="false" tIns="0" lIns="0" bIns="0" rIns="0">
            <a:spAutoFit/>
          </a:bodyPr>
          <a:lstStyle/>
          <a:p>
            <a:pPr algn="ctr">
              <a:lnSpc>
                <a:spcPts val="5462"/>
              </a:lnSpc>
            </a:pPr>
            <a:r>
              <a:rPr lang="en-US" sz="3901">
                <a:solidFill>
                  <a:srgbClr val="FFFFFF"/>
                </a:solidFill>
                <a:latin typeface="Glacial Indifference"/>
                <a:ea typeface="Glacial Indifference"/>
                <a:cs typeface="Glacial Indifference"/>
                <a:sym typeface="Glacial Indifference"/>
              </a:rPr>
              <a:t>Para este proyecto se decidió trabajar con programación modular debido a la escalabilidad que tiene este enfoque por lo que se desarrollaron varios archivos.</a:t>
            </a:r>
          </a:p>
          <a:p>
            <a:pPr algn="ctr">
              <a:lnSpc>
                <a:spcPts val="5462"/>
              </a:lnSpc>
            </a:pPr>
            <a:r>
              <a:rPr lang="en-US" sz="3901">
                <a:solidFill>
                  <a:srgbClr val="FFFFFF"/>
                </a:solidFill>
                <a:latin typeface="Glacial Indifference"/>
                <a:ea typeface="Glacial Indifference"/>
                <a:cs typeface="Glacial Indifference"/>
                <a:sym typeface="Glacial Indifference"/>
              </a:rPr>
              <a:t>Se desarrollo una interfaz grafica para ayudar al entrenamiento así como para poder guardar la información del entrenamiento para futuras aplicaciones.</a:t>
            </a:r>
          </a:p>
          <a:p>
            <a:pPr algn="ctr">
              <a:lnSpc>
                <a:spcPts val="5462"/>
              </a:lnSpc>
            </a:pPr>
            <a:r>
              <a:rPr lang="en-US" sz="3901">
                <a:solidFill>
                  <a:srgbClr val="FFFFFF"/>
                </a:solidFill>
                <a:latin typeface="Glacial Indifference"/>
                <a:ea typeface="Glacial Indifference"/>
                <a:cs typeface="Glacial Indifference"/>
                <a:sym typeface="Glacial Indifference"/>
              </a:rPr>
              <a:t>Con esto en mente y teniendo en cuenta el deseo de guardar la información se implemento un red neuronal perceptrón multicapa con una función de activación sigmoide y backpropagation.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775038" y="6215150"/>
            <a:ext cx="2733490" cy="1272736"/>
          </a:xfrm>
          <a:custGeom>
            <a:avLst/>
            <a:gdLst/>
            <a:ahLst/>
            <a:cxnLst/>
            <a:rect r="r" b="b" t="t" l="l"/>
            <a:pathLst>
              <a:path h="1272736" w="2733490">
                <a:moveTo>
                  <a:pt x="0" y="0"/>
                </a:moveTo>
                <a:lnTo>
                  <a:pt x="2733489" y="0"/>
                </a:lnTo>
                <a:lnTo>
                  <a:pt x="2733489" y="1272736"/>
                </a:lnTo>
                <a:lnTo>
                  <a:pt x="0" y="1272736"/>
                </a:lnTo>
                <a:lnTo>
                  <a:pt x="0" y="0"/>
                </a:lnTo>
                <a:close/>
              </a:path>
            </a:pathLst>
          </a:custGeom>
          <a:blipFill>
            <a:blip r:embed="rId8"/>
            <a:stretch>
              <a:fillRect l="0" t="0" r="0" b="0"/>
            </a:stretch>
          </a:blipFill>
        </p:spPr>
      </p:sp>
      <p:sp>
        <p:nvSpPr>
          <p:cNvPr name="Freeform 15" id="15"/>
          <p:cNvSpPr/>
          <p:nvPr/>
        </p:nvSpPr>
        <p:spPr>
          <a:xfrm flipH="false" flipV="false" rot="0">
            <a:off x="7189490" y="6215150"/>
            <a:ext cx="3509477" cy="1195038"/>
          </a:xfrm>
          <a:custGeom>
            <a:avLst/>
            <a:gdLst/>
            <a:ahLst/>
            <a:cxnLst/>
            <a:rect r="r" b="b" t="t" l="l"/>
            <a:pathLst>
              <a:path h="1195038" w="3509477">
                <a:moveTo>
                  <a:pt x="0" y="0"/>
                </a:moveTo>
                <a:lnTo>
                  <a:pt x="3509478" y="0"/>
                </a:lnTo>
                <a:lnTo>
                  <a:pt x="3509478" y="1195038"/>
                </a:lnTo>
                <a:lnTo>
                  <a:pt x="0" y="1195038"/>
                </a:lnTo>
                <a:lnTo>
                  <a:pt x="0" y="0"/>
                </a:lnTo>
                <a:close/>
              </a:path>
            </a:pathLst>
          </a:custGeom>
          <a:blipFill>
            <a:blip r:embed="rId9"/>
            <a:stretch>
              <a:fillRect l="0" t="0" r="0" b="0"/>
            </a:stretch>
          </a:blipFill>
        </p:spPr>
      </p:sp>
      <p:sp>
        <p:nvSpPr>
          <p:cNvPr name="TextBox 16" id="16"/>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7" id="17"/>
          <p:cNvSpPr txBox="true"/>
          <p:nvPr/>
        </p:nvSpPr>
        <p:spPr>
          <a:xfrm rot="0">
            <a:off x="790572" y="2357568"/>
            <a:ext cx="5057588"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Durante la propagacion hacia adelante cada neurona realiza una operación de suma ponderada seguida por una función de activación, en este caso una sigmoide, definida como:</a:t>
            </a:r>
          </a:p>
        </p:txBody>
      </p:sp>
      <p:sp>
        <p:nvSpPr>
          <p:cNvPr name="TextBox 18" id="18"/>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RED PERCEPTRON</a:t>
            </a:r>
          </a:p>
        </p:txBody>
      </p:sp>
      <p:sp>
        <p:nvSpPr>
          <p:cNvPr name="TextBox 19" id="19"/>
          <p:cNvSpPr txBox="true"/>
          <p:nvPr/>
        </p:nvSpPr>
        <p:spPr>
          <a:xfrm rot="0">
            <a:off x="6415435" y="2357568"/>
            <a:ext cx="5057588" cy="31908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Al final de la red se calcula el error entre el resultado de la red y la etiqueta real utilizando una función de pérdida como el error cuadrático medio (MSE):</a:t>
            </a:r>
          </a:p>
        </p:txBody>
      </p:sp>
      <p:sp>
        <p:nvSpPr>
          <p:cNvPr name="TextBox 20" id="20"/>
          <p:cNvSpPr txBox="true"/>
          <p:nvPr/>
        </p:nvSpPr>
        <p:spPr>
          <a:xfrm rot="0">
            <a:off x="12044523" y="2357568"/>
            <a:ext cx="5057588"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Durante la retropropagación el error se propaga hacia atras de la red y se calcula el gradiente de la función de pérdida respecto a cada peso con lo cual se actualizan los pesos y sesgos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5" id="15"/>
          <p:cNvSpPr txBox="true"/>
          <p:nvPr/>
        </p:nvSpPr>
        <p:spPr>
          <a:xfrm rot="0">
            <a:off x="790572" y="2357568"/>
            <a:ext cx="16341619" cy="31908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Durante el desarrollo del codigo se opto por crear clases con objetos para tener un mayor control sobre lo que queremos hacer asi como que se enfocara en algo mas general y no solo especifico.</a:t>
            </a:r>
          </a:p>
          <a:p>
            <a:pPr algn="just">
              <a:lnSpc>
                <a:spcPts val="4202"/>
              </a:lnSpc>
            </a:pPr>
            <a:r>
              <a:rPr lang="en-US" sz="3001">
                <a:solidFill>
                  <a:srgbClr val="FFFFFF"/>
                </a:solidFill>
                <a:latin typeface="Glacial Indifference"/>
                <a:ea typeface="Glacial Indifference"/>
                <a:cs typeface="Glacial Indifference"/>
                <a:sym typeface="Glacial Indifference"/>
              </a:rPr>
              <a:t>Por lo cual se crearon 3 clases principales cada una con ciertos atributos.</a:t>
            </a:r>
          </a:p>
          <a:p>
            <a:pPr algn="just" marL="648063" indent="-324031" lvl="1">
              <a:lnSpc>
                <a:spcPts val="4202"/>
              </a:lnSpc>
              <a:buFont typeface="Arial"/>
              <a:buChar char="•"/>
            </a:pPr>
            <a:r>
              <a:rPr lang="en-US" sz="3001">
                <a:solidFill>
                  <a:srgbClr val="FFFFFF"/>
                </a:solidFill>
                <a:latin typeface="Glacial Indifference"/>
                <a:ea typeface="Glacial Indifference"/>
                <a:cs typeface="Glacial Indifference"/>
                <a:sym typeface="Glacial Indifference"/>
              </a:rPr>
              <a:t>Neurona - Para cada unidad de computo con su funcion de activacion</a:t>
            </a:r>
          </a:p>
          <a:p>
            <a:pPr algn="just" marL="648063" indent="-324031" lvl="1">
              <a:lnSpc>
                <a:spcPts val="4202"/>
              </a:lnSpc>
              <a:buFont typeface="Arial"/>
              <a:buChar char="•"/>
            </a:pPr>
            <a:r>
              <a:rPr lang="en-US" sz="3001">
                <a:solidFill>
                  <a:srgbClr val="FFFFFF"/>
                </a:solidFill>
                <a:latin typeface="Glacial Indifference"/>
                <a:ea typeface="Glacial Indifference"/>
                <a:cs typeface="Glacial Indifference"/>
                <a:sym typeface="Glacial Indifference"/>
              </a:rPr>
              <a:t>Capa - Para agrupar y manejar diversas neuronas</a:t>
            </a:r>
          </a:p>
          <a:p>
            <a:pPr algn="just" marL="648063" indent="-324031" lvl="1">
              <a:lnSpc>
                <a:spcPts val="4202"/>
              </a:lnSpc>
              <a:buFont typeface="Arial"/>
              <a:buChar char="•"/>
            </a:pPr>
            <a:r>
              <a:rPr lang="en-US" sz="3001">
                <a:solidFill>
                  <a:srgbClr val="FFFFFF"/>
                </a:solidFill>
                <a:latin typeface="Glacial Indifference"/>
                <a:ea typeface="Glacial Indifference"/>
                <a:cs typeface="Glacial Indifference"/>
                <a:sym typeface="Glacial Indifference"/>
              </a:rPr>
              <a:t>RedNeuronal - Para controlar toda la estructura y su comportamiento</a:t>
            </a:r>
          </a:p>
        </p:txBody>
      </p:sp>
      <p:sp>
        <p:nvSpPr>
          <p:cNvPr name="TextBox 16" id="16"/>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RED NEURONAL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5" id="15"/>
          <p:cNvSpPr txBox="true"/>
          <p:nvPr/>
        </p:nvSpPr>
        <p:spPr>
          <a:xfrm rot="0">
            <a:off x="790572" y="2357568"/>
            <a:ext cx="16341619" cy="3724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Esta arquitectura permite que el codigo sea más estructurado, escalable y limpio lo cual nos ayuda a que se pueda interpretar o corregir más adelante, esto hace que hecho de manera correcta incluso los modulos usados en el programa principal puedan ser exportados a nuevos proyectos.</a:t>
            </a:r>
          </a:p>
          <a:p>
            <a:pPr algn="just">
              <a:lnSpc>
                <a:spcPts val="4202"/>
              </a:lnSpc>
            </a:pPr>
          </a:p>
          <a:p>
            <a:pPr algn="just">
              <a:lnSpc>
                <a:spcPts val="4202"/>
              </a:lnSpc>
            </a:pPr>
            <a:r>
              <a:rPr lang="en-US" sz="3001">
                <a:solidFill>
                  <a:srgbClr val="FFFFFF"/>
                </a:solidFill>
                <a:latin typeface="Glacial Indifference"/>
                <a:ea typeface="Glacial Indifference"/>
                <a:cs typeface="Glacial Indifference"/>
                <a:sym typeface="Glacial Indifference"/>
              </a:rPr>
              <a:t>Para este proyecto se decidio usar 2 archivos aparte del principal los cuales nos ayudaran a separar la parte de GUI de la Red Neuronal y con esto podremos tomar esta estructura para la implementacion de reconocimiento de señales. </a:t>
            </a:r>
          </a:p>
        </p:txBody>
      </p:sp>
      <p:sp>
        <p:nvSpPr>
          <p:cNvPr name="TextBox 16" id="16"/>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PROGRAMACION MODULAR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7874587" y="5148350"/>
            <a:ext cx="2538826" cy="3576433"/>
          </a:xfrm>
          <a:custGeom>
            <a:avLst/>
            <a:gdLst/>
            <a:ahLst/>
            <a:cxnLst/>
            <a:rect r="r" b="b" t="t" l="l"/>
            <a:pathLst>
              <a:path h="3576433" w="2538826">
                <a:moveTo>
                  <a:pt x="0" y="0"/>
                </a:moveTo>
                <a:lnTo>
                  <a:pt x="2538826" y="0"/>
                </a:lnTo>
                <a:lnTo>
                  <a:pt x="2538826" y="3576433"/>
                </a:lnTo>
                <a:lnTo>
                  <a:pt x="0" y="3576433"/>
                </a:lnTo>
                <a:lnTo>
                  <a:pt x="0" y="0"/>
                </a:lnTo>
                <a:close/>
              </a:path>
            </a:pathLst>
          </a:custGeom>
          <a:blipFill>
            <a:blip r:embed="rId8"/>
            <a:stretch>
              <a:fillRect l="0" t="0" r="0" b="0"/>
            </a:stretch>
          </a:blipFill>
        </p:spPr>
      </p:sp>
      <p:sp>
        <p:nvSpPr>
          <p:cNvPr name="TextBox 15" id="15"/>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METODOLOGIA</a:t>
            </a:r>
          </a:p>
        </p:txBody>
      </p:sp>
      <p:sp>
        <p:nvSpPr>
          <p:cNvPr name="TextBox 16" id="16"/>
          <p:cNvSpPr txBox="true"/>
          <p:nvPr/>
        </p:nvSpPr>
        <p:spPr>
          <a:xfrm rot="0">
            <a:off x="790572" y="2357568"/>
            <a:ext cx="16341619" cy="26574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Partimos de un archivo de texto que contiene las cadenas de los caracteres a evaluar estas cadenas estan conformadas por un conjunto de 35 elementos siendo “ 0 ” y “ 1 ” representando las letras de A a H con mayusculas y minusculas para un total de 16 letras.</a:t>
            </a:r>
          </a:p>
          <a:p>
            <a:pPr algn="just">
              <a:lnSpc>
                <a:spcPts val="4202"/>
              </a:lnSpc>
            </a:pPr>
            <a:r>
              <a:rPr lang="en-US" sz="3001">
                <a:solidFill>
                  <a:srgbClr val="FFFFFF"/>
                </a:solidFill>
                <a:latin typeface="Glacial Indifference"/>
                <a:ea typeface="Glacial Indifference"/>
                <a:cs typeface="Glacial Indifference"/>
                <a:sym typeface="Glacial Indifference"/>
              </a:rPr>
              <a:t>Interpretado de otra manera tenemos 35 entradas con 16 salidas las cuales se representan en una matriz de 7 filas por 5 columnas </a:t>
            </a:r>
          </a:p>
        </p:txBody>
      </p:sp>
      <p:sp>
        <p:nvSpPr>
          <p:cNvPr name="TextBox 17" id="17"/>
          <p:cNvSpPr txBox="true"/>
          <p:nvPr/>
        </p:nvSpPr>
        <p:spPr>
          <a:xfrm rot="0">
            <a:off x="3141782" y="1689953"/>
            <a:ext cx="12004435" cy="596894"/>
          </a:xfrm>
          <a:prstGeom prst="rect">
            <a:avLst/>
          </a:prstGeom>
        </p:spPr>
        <p:txBody>
          <a:bodyPr anchor="t" rtlCol="false" tIns="0" lIns="0" bIns="0" rIns="0">
            <a:spAutoFit/>
          </a:bodyPr>
          <a:lstStyle/>
          <a:p>
            <a:pPr algn="ctr">
              <a:lnSpc>
                <a:spcPts val="4900"/>
              </a:lnSpc>
            </a:pPr>
            <a:r>
              <a:rPr lang="en-US" sz="3500">
                <a:solidFill>
                  <a:srgbClr val="FFFFFF"/>
                </a:solidFill>
                <a:latin typeface="League Spartan"/>
                <a:ea typeface="League Spartan"/>
                <a:cs typeface="League Spartan"/>
                <a:sym typeface="League Spartan"/>
              </a:rPr>
              <a:t>EVALUACION Y CLASIFICACION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6185127" y="3371857"/>
            <a:ext cx="5182489" cy="6915143"/>
          </a:xfrm>
          <a:custGeom>
            <a:avLst/>
            <a:gdLst/>
            <a:ahLst/>
            <a:cxnLst/>
            <a:rect r="r" b="b" t="t" l="l"/>
            <a:pathLst>
              <a:path h="6915143" w="5182489">
                <a:moveTo>
                  <a:pt x="0" y="0"/>
                </a:moveTo>
                <a:lnTo>
                  <a:pt x="5182489" y="0"/>
                </a:lnTo>
                <a:lnTo>
                  <a:pt x="5182489" y="6915143"/>
                </a:lnTo>
                <a:lnTo>
                  <a:pt x="0" y="6915143"/>
                </a:lnTo>
                <a:lnTo>
                  <a:pt x="0" y="0"/>
                </a:lnTo>
                <a:close/>
              </a:path>
            </a:pathLst>
          </a:custGeom>
          <a:blipFill>
            <a:blip r:embed="rId8"/>
            <a:stretch>
              <a:fillRect l="0" t="0" r="0" b="0"/>
            </a:stretch>
          </a:blipFill>
        </p:spPr>
      </p:sp>
      <p:sp>
        <p:nvSpPr>
          <p:cNvPr name="TextBox 15" id="15"/>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RESULTADOS</a:t>
            </a:r>
          </a:p>
        </p:txBody>
      </p:sp>
      <p:sp>
        <p:nvSpPr>
          <p:cNvPr name="TextBox 16" id="16"/>
          <p:cNvSpPr txBox="true"/>
          <p:nvPr/>
        </p:nvSpPr>
        <p:spPr>
          <a:xfrm rot="0">
            <a:off x="917681" y="2244943"/>
            <a:ext cx="16341619" cy="10572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Una vez entrenado nuestra red obtuvimos una precision de 100% al evaluar los caracteres ademas del poder guardar el archivo de pesos para no tener que entrenar cada vez que se dese ejecutar.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415435" y="9292010"/>
            <a:ext cx="11872565" cy="1989980"/>
            <a:chOff x="0" y="0"/>
            <a:chExt cx="3126931" cy="524110"/>
          </a:xfrm>
        </p:grpSpPr>
        <p:sp>
          <p:nvSpPr>
            <p:cNvPr name="Freeform 4" id="4"/>
            <p:cNvSpPr/>
            <p:nvPr/>
          </p:nvSpPr>
          <p:spPr>
            <a:xfrm flipH="false" flipV="false" rot="0">
              <a:off x="0" y="0"/>
              <a:ext cx="3126931" cy="524110"/>
            </a:xfrm>
            <a:custGeom>
              <a:avLst/>
              <a:gdLst/>
              <a:ahLst/>
              <a:cxnLst/>
              <a:rect r="r" b="b" t="t" l="l"/>
              <a:pathLst>
                <a:path h="524110" w="3126931">
                  <a:moveTo>
                    <a:pt x="0" y="0"/>
                  </a:moveTo>
                  <a:lnTo>
                    <a:pt x="3126931" y="0"/>
                  </a:lnTo>
                  <a:lnTo>
                    <a:pt x="3126931" y="524110"/>
                  </a:lnTo>
                  <a:lnTo>
                    <a:pt x="0" y="524110"/>
                  </a:lnTo>
                  <a:close/>
                </a:path>
              </a:pathLst>
            </a:custGeom>
            <a:solidFill>
              <a:srgbClr val="114160"/>
            </a:solidFill>
          </p:spPr>
        </p:sp>
        <p:sp>
          <p:nvSpPr>
            <p:cNvPr name="TextBox 5" id="5"/>
            <p:cNvSpPr txBox="true"/>
            <p:nvPr/>
          </p:nvSpPr>
          <p:spPr>
            <a:xfrm>
              <a:off x="0" y="-28575"/>
              <a:ext cx="3126931" cy="55268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89105">
            <a:off x="-2872312" y="-2818679"/>
            <a:ext cx="11440113" cy="4002475"/>
            <a:chOff x="0" y="0"/>
            <a:chExt cx="3013034" cy="1054150"/>
          </a:xfrm>
        </p:grpSpPr>
        <p:sp>
          <p:nvSpPr>
            <p:cNvPr name="Freeform 7" id="7"/>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114160"/>
            </a:solidFill>
          </p:spPr>
        </p:sp>
        <p:sp>
          <p:nvSpPr>
            <p:cNvPr name="TextBox 8" id="8"/>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359352">
            <a:off x="465070" y="-4294761"/>
            <a:ext cx="11440113" cy="4002475"/>
            <a:chOff x="0" y="0"/>
            <a:chExt cx="3013034" cy="1054150"/>
          </a:xfrm>
        </p:grpSpPr>
        <p:sp>
          <p:nvSpPr>
            <p:cNvPr name="Freeform 10" id="10"/>
            <p:cNvSpPr/>
            <p:nvPr/>
          </p:nvSpPr>
          <p:spPr>
            <a:xfrm flipH="false" flipV="false" rot="0">
              <a:off x="0" y="0"/>
              <a:ext cx="3013034" cy="1054150"/>
            </a:xfrm>
            <a:custGeom>
              <a:avLst/>
              <a:gdLst/>
              <a:ahLst/>
              <a:cxnLst/>
              <a:rect r="r" b="b" t="t" l="l"/>
              <a:pathLst>
                <a:path h="1054150" w="3013034">
                  <a:moveTo>
                    <a:pt x="0" y="0"/>
                  </a:moveTo>
                  <a:lnTo>
                    <a:pt x="3013034" y="0"/>
                  </a:lnTo>
                  <a:lnTo>
                    <a:pt x="3013034" y="1054150"/>
                  </a:lnTo>
                  <a:lnTo>
                    <a:pt x="0" y="1054150"/>
                  </a:lnTo>
                  <a:close/>
                </a:path>
              </a:pathLst>
            </a:custGeom>
            <a:solidFill>
              <a:srgbClr val="728A94"/>
            </a:solidFill>
          </p:spPr>
        </p:sp>
        <p:sp>
          <p:nvSpPr>
            <p:cNvPr name="TextBox 11" id="11"/>
            <p:cNvSpPr txBox="true"/>
            <p:nvPr/>
          </p:nvSpPr>
          <p:spPr>
            <a:xfrm>
              <a:off x="0" y="-28575"/>
              <a:ext cx="3013034" cy="1082725"/>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5976382" y="0"/>
            <a:ext cx="2311618" cy="2311618"/>
          </a:xfrm>
          <a:custGeom>
            <a:avLst/>
            <a:gdLst/>
            <a:ahLst/>
            <a:cxnLst/>
            <a:rect r="r" b="b" t="t" l="l"/>
            <a:pathLst>
              <a:path h="2311618" w="2311618">
                <a:moveTo>
                  <a:pt x="0" y="0"/>
                </a:moveTo>
                <a:lnTo>
                  <a:pt x="2311618" y="0"/>
                </a:lnTo>
                <a:lnTo>
                  <a:pt x="2311618" y="2311618"/>
                </a:lnTo>
                <a:lnTo>
                  <a:pt x="0" y="2311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98542" y="8496907"/>
            <a:ext cx="2101973" cy="2447713"/>
          </a:xfrm>
          <a:custGeom>
            <a:avLst/>
            <a:gdLst/>
            <a:ahLst/>
            <a:cxnLst/>
            <a:rect r="r" b="b" t="t" l="l"/>
            <a:pathLst>
              <a:path h="2447713" w="2101973">
                <a:moveTo>
                  <a:pt x="0" y="0"/>
                </a:moveTo>
                <a:lnTo>
                  <a:pt x="2101973" y="0"/>
                </a:lnTo>
                <a:lnTo>
                  <a:pt x="2101973" y="2447713"/>
                </a:lnTo>
                <a:lnTo>
                  <a:pt x="0" y="24477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141782" y="378679"/>
            <a:ext cx="12004435" cy="1377949"/>
          </a:xfrm>
          <a:prstGeom prst="rect">
            <a:avLst/>
          </a:prstGeom>
        </p:spPr>
        <p:txBody>
          <a:bodyPr anchor="t" rtlCol="false" tIns="0" lIns="0" bIns="0" rIns="0">
            <a:spAutoFit/>
          </a:bodyPr>
          <a:lstStyle/>
          <a:p>
            <a:pPr algn="ctr">
              <a:lnSpc>
                <a:spcPts val="11200"/>
              </a:lnSpc>
            </a:pPr>
            <a:r>
              <a:rPr lang="en-US" sz="8000">
                <a:solidFill>
                  <a:srgbClr val="FFFFFF"/>
                </a:solidFill>
                <a:latin typeface="League Spartan"/>
                <a:ea typeface="League Spartan"/>
                <a:cs typeface="League Spartan"/>
                <a:sym typeface="League Spartan"/>
              </a:rPr>
              <a:t>CONCLUSIONES</a:t>
            </a:r>
          </a:p>
        </p:txBody>
      </p:sp>
      <p:sp>
        <p:nvSpPr>
          <p:cNvPr name="TextBox 15" id="15"/>
          <p:cNvSpPr txBox="true"/>
          <p:nvPr/>
        </p:nvSpPr>
        <p:spPr>
          <a:xfrm rot="0">
            <a:off x="790572" y="2357568"/>
            <a:ext cx="16341619" cy="5857832"/>
          </a:xfrm>
          <a:prstGeom prst="rect">
            <a:avLst/>
          </a:prstGeom>
        </p:spPr>
        <p:txBody>
          <a:bodyPr anchor="t" rtlCol="false" tIns="0" lIns="0" bIns="0" rIns="0">
            <a:spAutoFit/>
          </a:bodyPr>
          <a:lstStyle/>
          <a:p>
            <a:pPr algn="just">
              <a:lnSpc>
                <a:spcPts val="4202"/>
              </a:lnSpc>
            </a:pPr>
            <a:r>
              <a:rPr lang="en-US" sz="3001">
                <a:solidFill>
                  <a:srgbClr val="FFFFFF"/>
                </a:solidFill>
                <a:latin typeface="Glacial Indifference"/>
                <a:ea typeface="Glacial Indifference"/>
                <a:cs typeface="Glacial Indifference"/>
                <a:sym typeface="Glacial Indifference"/>
              </a:rPr>
              <a:t>El entrenamiento del modelo aunque no consume mucho tiempo para este proyecto si genera un gran cambio al momento de poder guardar la informacion y despues solo cargarla y poder evaluar esto añadido al hecho de que este proyecto es escalabre presenta un gran herramienta para futuras aplicaciones.</a:t>
            </a:r>
          </a:p>
          <a:p>
            <a:pPr algn="just">
              <a:lnSpc>
                <a:spcPts val="4202"/>
              </a:lnSpc>
            </a:pPr>
          </a:p>
          <a:p>
            <a:pPr algn="just">
              <a:lnSpc>
                <a:spcPts val="4202"/>
              </a:lnSpc>
            </a:pPr>
            <a:r>
              <a:rPr lang="en-US" sz="3001">
                <a:solidFill>
                  <a:srgbClr val="FFFFFF"/>
                </a:solidFill>
                <a:latin typeface="Glacial Indifference"/>
                <a:ea typeface="Glacial Indifference"/>
                <a:cs typeface="Glacial Indifference"/>
                <a:sym typeface="Glacial Indifference"/>
              </a:rPr>
              <a:t>A su vez el archivo de inicio con los caracteres que sirve para entrenar nuestra red es externo al codigo lo que tambien nos permite agregar o cambiar la informacion con la cual entrenamos.</a:t>
            </a:r>
          </a:p>
          <a:p>
            <a:pPr algn="just">
              <a:lnSpc>
                <a:spcPts val="4202"/>
              </a:lnSpc>
            </a:pPr>
          </a:p>
          <a:p>
            <a:pPr algn="just">
              <a:lnSpc>
                <a:spcPts val="4202"/>
              </a:lnSpc>
            </a:pPr>
            <a:r>
              <a:rPr lang="en-US" sz="3001">
                <a:solidFill>
                  <a:srgbClr val="FFFFFF"/>
                </a:solidFill>
                <a:latin typeface="Glacial Indifference"/>
                <a:ea typeface="Glacial Indifference"/>
                <a:cs typeface="Glacial Indifference"/>
                <a:sym typeface="Glacial Indifference"/>
              </a:rPr>
              <a:t>Finalmente el diseño de este proyecto nos da un panorama mas amplio de lo que puede realizarse por medio de diversas herramientas que nos permiten aplicaciones mas generales no unicas. Lo cual se traduce en menos trabajo en futuras aplicaciones.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DAGo-IhxRUc</dc:identifier>
  <dcterms:modified xsi:type="dcterms:W3CDTF">2011-08-01T06:04:30Z</dcterms:modified>
  <cp:revision>1</cp:revision>
  <dc:title>CA_NN_Caracteres</dc:title>
</cp:coreProperties>
</file>