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7"/>
  </p:notes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League Spartan" charset="1" panose="00000800000000000000"/>
      <p:regular r:id="rId15"/>
    </p:embeddedFont>
    <p:embeddedFont>
      <p:font typeface="Glacial Indifference" charset="1" panose="000000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notesMasters/notesMaster1.xml" Type="http://schemas.openxmlformats.org/officeDocument/2006/relationships/notesMaster"/><Relationship Id="rId18" Target="theme/theme2.xml" Type="http://schemas.openxmlformats.org/officeDocument/2006/relationships/theme"/><Relationship Id="rId19" Target="notesSlides/notesSlide1.xml" Type="http://schemas.openxmlformats.org/officeDocument/2006/relationships/notesSlide"/><Relationship Id="rId2" Target="presProps.xml" Type="http://schemas.openxmlformats.org/officeDocument/2006/relationships/presProps"/><Relationship Id="rId20" Target="notesSlides/notesSlide2.xml" Type="http://schemas.openxmlformats.org/officeDocument/2006/relationships/notesSlide"/><Relationship Id="rId21" Target="notesSlides/notesSlide3.xml" Type="http://schemas.openxmlformats.org/officeDocument/2006/relationships/notesSlide"/><Relationship Id="rId22" Target="notesSlides/notesSlide4.xml" Type="http://schemas.openxmlformats.org/officeDocument/2006/relationships/notesSlide"/><Relationship Id="rId23" Target="notesSlides/notesSlide5.xml" Type="http://schemas.openxmlformats.org/officeDocument/2006/relationships/notesSlide"/><Relationship Id="rId24" Target="notesSlides/notesSlide6.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red utilizada fue una perceptron multicapa donde se realiza feedforward, backpropagation y ajuste de pesos.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red utilizada fue una perceptron multicapa donde se realiza feedforward, backpropagation y ajuste de pesos.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red utilizada fue una perceptron multicapa donde se realiza feedforward, backpropagation y ajuste de pesos.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red utilizada fue una perceptron multicapa donde se realiza feedforward, backpropagation y ajuste de pesos.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red utilizada fue una perceptron multicapa donde se realiza feedforward, backpropagation y ajuste de pesos.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red utilizada fue una perceptron multicapa donde se realiza feedforward, backpropagation y ajuste de pesos.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0.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13.png" Type="http://schemas.openxmlformats.org/officeDocument/2006/relationships/image"/><Relationship Id="rId9" Target="../media/image1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1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6415435" y="9292010"/>
            <a:ext cx="11872565" cy="1989980"/>
            <a:chOff x="0" y="0"/>
            <a:chExt cx="3126931" cy="524110"/>
          </a:xfrm>
        </p:grpSpPr>
        <p:sp>
          <p:nvSpPr>
            <p:cNvPr name="Freeform 4" id="4"/>
            <p:cNvSpPr/>
            <p:nvPr/>
          </p:nvSpPr>
          <p:spPr>
            <a:xfrm flipH="false" flipV="false" rot="0">
              <a:off x="0" y="0"/>
              <a:ext cx="3126931" cy="524110"/>
            </a:xfrm>
            <a:custGeom>
              <a:avLst/>
              <a:gdLst/>
              <a:ahLst/>
              <a:cxnLst/>
              <a:rect r="r" b="b" t="t" l="l"/>
              <a:pathLst>
                <a:path h="524110" w="3126931">
                  <a:moveTo>
                    <a:pt x="0" y="0"/>
                  </a:moveTo>
                  <a:lnTo>
                    <a:pt x="3126931" y="0"/>
                  </a:lnTo>
                  <a:lnTo>
                    <a:pt x="3126931" y="524110"/>
                  </a:lnTo>
                  <a:lnTo>
                    <a:pt x="0" y="524110"/>
                  </a:lnTo>
                  <a:close/>
                </a:path>
              </a:pathLst>
            </a:custGeom>
            <a:solidFill>
              <a:srgbClr val="114160"/>
            </a:solidFill>
          </p:spPr>
        </p:sp>
        <p:sp>
          <p:nvSpPr>
            <p:cNvPr name="TextBox 5" id="5"/>
            <p:cNvSpPr txBox="true"/>
            <p:nvPr/>
          </p:nvSpPr>
          <p:spPr>
            <a:xfrm>
              <a:off x="0" y="-28575"/>
              <a:ext cx="3126931" cy="55268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2389105">
            <a:off x="-2872312" y="-2818679"/>
            <a:ext cx="11440113" cy="4002475"/>
            <a:chOff x="0" y="0"/>
            <a:chExt cx="3013034" cy="1054150"/>
          </a:xfrm>
        </p:grpSpPr>
        <p:sp>
          <p:nvSpPr>
            <p:cNvPr name="Freeform 7" id="7"/>
            <p:cNvSpPr/>
            <p:nvPr/>
          </p:nvSpPr>
          <p:spPr>
            <a:xfrm flipH="false" flipV="false" rot="0">
              <a:off x="0" y="0"/>
              <a:ext cx="3013034" cy="1054150"/>
            </a:xfrm>
            <a:custGeom>
              <a:avLst/>
              <a:gdLst/>
              <a:ahLst/>
              <a:cxnLst/>
              <a:rect r="r" b="b" t="t" l="l"/>
              <a:pathLst>
                <a:path h="1054150" w="3013034">
                  <a:moveTo>
                    <a:pt x="0" y="0"/>
                  </a:moveTo>
                  <a:lnTo>
                    <a:pt x="3013034" y="0"/>
                  </a:lnTo>
                  <a:lnTo>
                    <a:pt x="3013034" y="1054150"/>
                  </a:lnTo>
                  <a:lnTo>
                    <a:pt x="0" y="1054150"/>
                  </a:lnTo>
                  <a:close/>
                </a:path>
              </a:pathLst>
            </a:custGeom>
            <a:solidFill>
              <a:srgbClr val="114160"/>
            </a:solidFill>
          </p:spPr>
        </p:sp>
        <p:sp>
          <p:nvSpPr>
            <p:cNvPr name="TextBox 8" id="8"/>
            <p:cNvSpPr txBox="true"/>
            <p:nvPr/>
          </p:nvSpPr>
          <p:spPr>
            <a:xfrm>
              <a:off x="0" y="-28575"/>
              <a:ext cx="3013034" cy="1082725"/>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3424377" y="473128"/>
            <a:ext cx="3834923" cy="1111144"/>
          </a:xfrm>
          <a:custGeom>
            <a:avLst/>
            <a:gdLst/>
            <a:ahLst/>
            <a:cxnLst/>
            <a:rect r="r" b="b" t="t" l="l"/>
            <a:pathLst>
              <a:path h="1111144" w="3834923">
                <a:moveTo>
                  <a:pt x="0" y="0"/>
                </a:moveTo>
                <a:lnTo>
                  <a:pt x="3834923" y="0"/>
                </a:lnTo>
                <a:lnTo>
                  <a:pt x="3834923" y="1111144"/>
                </a:lnTo>
                <a:lnTo>
                  <a:pt x="0" y="11111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1359352">
            <a:off x="465070" y="-4294761"/>
            <a:ext cx="11440113" cy="4002475"/>
            <a:chOff x="0" y="0"/>
            <a:chExt cx="3013034" cy="1054150"/>
          </a:xfrm>
        </p:grpSpPr>
        <p:sp>
          <p:nvSpPr>
            <p:cNvPr name="Freeform 11" id="11"/>
            <p:cNvSpPr/>
            <p:nvPr/>
          </p:nvSpPr>
          <p:spPr>
            <a:xfrm flipH="false" flipV="false" rot="0">
              <a:off x="0" y="0"/>
              <a:ext cx="3013034" cy="1054150"/>
            </a:xfrm>
            <a:custGeom>
              <a:avLst/>
              <a:gdLst/>
              <a:ahLst/>
              <a:cxnLst/>
              <a:rect r="r" b="b" t="t" l="l"/>
              <a:pathLst>
                <a:path h="1054150" w="3013034">
                  <a:moveTo>
                    <a:pt x="0" y="0"/>
                  </a:moveTo>
                  <a:lnTo>
                    <a:pt x="3013034" y="0"/>
                  </a:lnTo>
                  <a:lnTo>
                    <a:pt x="3013034" y="1054150"/>
                  </a:lnTo>
                  <a:lnTo>
                    <a:pt x="0" y="1054150"/>
                  </a:lnTo>
                  <a:close/>
                </a:path>
              </a:pathLst>
            </a:custGeom>
            <a:solidFill>
              <a:srgbClr val="728A94"/>
            </a:solidFill>
          </p:spPr>
        </p:sp>
        <p:sp>
          <p:nvSpPr>
            <p:cNvPr name="TextBox 12" id="12"/>
            <p:cNvSpPr txBox="true"/>
            <p:nvPr/>
          </p:nvSpPr>
          <p:spPr>
            <a:xfrm>
              <a:off x="0" y="-28575"/>
              <a:ext cx="3013034" cy="1082725"/>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1028700" y="8528368"/>
            <a:ext cx="2123450" cy="2472722"/>
          </a:xfrm>
          <a:custGeom>
            <a:avLst/>
            <a:gdLst/>
            <a:ahLst/>
            <a:cxnLst/>
            <a:rect r="r" b="b" t="t" l="l"/>
            <a:pathLst>
              <a:path h="2472722" w="2123450">
                <a:moveTo>
                  <a:pt x="0" y="0"/>
                </a:moveTo>
                <a:lnTo>
                  <a:pt x="2123450" y="0"/>
                </a:lnTo>
                <a:lnTo>
                  <a:pt x="2123450" y="2472722"/>
                </a:lnTo>
                <a:lnTo>
                  <a:pt x="0" y="247272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0">
            <a:off x="12889057" y="3871003"/>
            <a:ext cx="3834923" cy="2544994"/>
          </a:xfrm>
          <a:custGeom>
            <a:avLst/>
            <a:gdLst/>
            <a:ahLst/>
            <a:cxnLst/>
            <a:rect r="r" b="b" t="t" l="l"/>
            <a:pathLst>
              <a:path h="2544994" w="3834923">
                <a:moveTo>
                  <a:pt x="0" y="0"/>
                </a:moveTo>
                <a:lnTo>
                  <a:pt x="3834923" y="0"/>
                </a:lnTo>
                <a:lnTo>
                  <a:pt x="3834923" y="2544994"/>
                </a:lnTo>
                <a:lnTo>
                  <a:pt x="0" y="25449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5" id="15"/>
          <p:cNvSpPr txBox="true"/>
          <p:nvPr/>
        </p:nvSpPr>
        <p:spPr>
          <a:xfrm rot="0">
            <a:off x="1028700" y="1289019"/>
            <a:ext cx="12849693" cy="3093522"/>
          </a:xfrm>
          <a:prstGeom prst="rect">
            <a:avLst/>
          </a:prstGeom>
        </p:spPr>
        <p:txBody>
          <a:bodyPr anchor="t" rtlCol="false" tIns="0" lIns="0" bIns="0" rIns="0">
            <a:spAutoFit/>
          </a:bodyPr>
          <a:lstStyle/>
          <a:p>
            <a:pPr algn="l">
              <a:lnSpc>
                <a:spcPts val="8129"/>
              </a:lnSpc>
            </a:pPr>
            <a:r>
              <a:rPr lang="en-US" sz="6948">
                <a:solidFill>
                  <a:srgbClr val="FFFFFF"/>
                </a:solidFill>
                <a:latin typeface="League Spartan"/>
                <a:ea typeface="League Spartan"/>
                <a:cs typeface="League Spartan"/>
                <a:sym typeface="League Spartan"/>
              </a:rPr>
              <a:t>RECONOCIMIENTO Y CLASIFICACION DE FUNCIONES MATEMATICAS</a:t>
            </a:r>
          </a:p>
        </p:txBody>
      </p:sp>
      <p:sp>
        <p:nvSpPr>
          <p:cNvPr name="TextBox 16" id="16"/>
          <p:cNvSpPr txBox="true"/>
          <p:nvPr/>
        </p:nvSpPr>
        <p:spPr>
          <a:xfrm rot="0">
            <a:off x="1028700" y="6378785"/>
            <a:ext cx="12849693" cy="1031746"/>
          </a:xfrm>
          <a:prstGeom prst="rect">
            <a:avLst/>
          </a:prstGeom>
        </p:spPr>
        <p:txBody>
          <a:bodyPr anchor="t" rtlCol="false" tIns="0" lIns="0" bIns="0" rIns="0">
            <a:spAutoFit/>
          </a:bodyPr>
          <a:lstStyle/>
          <a:p>
            <a:pPr algn="l">
              <a:lnSpc>
                <a:spcPts val="8369"/>
              </a:lnSpc>
            </a:pPr>
            <a:r>
              <a:rPr lang="en-US" sz="5978">
                <a:solidFill>
                  <a:srgbClr val="FFFFFF"/>
                </a:solidFill>
                <a:latin typeface="Glacial Indifference"/>
                <a:ea typeface="Glacial Indifference"/>
                <a:cs typeface="Glacial Indifference"/>
                <a:sym typeface="Glacial Indifference"/>
              </a:rPr>
              <a:t>Ing. Daniel Gonzalez</a:t>
            </a:r>
          </a:p>
        </p:txBody>
      </p:sp>
      <p:sp>
        <p:nvSpPr>
          <p:cNvPr name="TextBox 17" id="17"/>
          <p:cNvSpPr txBox="true"/>
          <p:nvPr/>
        </p:nvSpPr>
        <p:spPr>
          <a:xfrm rot="0">
            <a:off x="1028700" y="4392066"/>
            <a:ext cx="11011133" cy="537774"/>
          </a:xfrm>
          <a:prstGeom prst="rect">
            <a:avLst/>
          </a:prstGeom>
        </p:spPr>
        <p:txBody>
          <a:bodyPr anchor="t" rtlCol="false" tIns="0" lIns="0" bIns="0" rIns="0">
            <a:spAutoFit/>
          </a:bodyPr>
          <a:lstStyle/>
          <a:p>
            <a:pPr algn="l">
              <a:lnSpc>
                <a:spcPts val="4268"/>
              </a:lnSpc>
            </a:pPr>
            <a:r>
              <a:rPr lang="en-US" sz="3648">
                <a:solidFill>
                  <a:srgbClr val="FFFFFF"/>
                </a:solidFill>
                <a:latin typeface="League Spartan"/>
                <a:ea typeface="League Spartan"/>
                <a:cs typeface="League Spartan"/>
                <a:sym typeface="League Spartan"/>
              </a:rPr>
              <a:t>COMPUTACION AVANZADA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6415435" y="9292010"/>
            <a:ext cx="11872565" cy="1989980"/>
            <a:chOff x="0" y="0"/>
            <a:chExt cx="3126931" cy="524110"/>
          </a:xfrm>
        </p:grpSpPr>
        <p:sp>
          <p:nvSpPr>
            <p:cNvPr name="Freeform 4" id="4"/>
            <p:cNvSpPr/>
            <p:nvPr/>
          </p:nvSpPr>
          <p:spPr>
            <a:xfrm flipH="false" flipV="false" rot="0">
              <a:off x="0" y="0"/>
              <a:ext cx="3126931" cy="524110"/>
            </a:xfrm>
            <a:custGeom>
              <a:avLst/>
              <a:gdLst/>
              <a:ahLst/>
              <a:cxnLst/>
              <a:rect r="r" b="b" t="t" l="l"/>
              <a:pathLst>
                <a:path h="524110" w="3126931">
                  <a:moveTo>
                    <a:pt x="0" y="0"/>
                  </a:moveTo>
                  <a:lnTo>
                    <a:pt x="3126931" y="0"/>
                  </a:lnTo>
                  <a:lnTo>
                    <a:pt x="3126931" y="524110"/>
                  </a:lnTo>
                  <a:lnTo>
                    <a:pt x="0" y="524110"/>
                  </a:lnTo>
                  <a:close/>
                </a:path>
              </a:pathLst>
            </a:custGeom>
            <a:solidFill>
              <a:srgbClr val="114160"/>
            </a:solidFill>
          </p:spPr>
        </p:sp>
        <p:sp>
          <p:nvSpPr>
            <p:cNvPr name="TextBox 5" id="5"/>
            <p:cNvSpPr txBox="true"/>
            <p:nvPr/>
          </p:nvSpPr>
          <p:spPr>
            <a:xfrm>
              <a:off x="0" y="-28575"/>
              <a:ext cx="3126931" cy="55268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3259660" y="-6775671"/>
            <a:ext cx="15061871" cy="10726217"/>
            <a:chOff x="0" y="0"/>
            <a:chExt cx="20082495" cy="14301622"/>
          </a:xfrm>
        </p:grpSpPr>
        <p:grpSp>
          <p:nvGrpSpPr>
            <p:cNvPr name="Group 7" id="7"/>
            <p:cNvGrpSpPr/>
            <p:nvPr/>
          </p:nvGrpSpPr>
          <p:grpSpPr>
            <a:xfrm rot="-2389105">
              <a:off x="-60138" y="4699996"/>
              <a:ext cx="15253484" cy="5336633"/>
              <a:chOff x="0" y="0"/>
              <a:chExt cx="3013034" cy="1054150"/>
            </a:xfrm>
          </p:grpSpPr>
          <p:sp>
            <p:nvSpPr>
              <p:cNvPr name="Freeform 8" id="8"/>
              <p:cNvSpPr/>
              <p:nvPr/>
            </p:nvSpPr>
            <p:spPr>
              <a:xfrm flipH="false" flipV="false" rot="0">
                <a:off x="0" y="0"/>
                <a:ext cx="3013034" cy="1054150"/>
              </a:xfrm>
              <a:custGeom>
                <a:avLst/>
                <a:gdLst/>
                <a:ahLst/>
                <a:cxnLst/>
                <a:rect r="r" b="b" t="t" l="l"/>
                <a:pathLst>
                  <a:path h="1054150" w="3013034">
                    <a:moveTo>
                      <a:pt x="0" y="0"/>
                    </a:moveTo>
                    <a:lnTo>
                      <a:pt x="3013034" y="0"/>
                    </a:lnTo>
                    <a:lnTo>
                      <a:pt x="3013034" y="1054150"/>
                    </a:lnTo>
                    <a:lnTo>
                      <a:pt x="0" y="1054150"/>
                    </a:lnTo>
                    <a:close/>
                  </a:path>
                </a:pathLst>
              </a:custGeom>
              <a:solidFill>
                <a:srgbClr val="114160"/>
              </a:solidFill>
            </p:spPr>
          </p:sp>
          <p:sp>
            <p:nvSpPr>
              <p:cNvPr name="TextBox 9" id="9"/>
              <p:cNvSpPr txBox="true"/>
              <p:nvPr/>
            </p:nvSpPr>
            <p:spPr>
              <a:xfrm>
                <a:off x="0" y="-38100"/>
                <a:ext cx="3013034" cy="109225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1359352">
              <a:off x="4389705" y="2731886"/>
              <a:ext cx="15253484" cy="5336633"/>
              <a:chOff x="0" y="0"/>
              <a:chExt cx="3013034" cy="1054150"/>
            </a:xfrm>
          </p:grpSpPr>
          <p:sp>
            <p:nvSpPr>
              <p:cNvPr name="Freeform 11" id="11"/>
              <p:cNvSpPr/>
              <p:nvPr/>
            </p:nvSpPr>
            <p:spPr>
              <a:xfrm flipH="false" flipV="false" rot="0">
                <a:off x="0" y="0"/>
                <a:ext cx="3013034" cy="1054150"/>
              </a:xfrm>
              <a:custGeom>
                <a:avLst/>
                <a:gdLst/>
                <a:ahLst/>
                <a:cxnLst/>
                <a:rect r="r" b="b" t="t" l="l"/>
                <a:pathLst>
                  <a:path h="1054150" w="3013034">
                    <a:moveTo>
                      <a:pt x="0" y="0"/>
                    </a:moveTo>
                    <a:lnTo>
                      <a:pt x="3013034" y="0"/>
                    </a:lnTo>
                    <a:lnTo>
                      <a:pt x="3013034" y="1054150"/>
                    </a:lnTo>
                    <a:lnTo>
                      <a:pt x="0" y="1054150"/>
                    </a:lnTo>
                    <a:close/>
                  </a:path>
                </a:pathLst>
              </a:custGeom>
              <a:solidFill>
                <a:srgbClr val="728A94"/>
              </a:solidFill>
            </p:spPr>
          </p:sp>
          <p:sp>
            <p:nvSpPr>
              <p:cNvPr name="TextBox 12" id="12"/>
              <p:cNvSpPr txBox="true"/>
              <p:nvPr/>
            </p:nvSpPr>
            <p:spPr>
              <a:xfrm>
                <a:off x="0" y="-38100"/>
                <a:ext cx="3013034" cy="1092250"/>
              </a:xfrm>
              <a:prstGeom prst="rect">
                <a:avLst/>
              </a:prstGeom>
            </p:spPr>
            <p:txBody>
              <a:bodyPr anchor="ctr" rtlCol="false" tIns="50800" lIns="50800" bIns="50800" rIns="50800"/>
              <a:lstStyle/>
              <a:p>
                <a:pPr algn="ctr">
                  <a:lnSpc>
                    <a:spcPts val="2659"/>
                  </a:lnSpc>
                </a:pPr>
              </a:p>
            </p:txBody>
          </p:sp>
        </p:grpSp>
      </p:grpSp>
      <p:sp>
        <p:nvSpPr>
          <p:cNvPr name="Freeform 13" id="13"/>
          <p:cNvSpPr/>
          <p:nvPr/>
        </p:nvSpPr>
        <p:spPr>
          <a:xfrm flipH="false" flipV="false" rot="0">
            <a:off x="16913838" y="599500"/>
            <a:ext cx="894882" cy="3351046"/>
          </a:xfrm>
          <a:custGeom>
            <a:avLst/>
            <a:gdLst/>
            <a:ahLst/>
            <a:cxnLst/>
            <a:rect r="r" b="b" t="t" l="l"/>
            <a:pathLst>
              <a:path h="3351046" w="894882">
                <a:moveTo>
                  <a:pt x="0" y="0"/>
                </a:moveTo>
                <a:lnTo>
                  <a:pt x="894881" y="0"/>
                </a:lnTo>
                <a:lnTo>
                  <a:pt x="894881" y="3351046"/>
                </a:lnTo>
                <a:lnTo>
                  <a:pt x="0" y="33510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954984" y="8062874"/>
            <a:ext cx="1909968" cy="2224126"/>
          </a:xfrm>
          <a:custGeom>
            <a:avLst/>
            <a:gdLst/>
            <a:ahLst/>
            <a:cxnLst/>
            <a:rect r="r" b="b" t="t" l="l"/>
            <a:pathLst>
              <a:path h="2224126" w="1909968">
                <a:moveTo>
                  <a:pt x="0" y="0"/>
                </a:moveTo>
                <a:lnTo>
                  <a:pt x="1909968" y="0"/>
                </a:lnTo>
                <a:lnTo>
                  <a:pt x="1909968" y="2224126"/>
                </a:lnTo>
                <a:lnTo>
                  <a:pt x="0" y="22241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8835578" y="2950210"/>
            <a:ext cx="7765379" cy="5726430"/>
          </a:xfrm>
          <a:custGeom>
            <a:avLst/>
            <a:gdLst/>
            <a:ahLst/>
            <a:cxnLst/>
            <a:rect r="r" b="b" t="t" l="l"/>
            <a:pathLst>
              <a:path h="5726430" w="7765379">
                <a:moveTo>
                  <a:pt x="0" y="0"/>
                </a:moveTo>
                <a:lnTo>
                  <a:pt x="7765380" y="0"/>
                </a:lnTo>
                <a:lnTo>
                  <a:pt x="7765380" y="5726430"/>
                </a:lnTo>
                <a:lnTo>
                  <a:pt x="0" y="5726430"/>
                </a:lnTo>
                <a:lnTo>
                  <a:pt x="0" y="0"/>
                </a:lnTo>
                <a:close/>
              </a:path>
            </a:pathLst>
          </a:custGeom>
          <a:blipFill>
            <a:blip r:embed="rId7"/>
            <a:stretch>
              <a:fillRect l="0" t="-17802" r="0" b="-17802"/>
            </a:stretch>
          </a:blipFill>
        </p:spPr>
      </p:sp>
      <p:sp>
        <p:nvSpPr>
          <p:cNvPr name="TextBox 16" id="16"/>
          <p:cNvSpPr txBox="true"/>
          <p:nvPr/>
        </p:nvSpPr>
        <p:spPr>
          <a:xfrm rot="0">
            <a:off x="3141782" y="1276350"/>
            <a:ext cx="12004435" cy="1193800"/>
          </a:xfrm>
          <a:prstGeom prst="rect">
            <a:avLst/>
          </a:prstGeom>
        </p:spPr>
        <p:txBody>
          <a:bodyPr anchor="t" rtlCol="false" tIns="0" lIns="0" bIns="0" rIns="0">
            <a:spAutoFit/>
          </a:bodyPr>
          <a:lstStyle/>
          <a:p>
            <a:pPr algn="ctr">
              <a:lnSpc>
                <a:spcPts val="9799"/>
              </a:lnSpc>
            </a:pPr>
            <a:r>
              <a:rPr lang="en-US" sz="6999">
                <a:solidFill>
                  <a:srgbClr val="FFFFFF"/>
                </a:solidFill>
                <a:latin typeface="League Spartan"/>
                <a:ea typeface="League Spartan"/>
                <a:cs typeface="League Spartan"/>
                <a:sym typeface="League Spartan"/>
              </a:rPr>
              <a:t>INTRODUCCIÓN</a:t>
            </a:r>
          </a:p>
        </p:txBody>
      </p:sp>
      <p:sp>
        <p:nvSpPr>
          <p:cNvPr name="TextBox 17" id="17"/>
          <p:cNvSpPr txBox="true"/>
          <p:nvPr/>
        </p:nvSpPr>
        <p:spPr>
          <a:xfrm rot="0">
            <a:off x="954984" y="2883535"/>
            <a:ext cx="7567714" cy="6955155"/>
          </a:xfrm>
          <a:prstGeom prst="rect">
            <a:avLst/>
          </a:prstGeom>
        </p:spPr>
        <p:txBody>
          <a:bodyPr anchor="t" rtlCol="false" tIns="0" lIns="0" bIns="0" rIns="0">
            <a:spAutoFit/>
          </a:bodyPr>
          <a:lstStyle/>
          <a:p>
            <a:pPr algn="just">
              <a:lnSpc>
                <a:spcPts val="4620"/>
              </a:lnSpc>
            </a:pPr>
            <a:r>
              <a:rPr lang="en-US" sz="3300">
                <a:solidFill>
                  <a:srgbClr val="FFFFFF"/>
                </a:solidFill>
                <a:latin typeface="Glacial Indifference"/>
                <a:ea typeface="Glacial Indifference"/>
                <a:cs typeface="Glacial Indifference"/>
                <a:sym typeface="Glacial Indifference"/>
              </a:rPr>
              <a:t>Las redes neuronales son modelos computacionales basados en el cerebro humano, compuesto por capas de neuronas que procesan información mediante conexiones ponderadas que. aprenden a realizar tareas ajustando estos pesos con base en datos de entrenamiento. Dentro de las multiples tareas que se pueden realizar estan la clasificacion caso en el cual nos enfocaremos.</a:t>
            </a:r>
          </a:p>
          <a:p>
            <a:pPr algn="just">
              <a:lnSpc>
                <a:spcPts val="4620"/>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6415435" y="9292010"/>
            <a:ext cx="11872565" cy="1989980"/>
            <a:chOff x="0" y="0"/>
            <a:chExt cx="3126931" cy="524110"/>
          </a:xfrm>
        </p:grpSpPr>
        <p:sp>
          <p:nvSpPr>
            <p:cNvPr name="Freeform 4" id="4"/>
            <p:cNvSpPr/>
            <p:nvPr/>
          </p:nvSpPr>
          <p:spPr>
            <a:xfrm flipH="false" flipV="false" rot="0">
              <a:off x="0" y="0"/>
              <a:ext cx="3126931" cy="524110"/>
            </a:xfrm>
            <a:custGeom>
              <a:avLst/>
              <a:gdLst/>
              <a:ahLst/>
              <a:cxnLst/>
              <a:rect r="r" b="b" t="t" l="l"/>
              <a:pathLst>
                <a:path h="524110" w="3126931">
                  <a:moveTo>
                    <a:pt x="0" y="0"/>
                  </a:moveTo>
                  <a:lnTo>
                    <a:pt x="3126931" y="0"/>
                  </a:lnTo>
                  <a:lnTo>
                    <a:pt x="3126931" y="524110"/>
                  </a:lnTo>
                  <a:lnTo>
                    <a:pt x="0" y="524110"/>
                  </a:lnTo>
                  <a:close/>
                </a:path>
              </a:pathLst>
            </a:custGeom>
            <a:solidFill>
              <a:srgbClr val="114160"/>
            </a:solidFill>
          </p:spPr>
        </p:sp>
        <p:sp>
          <p:nvSpPr>
            <p:cNvPr name="TextBox 5" id="5"/>
            <p:cNvSpPr txBox="true"/>
            <p:nvPr/>
          </p:nvSpPr>
          <p:spPr>
            <a:xfrm>
              <a:off x="0" y="-28575"/>
              <a:ext cx="3126931" cy="55268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2389105">
            <a:off x="-2872312" y="-2818679"/>
            <a:ext cx="11440113" cy="4002475"/>
            <a:chOff x="0" y="0"/>
            <a:chExt cx="3013034" cy="1054150"/>
          </a:xfrm>
        </p:grpSpPr>
        <p:sp>
          <p:nvSpPr>
            <p:cNvPr name="Freeform 7" id="7"/>
            <p:cNvSpPr/>
            <p:nvPr/>
          </p:nvSpPr>
          <p:spPr>
            <a:xfrm flipH="false" flipV="false" rot="0">
              <a:off x="0" y="0"/>
              <a:ext cx="3013034" cy="1054150"/>
            </a:xfrm>
            <a:custGeom>
              <a:avLst/>
              <a:gdLst/>
              <a:ahLst/>
              <a:cxnLst/>
              <a:rect r="r" b="b" t="t" l="l"/>
              <a:pathLst>
                <a:path h="1054150" w="3013034">
                  <a:moveTo>
                    <a:pt x="0" y="0"/>
                  </a:moveTo>
                  <a:lnTo>
                    <a:pt x="3013034" y="0"/>
                  </a:lnTo>
                  <a:lnTo>
                    <a:pt x="3013034" y="1054150"/>
                  </a:lnTo>
                  <a:lnTo>
                    <a:pt x="0" y="1054150"/>
                  </a:lnTo>
                  <a:close/>
                </a:path>
              </a:pathLst>
            </a:custGeom>
            <a:solidFill>
              <a:srgbClr val="114160"/>
            </a:solidFill>
          </p:spPr>
        </p:sp>
        <p:sp>
          <p:nvSpPr>
            <p:cNvPr name="TextBox 8" id="8"/>
            <p:cNvSpPr txBox="true"/>
            <p:nvPr/>
          </p:nvSpPr>
          <p:spPr>
            <a:xfrm>
              <a:off x="0" y="-28575"/>
              <a:ext cx="3013034" cy="108272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359352">
            <a:off x="465070" y="-4294761"/>
            <a:ext cx="11440113" cy="4002475"/>
            <a:chOff x="0" y="0"/>
            <a:chExt cx="3013034" cy="1054150"/>
          </a:xfrm>
        </p:grpSpPr>
        <p:sp>
          <p:nvSpPr>
            <p:cNvPr name="Freeform 10" id="10"/>
            <p:cNvSpPr/>
            <p:nvPr/>
          </p:nvSpPr>
          <p:spPr>
            <a:xfrm flipH="false" flipV="false" rot="0">
              <a:off x="0" y="0"/>
              <a:ext cx="3013034" cy="1054150"/>
            </a:xfrm>
            <a:custGeom>
              <a:avLst/>
              <a:gdLst/>
              <a:ahLst/>
              <a:cxnLst/>
              <a:rect r="r" b="b" t="t" l="l"/>
              <a:pathLst>
                <a:path h="1054150" w="3013034">
                  <a:moveTo>
                    <a:pt x="0" y="0"/>
                  </a:moveTo>
                  <a:lnTo>
                    <a:pt x="3013034" y="0"/>
                  </a:lnTo>
                  <a:lnTo>
                    <a:pt x="3013034" y="1054150"/>
                  </a:lnTo>
                  <a:lnTo>
                    <a:pt x="0" y="1054150"/>
                  </a:lnTo>
                  <a:close/>
                </a:path>
              </a:pathLst>
            </a:custGeom>
            <a:solidFill>
              <a:srgbClr val="728A94"/>
            </a:solidFill>
          </p:spPr>
        </p:sp>
        <p:sp>
          <p:nvSpPr>
            <p:cNvPr name="TextBox 11" id="11"/>
            <p:cNvSpPr txBox="true"/>
            <p:nvPr/>
          </p:nvSpPr>
          <p:spPr>
            <a:xfrm>
              <a:off x="0" y="-28575"/>
              <a:ext cx="3013034" cy="1082725"/>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5976382" y="0"/>
            <a:ext cx="2311618" cy="2311618"/>
          </a:xfrm>
          <a:custGeom>
            <a:avLst/>
            <a:gdLst/>
            <a:ahLst/>
            <a:cxnLst/>
            <a:rect r="r" b="b" t="t" l="l"/>
            <a:pathLst>
              <a:path h="2311618" w="2311618">
                <a:moveTo>
                  <a:pt x="0" y="0"/>
                </a:moveTo>
                <a:lnTo>
                  <a:pt x="2311618" y="0"/>
                </a:lnTo>
                <a:lnTo>
                  <a:pt x="2311618" y="2311618"/>
                </a:lnTo>
                <a:lnTo>
                  <a:pt x="0" y="23116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498542" y="8496907"/>
            <a:ext cx="2101973" cy="2447713"/>
          </a:xfrm>
          <a:custGeom>
            <a:avLst/>
            <a:gdLst/>
            <a:ahLst/>
            <a:cxnLst/>
            <a:rect r="r" b="b" t="t" l="l"/>
            <a:pathLst>
              <a:path h="2447713" w="2101973">
                <a:moveTo>
                  <a:pt x="0" y="0"/>
                </a:moveTo>
                <a:lnTo>
                  <a:pt x="2101973" y="0"/>
                </a:lnTo>
                <a:lnTo>
                  <a:pt x="2101973" y="2447713"/>
                </a:lnTo>
                <a:lnTo>
                  <a:pt x="0" y="2447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4" id="14"/>
          <p:cNvSpPr txBox="true"/>
          <p:nvPr/>
        </p:nvSpPr>
        <p:spPr>
          <a:xfrm rot="0">
            <a:off x="3141782" y="866775"/>
            <a:ext cx="12004435" cy="1377949"/>
          </a:xfrm>
          <a:prstGeom prst="rect">
            <a:avLst/>
          </a:prstGeom>
        </p:spPr>
        <p:txBody>
          <a:bodyPr anchor="t" rtlCol="false" tIns="0" lIns="0" bIns="0" rIns="0">
            <a:spAutoFit/>
          </a:bodyPr>
          <a:lstStyle/>
          <a:p>
            <a:pPr algn="ctr">
              <a:lnSpc>
                <a:spcPts val="11200"/>
              </a:lnSpc>
            </a:pPr>
            <a:r>
              <a:rPr lang="en-US" sz="8000">
                <a:solidFill>
                  <a:srgbClr val="FFFFFF"/>
                </a:solidFill>
                <a:latin typeface="League Spartan"/>
                <a:ea typeface="League Spartan"/>
                <a:cs typeface="League Spartan"/>
                <a:sym typeface="League Spartan"/>
              </a:rPr>
              <a:t>METODOLOGIA</a:t>
            </a:r>
          </a:p>
        </p:txBody>
      </p:sp>
      <p:sp>
        <p:nvSpPr>
          <p:cNvPr name="TextBox 15" id="15"/>
          <p:cNvSpPr txBox="true"/>
          <p:nvPr/>
        </p:nvSpPr>
        <p:spPr>
          <a:xfrm rot="0">
            <a:off x="1186578" y="2666457"/>
            <a:ext cx="15532405" cy="6194514"/>
          </a:xfrm>
          <a:prstGeom prst="rect">
            <a:avLst/>
          </a:prstGeom>
        </p:spPr>
        <p:txBody>
          <a:bodyPr anchor="t" rtlCol="false" tIns="0" lIns="0" bIns="0" rIns="0">
            <a:spAutoFit/>
          </a:bodyPr>
          <a:lstStyle/>
          <a:p>
            <a:pPr algn="ctr">
              <a:lnSpc>
                <a:spcPts val="5462"/>
              </a:lnSpc>
            </a:pPr>
            <a:r>
              <a:rPr lang="en-US" sz="3901">
                <a:solidFill>
                  <a:srgbClr val="FFFFFF"/>
                </a:solidFill>
                <a:latin typeface="Glacial Indifference"/>
                <a:ea typeface="Glacial Indifference"/>
                <a:cs typeface="Glacial Indifference"/>
                <a:sym typeface="Glacial Indifference"/>
              </a:rPr>
              <a:t>Para este proyecto se decidió trabajar con programación modular debido a la escalabilidad que tiene este enfoque por lo que se desarrollaron varios archivos.</a:t>
            </a:r>
          </a:p>
          <a:p>
            <a:pPr algn="ctr">
              <a:lnSpc>
                <a:spcPts val="5462"/>
              </a:lnSpc>
            </a:pPr>
            <a:r>
              <a:rPr lang="en-US" sz="3901">
                <a:solidFill>
                  <a:srgbClr val="FFFFFF"/>
                </a:solidFill>
                <a:latin typeface="Glacial Indifference"/>
                <a:ea typeface="Glacial Indifference"/>
                <a:cs typeface="Glacial Indifference"/>
                <a:sym typeface="Glacial Indifference"/>
              </a:rPr>
              <a:t>Se desarrollo una interfaz grafica para ayudar al entrenamiento así como para poder guardar la información del entrenamiento para futuras aplicaciones.</a:t>
            </a:r>
          </a:p>
          <a:p>
            <a:pPr algn="ctr">
              <a:lnSpc>
                <a:spcPts val="5462"/>
              </a:lnSpc>
            </a:pPr>
            <a:r>
              <a:rPr lang="en-US" sz="3901">
                <a:solidFill>
                  <a:srgbClr val="FFFFFF"/>
                </a:solidFill>
                <a:latin typeface="Glacial Indifference"/>
                <a:ea typeface="Glacial Indifference"/>
                <a:cs typeface="Glacial Indifference"/>
                <a:sym typeface="Glacial Indifference"/>
              </a:rPr>
              <a:t>Con esto en mente y teniendo en cuenta el deseo de guardar la información se implemento un red neuronal perceptrón multicapa con una función de activación sigmoide y backpropagation.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6415435" y="9292010"/>
            <a:ext cx="11872565" cy="1989980"/>
            <a:chOff x="0" y="0"/>
            <a:chExt cx="3126931" cy="524110"/>
          </a:xfrm>
        </p:grpSpPr>
        <p:sp>
          <p:nvSpPr>
            <p:cNvPr name="Freeform 4" id="4"/>
            <p:cNvSpPr/>
            <p:nvPr/>
          </p:nvSpPr>
          <p:spPr>
            <a:xfrm flipH="false" flipV="false" rot="0">
              <a:off x="0" y="0"/>
              <a:ext cx="3126931" cy="524110"/>
            </a:xfrm>
            <a:custGeom>
              <a:avLst/>
              <a:gdLst/>
              <a:ahLst/>
              <a:cxnLst/>
              <a:rect r="r" b="b" t="t" l="l"/>
              <a:pathLst>
                <a:path h="524110" w="3126931">
                  <a:moveTo>
                    <a:pt x="0" y="0"/>
                  </a:moveTo>
                  <a:lnTo>
                    <a:pt x="3126931" y="0"/>
                  </a:lnTo>
                  <a:lnTo>
                    <a:pt x="3126931" y="524110"/>
                  </a:lnTo>
                  <a:lnTo>
                    <a:pt x="0" y="524110"/>
                  </a:lnTo>
                  <a:close/>
                </a:path>
              </a:pathLst>
            </a:custGeom>
            <a:solidFill>
              <a:srgbClr val="114160"/>
            </a:solidFill>
          </p:spPr>
        </p:sp>
        <p:sp>
          <p:nvSpPr>
            <p:cNvPr name="TextBox 5" id="5"/>
            <p:cNvSpPr txBox="true"/>
            <p:nvPr/>
          </p:nvSpPr>
          <p:spPr>
            <a:xfrm>
              <a:off x="0" y="-28575"/>
              <a:ext cx="3126931" cy="55268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2389105">
            <a:off x="-2872312" y="-2818679"/>
            <a:ext cx="11440113" cy="4002475"/>
            <a:chOff x="0" y="0"/>
            <a:chExt cx="3013034" cy="1054150"/>
          </a:xfrm>
        </p:grpSpPr>
        <p:sp>
          <p:nvSpPr>
            <p:cNvPr name="Freeform 7" id="7"/>
            <p:cNvSpPr/>
            <p:nvPr/>
          </p:nvSpPr>
          <p:spPr>
            <a:xfrm flipH="false" flipV="false" rot="0">
              <a:off x="0" y="0"/>
              <a:ext cx="3013034" cy="1054150"/>
            </a:xfrm>
            <a:custGeom>
              <a:avLst/>
              <a:gdLst/>
              <a:ahLst/>
              <a:cxnLst/>
              <a:rect r="r" b="b" t="t" l="l"/>
              <a:pathLst>
                <a:path h="1054150" w="3013034">
                  <a:moveTo>
                    <a:pt x="0" y="0"/>
                  </a:moveTo>
                  <a:lnTo>
                    <a:pt x="3013034" y="0"/>
                  </a:lnTo>
                  <a:lnTo>
                    <a:pt x="3013034" y="1054150"/>
                  </a:lnTo>
                  <a:lnTo>
                    <a:pt x="0" y="1054150"/>
                  </a:lnTo>
                  <a:close/>
                </a:path>
              </a:pathLst>
            </a:custGeom>
            <a:solidFill>
              <a:srgbClr val="114160"/>
            </a:solidFill>
          </p:spPr>
        </p:sp>
        <p:sp>
          <p:nvSpPr>
            <p:cNvPr name="TextBox 8" id="8"/>
            <p:cNvSpPr txBox="true"/>
            <p:nvPr/>
          </p:nvSpPr>
          <p:spPr>
            <a:xfrm>
              <a:off x="0" y="-28575"/>
              <a:ext cx="3013034" cy="108272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359352">
            <a:off x="465070" y="-4294761"/>
            <a:ext cx="11440113" cy="4002475"/>
            <a:chOff x="0" y="0"/>
            <a:chExt cx="3013034" cy="1054150"/>
          </a:xfrm>
        </p:grpSpPr>
        <p:sp>
          <p:nvSpPr>
            <p:cNvPr name="Freeform 10" id="10"/>
            <p:cNvSpPr/>
            <p:nvPr/>
          </p:nvSpPr>
          <p:spPr>
            <a:xfrm flipH="false" flipV="false" rot="0">
              <a:off x="0" y="0"/>
              <a:ext cx="3013034" cy="1054150"/>
            </a:xfrm>
            <a:custGeom>
              <a:avLst/>
              <a:gdLst/>
              <a:ahLst/>
              <a:cxnLst/>
              <a:rect r="r" b="b" t="t" l="l"/>
              <a:pathLst>
                <a:path h="1054150" w="3013034">
                  <a:moveTo>
                    <a:pt x="0" y="0"/>
                  </a:moveTo>
                  <a:lnTo>
                    <a:pt x="3013034" y="0"/>
                  </a:lnTo>
                  <a:lnTo>
                    <a:pt x="3013034" y="1054150"/>
                  </a:lnTo>
                  <a:lnTo>
                    <a:pt x="0" y="1054150"/>
                  </a:lnTo>
                  <a:close/>
                </a:path>
              </a:pathLst>
            </a:custGeom>
            <a:solidFill>
              <a:srgbClr val="728A94"/>
            </a:solidFill>
          </p:spPr>
        </p:sp>
        <p:sp>
          <p:nvSpPr>
            <p:cNvPr name="TextBox 11" id="11"/>
            <p:cNvSpPr txBox="true"/>
            <p:nvPr/>
          </p:nvSpPr>
          <p:spPr>
            <a:xfrm>
              <a:off x="0" y="-28575"/>
              <a:ext cx="3013034" cy="1082725"/>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5976382" y="0"/>
            <a:ext cx="2311618" cy="2311618"/>
          </a:xfrm>
          <a:custGeom>
            <a:avLst/>
            <a:gdLst/>
            <a:ahLst/>
            <a:cxnLst/>
            <a:rect r="r" b="b" t="t" l="l"/>
            <a:pathLst>
              <a:path h="2311618" w="2311618">
                <a:moveTo>
                  <a:pt x="0" y="0"/>
                </a:moveTo>
                <a:lnTo>
                  <a:pt x="2311618" y="0"/>
                </a:lnTo>
                <a:lnTo>
                  <a:pt x="2311618" y="2311618"/>
                </a:lnTo>
                <a:lnTo>
                  <a:pt x="0" y="23116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498542" y="8496907"/>
            <a:ext cx="2101973" cy="2447713"/>
          </a:xfrm>
          <a:custGeom>
            <a:avLst/>
            <a:gdLst/>
            <a:ahLst/>
            <a:cxnLst/>
            <a:rect r="r" b="b" t="t" l="l"/>
            <a:pathLst>
              <a:path h="2447713" w="2101973">
                <a:moveTo>
                  <a:pt x="0" y="0"/>
                </a:moveTo>
                <a:lnTo>
                  <a:pt x="2101973" y="0"/>
                </a:lnTo>
                <a:lnTo>
                  <a:pt x="2101973" y="2447713"/>
                </a:lnTo>
                <a:lnTo>
                  <a:pt x="0" y="24477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1775038" y="6215150"/>
            <a:ext cx="2733490" cy="1272736"/>
          </a:xfrm>
          <a:custGeom>
            <a:avLst/>
            <a:gdLst/>
            <a:ahLst/>
            <a:cxnLst/>
            <a:rect r="r" b="b" t="t" l="l"/>
            <a:pathLst>
              <a:path h="1272736" w="2733490">
                <a:moveTo>
                  <a:pt x="0" y="0"/>
                </a:moveTo>
                <a:lnTo>
                  <a:pt x="2733489" y="0"/>
                </a:lnTo>
                <a:lnTo>
                  <a:pt x="2733489" y="1272736"/>
                </a:lnTo>
                <a:lnTo>
                  <a:pt x="0" y="1272736"/>
                </a:lnTo>
                <a:lnTo>
                  <a:pt x="0" y="0"/>
                </a:lnTo>
                <a:close/>
              </a:path>
            </a:pathLst>
          </a:custGeom>
          <a:blipFill>
            <a:blip r:embed="rId8"/>
            <a:stretch>
              <a:fillRect l="0" t="0" r="0" b="0"/>
            </a:stretch>
          </a:blipFill>
        </p:spPr>
      </p:sp>
      <p:sp>
        <p:nvSpPr>
          <p:cNvPr name="Freeform 15" id="15"/>
          <p:cNvSpPr/>
          <p:nvPr/>
        </p:nvSpPr>
        <p:spPr>
          <a:xfrm flipH="false" flipV="false" rot="0">
            <a:off x="7189490" y="6215150"/>
            <a:ext cx="3509477" cy="1195038"/>
          </a:xfrm>
          <a:custGeom>
            <a:avLst/>
            <a:gdLst/>
            <a:ahLst/>
            <a:cxnLst/>
            <a:rect r="r" b="b" t="t" l="l"/>
            <a:pathLst>
              <a:path h="1195038" w="3509477">
                <a:moveTo>
                  <a:pt x="0" y="0"/>
                </a:moveTo>
                <a:lnTo>
                  <a:pt x="3509478" y="0"/>
                </a:lnTo>
                <a:lnTo>
                  <a:pt x="3509478" y="1195038"/>
                </a:lnTo>
                <a:lnTo>
                  <a:pt x="0" y="1195038"/>
                </a:lnTo>
                <a:lnTo>
                  <a:pt x="0" y="0"/>
                </a:lnTo>
                <a:close/>
              </a:path>
            </a:pathLst>
          </a:custGeom>
          <a:blipFill>
            <a:blip r:embed="rId9"/>
            <a:stretch>
              <a:fillRect l="0" t="0" r="0" b="0"/>
            </a:stretch>
          </a:blipFill>
        </p:spPr>
      </p:sp>
      <p:sp>
        <p:nvSpPr>
          <p:cNvPr name="TextBox 16" id="16"/>
          <p:cNvSpPr txBox="true"/>
          <p:nvPr/>
        </p:nvSpPr>
        <p:spPr>
          <a:xfrm rot="0">
            <a:off x="3141782" y="378679"/>
            <a:ext cx="12004435" cy="1377949"/>
          </a:xfrm>
          <a:prstGeom prst="rect">
            <a:avLst/>
          </a:prstGeom>
        </p:spPr>
        <p:txBody>
          <a:bodyPr anchor="t" rtlCol="false" tIns="0" lIns="0" bIns="0" rIns="0">
            <a:spAutoFit/>
          </a:bodyPr>
          <a:lstStyle/>
          <a:p>
            <a:pPr algn="ctr">
              <a:lnSpc>
                <a:spcPts val="11200"/>
              </a:lnSpc>
            </a:pPr>
            <a:r>
              <a:rPr lang="en-US" sz="8000">
                <a:solidFill>
                  <a:srgbClr val="FFFFFF"/>
                </a:solidFill>
                <a:latin typeface="League Spartan"/>
                <a:ea typeface="League Spartan"/>
                <a:cs typeface="League Spartan"/>
                <a:sym typeface="League Spartan"/>
              </a:rPr>
              <a:t>METODOLOGIA</a:t>
            </a:r>
          </a:p>
        </p:txBody>
      </p:sp>
      <p:sp>
        <p:nvSpPr>
          <p:cNvPr name="TextBox 17" id="17"/>
          <p:cNvSpPr txBox="true"/>
          <p:nvPr/>
        </p:nvSpPr>
        <p:spPr>
          <a:xfrm rot="0">
            <a:off x="790572" y="2357568"/>
            <a:ext cx="5057588" cy="3724232"/>
          </a:xfrm>
          <a:prstGeom prst="rect">
            <a:avLst/>
          </a:prstGeom>
        </p:spPr>
        <p:txBody>
          <a:bodyPr anchor="t" rtlCol="false" tIns="0" lIns="0" bIns="0" rIns="0">
            <a:spAutoFit/>
          </a:bodyPr>
          <a:lstStyle/>
          <a:p>
            <a:pPr algn="just">
              <a:lnSpc>
                <a:spcPts val="4202"/>
              </a:lnSpc>
            </a:pPr>
            <a:r>
              <a:rPr lang="en-US" sz="3001">
                <a:solidFill>
                  <a:srgbClr val="FFFFFF"/>
                </a:solidFill>
                <a:latin typeface="Glacial Indifference"/>
                <a:ea typeface="Glacial Indifference"/>
                <a:cs typeface="Glacial Indifference"/>
                <a:sym typeface="Glacial Indifference"/>
              </a:rPr>
              <a:t>Durante la propagacion hacia adelante cada neurona realiza una operación de suma ponderada seguida por una función de activación, en este caso una sigmoide, definida como:</a:t>
            </a:r>
          </a:p>
        </p:txBody>
      </p:sp>
      <p:sp>
        <p:nvSpPr>
          <p:cNvPr name="TextBox 18" id="18"/>
          <p:cNvSpPr txBox="true"/>
          <p:nvPr/>
        </p:nvSpPr>
        <p:spPr>
          <a:xfrm rot="0">
            <a:off x="3141782" y="1689953"/>
            <a:ext cx="12004435" cy="596894"/>
          </a:xfrm>
          <a:prstGeom prst="rect">
            <a:avLst/>
          </a:prstGeom>
        </p:spPr>
        <p:txBody>
          <a:bodyPr anchor="t" rtlCol="false" tIns="0" lIns="0" bIns="0" rIns="0">
            <a:spAutoFit/>
          </a:bodyPr>
          <a:lstStyle/>
          <a:p>
            <a:pPr algn="ctr">
              <a:lnSpc>
                <a:spcPts val="4900"/>
              </a:lnSpc>
            </a:pPr>
            <a:r>
              <a:rPr lang="en-US" sz="3500">
                <a:solidFill>
                  <a:srgbClr val="FFFFFF"/>
                </a:solidFill>
                <a:latin typeface="League Spartan"/>
                <a:ea typeface="League Spartan"/>
                <a:cs typeface="League Spartan"/>
                <a:sym typeface="League Spartan"/>
              </a:rPr>
              <a:t>RED PERCEPTRON</a:t>
            </a:r>
          </a:p>
        </p:txBody>
      </p:sp>
      <p:sp>
        <p:nvSpPr>
          <p:cNvPr name="TextBox 19" id="19"/>
          <p:cNvSpPr txBox="true"/>
          <p:nvPr/>
        </p:nvSpPr>
        <p:spPr>
          <a:xfrm rot="0">
            <a:off x="6415435" y="2357568"/>
            <a:ext cx="5057588" cy="3190832"/>
          </a:xfrm>
          <a:prstGeom prst="rect">
            <a:avLst/>
          </a:prstGeom>
        </p:spPr>
        <p:txBody>
          <a:bodyPr anchor="t" rtlCol="false" tIns="0" lIns="0" bIns="0" rIns="0">
            <a:spAutoFit/>
          </a:bodyPr>
          <a:lstStyle/>
          <a:p>
            <a:pPr algn="just">
              <a:lnSpc>
                <a:spcPts val="4202"/>
              </a:lnSpc>
            </a:pPr>
            <a:r>
              <a:rPr lang="en-US" sz="3001">
                <a:solidFill>
                  <a:srgbClr val="FFFFFF"/>
                </a:solidFill>
                <a:latin typeface="Glacial Indifference"/>
                <a:ea typeface="Glacial Indifference"/>
                <a:cs typeface="Glacial Indifference"/>
                <a:sym typeface="Glacial Indifference"/>
              </a:rPr>
              <a:t>Al final de la red se calcula el error entre el resultado de la red y la etiqueta real utilizando una función de pérdida como el error cuadrático medio (MSE):</a:t>
            </a:r>
          </a:p>
        </p:txBody>
      </p:sp>
      <p:sp>
        <p:nvSpPr>
          <p:cNvPr name="TextBox 20" id="20"/>
          <p:cNvSpPr txBox="true"/>
          <p:nvPr/>
        </p:nvSpPr>
        <p:spPr>
          <a:xfrm rot="0">
            <a:off x="12044523" y="2357568"/>
            <a:ext cx="5057588" cy="3724232"/>
          </a:xfrm>
          <a:prstGeom prst="rect">
            <a:avLst/>
          </a:prstGeom>
        </p:spPr>
        <p:txBody>
          <a:bodyPr anchor="t" rtlCol="false" tIns="0" lIns="0" bIns="0" rIns="0">
            <a:spAutoFit/>
          </a:bodyPr>
          <a:lstStyle/>
          <a:p>
            <a:pPr algn="just">
              <a:lnSpc>
                <a:spcPts val="4202"/>
              </a:lnSpc>
            </a:pPr>
            <a:r>
              <a:rPr lang="en-US" sz="3001">
                <a:solidFill>
                  <a:srgbClr val="FFFFFF"/>
                </a:solidFill>
                <a:latin typeface="Glacial Indifference"/>
                <a:ea typeface="Glacial Indifference"/>
                <a:cs typeface="Glacial Indifference"/>
                <a:sym typeface="Glacial Indifference"/>
              </a:rPr>
              <a:t>Durante la retropropagación el error se propaga hacia atras de la red y se calcula el gradiente de la función de pérdida respecto a cada peso con lo cual se actualizan los pesos y sesgos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6415435" y="9292010"/>
            <a:ext cx="11872565" cy="1989980"/>
            <a:chOff x="0" y="0"/>
            <a:chExt cx="3126931" cy="524110"/>
          </a:xfrm>
        </p:grpSpPr>
        <p:sp>
          <p:nvSpPr>
            <p:cNvPr name="Freeform 4" id="4"/>
            <p:cNvSpPr/>
            <p:nvPr/>
          </p:nvSpPr>
          <p:spPr>
            <a:xfrm flipH="false" flipV="false" rot="0">
              <a:off x="0" y="0"/>
              <a:ext cx="3126931" cy="524110"/>
            </a:xfrm>
            <a:custGeom>
              <a:avLst/>
              <a:gdLst/>
              <a:ahLst/>
              <a:cxnLst/>
              <a:rect r="r" b="b" t="t" l="l"/>
              <a:pathLst>
                <a:path h="524110" w="3126931">
                  <a:moveTo>
                    <a:pt x="0" y="0"/>
                  </a:moveTo>
                  <a:lnTo>
                    <a:pt x="3126931" y="0"/>
                  </a:lnTo>
                  <a:lnTo>
                    <a:pt x="3126931" y="524110"/>
                  </a:lnTo>
                  <a:lnTo>
                    <a:pt x="0" y="524110"/>
                  </a:lnTo>
                  <a:close/>
                </a:path>
              </a:pathLst>
            </a:custGeom>
            <a:solidFill>
              <a:srgbClr val="114160"/>
            </a:solidFill>
          </p:spPr>
        </p:sp>
        <p:sp>
          <p:nvSpPr>
            <p:cNvPr name="TextBox 5" id="5"/>
            <p:cNvSpPr txBox="true"/>
            <p:nvPr/>
          </p:nvSpPr>
          <p:spPr>
            <a:xfrm>
              <a:off x="0" y="-28575"/>
              <a:ext cx="3126931" cy="55268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2389105">
            <a:off x="-2872312" y="-2818679"/>
            <a:ext cx="11440113" cy="4002475"/>
            <a:chOff x="0" y="0"/>
            <a:chExt cx="3013034" cy="1054150"/>
          </a:xfrm>
        </p:grpSpPr>
        <p:sp>
          <p:nvSpPr>
            <p:cNvPr name="Freeform 7" id="7"/>
            <p:cNvSpPr/>
            <p:nvPr/>
          </p:nvSpPr>
          <p:spPr>
            <a:xfrm flipH="false" flipV="false" rot="0">
              <a:off x="0" y="0"/>
              <a:ext cx="3013034" cy="1054150"/>
            </a:xfrm>
            <a:custGeom>
              <a:avLst/>
              <a:gdLst/>
              <a:ahLst/>
              <a:cxnLst/>
              <a:rect r="r" b="b" t="t" l="l"/>
              <a:pathLst>
                <a:path h="1054150" w="3013034">
                  <a:moveTo>
                    <a:pt x="0" y="0"/>
                  </a:moveTo>
                  <a:lnTo>
                    <a:pt x="3013034" y="0"/>
                  </a:lnTo>
                  <a:lnTo>
                    <a:pt x="3013034" y="1054150"/>
                  </a:lnTo>
                  <a:lnTo>
                    <a:pt x="0" y="1054150"/>
                  </a:lnTo>
                  <a:close/>
                </a:path>
              </a:pathLst>
            </a:custGeom>
            <a:solidFill>
              <a:srgbClr val="114160"/>
            </a:solidFill>
          </p:spPr>
        </p:sp>
        <p:sp>
          <p:nvSpPr>
            <p:cNvPr name="TextBox 8" id="8"/>
            <p:cNvSpPr txBox="true"/>
            <p:nvPr/>
          </p:nvSpPr>
          <p:spPr>
            <a:xfrm>
              <a:off x="0" y="-28575"/>
              <a:ext cx="3013034" cy="108272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359352">
            <a:off x="465070" y="-4294761"/>
            <a:ext cx="11440113" cy="4002475"/>
            <a:chOff x="0" y="0"/>
            <a:chExt cx="3013034" cy="1054150"/>
          </a:xfrm>
        </p:grpSpPr>
        <p:sp>
          <p:nvSpPr>
            <p:cNvPr name="Freeform 10" id="10"/>
            <p:cNvSpPr/>
            <p:nvPr/>
          </p:nvSpPr>
          <p:spPr>
            <a:xfrm flipH="false" flipV="false" rot="0">
              <a:off x="0" y="0"/>
              <a:ext cx="3013034" cy="1054150"/>
            </a:xfrm>
            <a:custGeom>
              <a:avLst/>
              <a:gdLst/>
              <a:ahLst/>
              <a:cxnLst/>
              <a:rect r="r" b="b" t="t" l="l"/>
              <a:pathLst>
                <a:path h="1054150" w="3013034">
                  <a:moveTo>
                    <a:pt x="0" y="0"/>
                  </a:moveTo>
                  <a:lnTo>
                    <a:pt x="3013034" y="0"/>
                  </a:lnTo>
                  <a:lnTo>
                    <a:pt x="3013034" y="1054150"/>
                  </a:lnTo>
                  <a:lnTo>
                    <a:pt x="0" y="1054150"/>
                  </a:lnTo>
                  <a:close/>
                </a:path>
              </a:pathLst>
            </a:custGeom>
            <a:solidFill>
              <a:srgbClr val="728A94"/>
            </a:solidFill>
          </p:spPr>
        </p:sp>
        <p:sp>
          <p:nvSpPr>
            <p:cNvPr name="TextBox 11" id="11"/>
            <p:cNvSpPr txBox="true"/>
            <p:nvPr/>
          </p:nvSpPr>
          <p:spPr>
            <a:xfrm>
              <a:off x="0" y="-28575"/>
              <a:ext cx="3013034" cy="1082725"/>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5976382" y="0"/>
            <a:ext cx="2311618" cy="2311618"/>
          </a:xfrm>
          <a:custGeom>
            <a:avLst/>
            <a:gdLst/>
            <a:ahLst/>
            <a:cxnLst/>
            <a:rect r="r" b="b" t="t" l="l"/>
            <a:pathLst>
              <a:path h="2311618" w="2311618">
                <a:moveTo>
                  <a:pt x="0" y="0"/>
                </a:moveTo>
                <a:lnTo>
                  <a:pt x="2311618" y="0"/>
                </a:lnTo>
                <a:lnTo>
                  <a:pt x="2311618" y="2311618"/>
                </a:lnTo>
                <a:lnTo>
                  <a:pt x="0" y="23116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498542" y="8496907"/>
            <a:ext cx="2101973" cy="2447713"/>
          </a:xfrm>
          <a:custGeom>
            <a:avLst/>
            <a:gdLst/>
            <a:ahLst/>
            <a:cxnLst/>
            <a:rect r="r" b="b" t="t" l="l"/>
            <a:pathLst>
              <a:path h="2447713" w="2101973">
                <a:moveTo>
                  <a:pt x="0" y="0"/>
                </a:moveTo>
                <a:lnTo>
                  <a:pt x="2101973" y="0"/>
                </a:lnTo>
                <a:lnTo>
                  <a:pt x="2101973" y="2447713"/>
                </a:lnTo>
                <a:lnTo>
                  <a:pt x="0" y="24477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3141782" y="378679"/>
            <a:ext cx="12004435" cy="1377949"/>
          </a:xfrm>
          <a:prstGeom prst="rect">
            <a:avLst/>
          </a:prstGeom>
        </p:spPr>
        <p:txBody>
          <a:bodyPr anchor="t" rtlCol="false" tIns="0" lIns="0" bIns="0" rIns="0">
            <a:spAutoFit/>
          </a:bodyPr>
          <a:lstStyle/>
          <a:p>
            <a:pPr algn="ctr">
              <a:lnSpc>
                <a:spcPts val="11200"/>
              </a:lnSpc>
            </a:pPr>
            <a:r>
              <a:rPr lang="en-US" sz="8000">
                <a:solidFill>
                  <a:srgbClr val="FFFFFF"/>
                </a:solidFill>
                <a:latin typeface="League Spartan"/>
                <a:ea typeface="League Spartan"/>
                <a:cs typeface="League Spartan"/>
                <a:sym typeface="League Spartan"/>
              </a:rPr>
              <a:t>METODOLOGIA</a:t>
            </a:r>
          </a:p>
        </p:txBody>
      </p:sp>
      <p:sp>
        <p:nvSpPr>
          <p:cNvPr name="TextBox 15" id="15"/>
          <p:cNvSpPr txBox="true"/>
          <p:nvPr/>
        </p:nvSpPr>
        <p:spPr>
          <a:xfrm rot="0">
            <a:off x="790572" y="2357568"/>
            <a:ext cx="16341619" cy="3724232"/>
          </a:xfrm>
          <a:prstGeom prst="rect">
            <a:avLst/>
          </a:prstGeom>
        </p:spPr>
        <p:txBody>
          <a:bodyPr anchor="t" rtlCol="false" tIns="0" lIns="0" bIns="0" rIns="0">
            <a:spAutoFit/>
          </a:bodyPr>
          <a:lstStyle/>
          <a:p>
            <a:pPr algn="just">
              <a:lnSpc>
                <a:spcPts val="4202"/>
              </a:lnSpc>
            </a:pPr>
            <a:r>
              <a:rPr lang="en-US" sz="3001">
                <a:solidFill>
                  <a:srgbClr val="FFFFFF"/>
                </a:solidFill>
                <a:latin typeface="Glacial Indifference"/>
                <a:ea typeface="Glacial Indifference"/>
                <a:cs typeface="Glacial Indifference"/>
                <a:sym typeface="Glacial Indifference"/>
              </a:rPr>
              <a:t>Durante el desarrollo del codigo se opto por crear clases con objetos para tener un mayor control sobre lo que queremos hacer asi como que se enfocara en algo mas general y no solo especifico.</a:t>
            </a:r>
          </a:p>
          <a:p>
            <a:pPr algn="just">
              <a:lnSpc>
                <a:spcPts val="4202"/>
              </a:lnSpc>
            </a:pPr>
            <a:r>
              <a:rPr lang="en-US" sz="3001">
                <a:solidFill>
                  <a:srgbClr val="FFFFFF"/>
                </a:solidFill>
                <a:latin typeface="Glacial Indifference"/>
                <a:ea typeface="Glacial Indifference"/>
                <a:cs typeface="Glacial Indifference"/>
                <a:sym typeface="Glacial Indifference"/>
              </a:rPr>
              <a:t>Por lo cual se crearon 3 clases principales cada una con ciertos atributos.</a:t>
            </a:r>
          </a:p>
          <a:p>
            <a:pPr algn="just" marL="648063" indent="-324031" lvl="1">
              <a:lnSpc>
                <a:spcPts val="4202"/>
              </a:lnSpc>
              <a:buFont typeface="Arial"/>
              <a:buChar char="•"/>
            </a:pPr>
            <a:r>
              <a:rPr lang="en-US" sz="3001">
                <a:solidFill>
                  <a:srgbClr val="FFFFFF"/>
                </a:solidFill>
                <a:latin typeface="Glacial Indifference"/>
                <a:ea typeface="Glacial Indifference"/>
                <a:cs typeface="Glacial Indifference"/>
                <a:sym typeface="Glacial Indifference"/>
              </a:rPr>
              <a:t>Neurona - Para cada unidad de computo con su funcion de activacion</a:t>
            </a:r>
          </a:p>
          <a:p>
            <a:pPr algn="just" marL="648063" indent="-324031" lvl="1">
              <a:lnSpc>
                <a:spcPts val="4202"/>
              </a:lnSpc>
              <a:buFont typeface="Arial"/>
              <a:buChar char="•"/>
            </a:pPr>
            <a:r>
              <a:rPr lang="en-US" sz="3001">
                <a:solidFill>
                  <a:srgbClr val="FFFFFF"/>
                </a:solidFill>
                <a:latin typeface="Glacial Indifference"/>
                <a:ea typeface="Glacial Indifference"/>
                <a:cs typeface="Glacial Indifference"/>
                <a:sym typeface="Glacial Indifference"/>
              </a:rPr>
              <a:t>Capa - Para agrupar y manejar diversas neuronas</a:t>
            </a:r>
          </a:p>
          <a:p>
            <a:pPr algn="just" marL="648063" indent="-324031" lvl="1">
              <a:lnSpc>
                <a:spcPts val="4202"/>
              </a:lnSpc>
              <a:buFont typeface="Arial"/>
              <a:buChar char="•"/>
            </a:pPr>
            <a:r>
              <a:rPr lang="en-US" sz="3001">
                <a:solidFill>
                  <a:srgbClr val="FFFFFF"/>
                </a:solidFill>
                <a:latin typeface="Glacial Indifference"/>
                <a:ea typeface="Glacial Indifference"/>
                <a:cs typeface="Glacial Indifference"/>
                <a:sym typeface="Glacial Indifference"/>
              </a:rPr>
              <a:t>RedNeuronal - Para controlar toda la estructura y su comportamiento</a:t>
            </a:r>
          </a:p>
          <a:p>
            <a:pPr algn="just">
              <a:lnSpc>
                <a:spcPts val="4202"/>
              </a:lnSpc>
            </a:pPr>
          </a:p>
        </p:txBody>
      </p:sp>
      <p:sp>
        <p:nvSpPr>
          <p:cNvPr name="TextBox 16" id="16"/>
          <p:cNvSpPr txBox="true"/>
          <p:nvPr/>
        </p:nvSpPr>
        <p:spPr>
          <a:xfrm rot="0">
            <a:off x="3141782" y="1689953"/>
            <a:ext cx="12004435" cy="596894"/>
          </a:xfrm>
          <a:prstGeom prst="rect">
            <a:avLst/>
          </a:prstGeom>
        </p:spPr>
        <p:txBody>
          <a:bodyPr anchor="t" rtlCol="false" tIns="0" lIns="0" bIns="0" rIns="0">
            <a:spAutoFit/>
          </a:bodyPr>
          <a:lstStyle/>
          <a:p>
            <a:pPr algn="ctr">
              <a:lnSpc>
                <a:spcPts val="4900"/>
              </a:lnSpc>
            </a:pPr>
            <a:r>
              <a:rPr lang="en-US" sz="3500">
                <a:solidFill>
                  <a:srgbClr val="FFFFFF"/>
                </a:solidFill>
                <a:latin typeface="League Spartan"/>
                <a:ea typeface="League Spartan"/>
                <a:cs typeface="League Spartan"/>
                <a:sym typeface="League Spartan"/>
              </a:rPr>
              <a:t>RED NEURONAL</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6415435" y="9292010"/>
            <a:ext cx="11872565" cy="1989980"/>
            <a:chOff x="0" y="0"/>
            <a:chExt cx="3126931" cy="524110"/>
          </a:xfrm>
        </p:grpSpPr>
        <p:sp>
          <p:nvSpPr>
            <p:cNvPr name="Freeform 4" id="4"/>
            <p:cNvSpPr/>
            <p:nvPr/>
          </p:nvSpPr>
          <p:spPr>
            <a:xfrm flipH="false" flipV="false" rot="0">
              <a:off x="0" y="0"/>
              <a:ext cx="3126931" cy="524110"/>
            </a:xfrm>
            <a:custGeom>
              <a:avLst/>
              <a:gdLst/>
              <a:ahLst/>
              <a:cxnLst/>
              <a:rect r="r" b="b" t="t" l="l"/>
              <a:pathLst>
                <a:path h="524110" w="3126931">
                  <a:moveTo>
                    <a:pt x="0" y="0"/>
                  </a:moveTo>
                  <a:lnTo>
                    <a:pt x="3126931" y="0"/>
                  </a:lnTo>
                  <a:lnTo>
                    <a:pt x="3126931" y="524110"/>
                  </a:lnTo>
                  <a:lnTo>
                    <a:pt x="0" y="524110"/>
                  </a:lnTo>
                  <a:close/>
                </a:path>
              </a:pathLst>
            </a:custGeom>
            <a:solidFill>
              <a:srgbClr val="114160"/>
            </a:solidFill>
          </p:spPr>
        </p:sp>
        <p:sp>
          <p:nvSpPr>
            <p:cNvPr name="TextBox 5" id="5"/>
            <p:cNvSpPr txBox="true"/>
            <p:nvPr/>
          </p:nvSpPr>
          <p:spPr>
            <a:xfrm>
              <a:off x="0" y="-28575"/>
              <a:ext cx="3126931" cy="55268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2389105">
            <a:off x="-2872312" y="-2818679"/>
            <a:ext cx="11440113" cy="4002475"/>
            <a:chOff x="0" y="0"/>
            <a:chExt cx="3013034" cy="1054150"/>
          </a:xfrm>
        </p:grpSpPr>
        <p:sp>
          <p:nvSpPr>
            <p:cNvPr name="Freeform 7" id="7"/>
            <p:cNvSpPr/>
            <p:nvPr/>
          </p:nvSpPr>
          <p:spPr>
            <a:xfrm flipH="false" flipV="false" rot="0">
              <a:off x="0" y="0"/>
              <a:ext cx="3013034" cy="1054150"/>
            </a:xfrm>
            <a:custGeom>
              <a:avLst/>
              <a:gdLst/>
              <a:ahLst/>
              <a:cxnLst/>
              <a:rect r="r" b="b" t="t" l="l"/>
              <a:pathLst>
                <a:path h="1054150" w="3013034">
                  <a:moveTo>
                    <a:pt x="0" y="0"/>
                  </a:moveTo>
                  <a:lnTo>
                    <a:pt x="3013034" y="0"/>
                  </a:lnTo>
                  <a:lnTo>
                    <a:pt x="3013034" y="1054150"/>
                  </a:lnTo>
                  <a:lnTo>
                    <a:pt x="0" y="1054150"/>
                  </a:lnTo>
                  <a:close/>
                </a:path>
              </a:pathLst>
            </a:custGeom>
            <a:solidFill>
              <a:srgbClr val="114160"/>
            </a:solidFill>
          </p:spPr>
        </p:sp>
        <p:sp>
          <p:nvSpPr>
            <p:cNvPr name="TextBox 8" id="8"/>
            <p:cNvSpPr txBox="true"/>
            <p:nvPr/>
          </p:nvSpPr>
          <p:spPr>
            <a:xfrm>
              <a:off x="0" y="-28575"/>
              <a:ext cx="3013034" cy="108272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359352">
            <a:off x="465070" y="-4294761"/>
            <a:ext cx="11440113" cy="4002475"/>
            <a:chOff x="0" y="0"/>
            <a:chExt cx="3013034" cy="1054150"/>
          </a:xfrm>
        </p:grpSpPr>
        <p:sp>
          <p:nvSpPr>
            <p:cNvPr name="Freeform 10" id="10"/>
            <p:cNvSpPr/>
            <p:nvPr/>
          </p:nvSpPr>
          <p:spPr>
            <a:xfrm flipH="false" flipV="false" rot="0">
              <a:off x="0" y="0"/>
              <a:ext cx="3013034" cy="1054150"/>
            </a:xfrm>
            <a:custGeom>
              <a:avLst/>
              <a:gdLst/>
              <a:ahLst/>
              <a:cxnLst/>
              <a:rect r="r" b="b" t="t" l="l"/>
              <a:pathLst>
                <a:path h="1054150" w="3013034">
                  <a:moveTo>
                    <a:pt x="0" y="0"/>
                  </a:moveTo>
                  <a:lnTo>
                    <a:pt x="3013034" y="0"/>
                  </a:lnTo>
                  <a:lnTo>
                    <a:pt x="3013034" y="1054150"/>
                  </a:lnTo>
                  <a:lnTo>
                    <a:pt x="0" y="1054150"/>
                  </a:lnTo>
                  <a:close/>
                </a:path>
              </a:pathLst>
            </a:custGeom>
            <a:solidFill>
              <a:srgbClr val="728A94"/>
            </a:solidFill>
          </p:spPr>
        </p:sp>
        <p:sp>
          <p:nvSpPr>
            <p:cNvPr name="TextBox 11" id="11"/>
            <p:cNvSpPr txBox="true"/>
            <p:nvPr/>
          </p:nvSpPr>
          <p:spPr>
            <a:xfrm>
              <a:off x="0" y="-28575"/>
              <a:ext cx="3013034" cy="1082725"/>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5976382" y="0"/>
            <a:ext cx="2311618" cy="2311618"/>
          </a:xfrm>
          <a:custGeom>
            <a:avLst/>
            <a:gdLst/>
            <a:ahLst/>
            <a:cxnLst/>
            <a:rect r="r" b="b" t="t" l="l"/>
            <a:pathLst>
              <a:path h="2311618" w="2311618">
                <a:moveTo>
                  <a:pt x="0" y="0"/>
                </a:moveTo>
                <a:lnTo>
                  <a:pt x="2311618" y="0"/>
                </a:lnTo>
                <a:lnTo>
                  <a:pt x="2311618" y="2311618"/>
                </a:lnTo>
                <a:lnTo>
                  <a:pt x="0" y="23116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498542" y="8496907"/>
            <a:ext cx="2101973" cy="2447713"/>
          </a:xfrm>
          <a:custGeom>
            <a:avLst/>
            <a:gdLst/>
            <a:ahLst/>
            <a:cxnLst/>
            <a:rect r="r" b="b" t="t" l="l"/>
            <a:pathLst>
              <a:path h="2447713" w="2101973">
                <a:moveTo>
                  <a:pt x="0" y="0"/>
                </a:moveTo>
                <a:lnTo>
                  <a:pt x="2101973" y="0"/>
                </a:lnTo>
                <a:lnTo>
                  <a:pt x="2101973" y="2447713"/>
                </a:lnTo>
                <a:lnTo>
                  <a:pt x="0" y="24477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3141782" y="378679"/>
            <a:ext cx="12004435" cy="1377949"/>
          </a:xfrm>
          <a:prstGeom prst="rect">
            <a:avLst/>
          </a:prstGeom>
        </p:spPr>
        <p:txBody>
          <a:bodyPr anchor="t" rtlCol="false" tIns="0" lIns="0" bIns="0" rIns="0">
            <a:spAutoFit/>
          </a:bodyPr>
          <a:lstStyle/>
          <a:p>
            <a:pPr algn="ctr">
              <a:lnSpc>
                <a:spcPts val="11200"/>
              </a:lnSpc>
            </a:pPr>
            <a:r>
              <a:rPr lang="en-US" sz="8000">
                <a:solidFill>
                  <a:srgbClr val="FFFFFF"/>
                </a:solidFill>
                <a:latin typeface="League Spartan"/>
                <a:ea typeface="League Spartan"/>
                <a:cs typeface="League Spartan"/>
                <a:sym typeface="League Spartan"/>
              </a:rPr>
              <a:t>METODOLOGIA</a:t>
            </a:r>
          </a:p>
        </p:txBody>
      </p:sp>
      <p:sp>
        <p:nvSpPr>
          <p:cNvPr name="TextBox 15" id="15"/>
          <p:cNvSpPr txBox="true"/>
          <p:nvPr/>
        </p:nvSpPr>
        <p:spPr>
          <a:xfrm rot="0">
            <a:off x="790572" y="2357568"/>
            <a:ext cx="16341619" cy="3724232"/>
          </a:xfrm>
          <a:prstGeom prst="rect">
            <a:avLst/>
          </a:prstGeom>
        </p:spPr>
        <p:txBody>
          <a:bodyPr anchor="t" rtlCol="false" tIns="0" lIns="0" bIns="0" rIns="0">
            <a:spAutoFit/>
          </a:bodyPr>
          <a:lstStyle/>
          <a:p>
            <a:pPr algn="just">
              <a:lnSpc>
                <a:spcPts val="4202"/>
              </a:lnSpc>
            </a:pPr>
            <a:r>
              <a:rPr lang="en-US" sz="3001">
                <a:solidFill>
                  <a:srgbClr val="FFFFFF"/>
                </a:solidFill>
                <a:latin typeface="Glacial Indifference"/>
                <a:ea typeface="Glacial Indifference"/>
                <a:cs typeface="Glacial Indifference"/>
                <a:sym typeface="Glacial Indifference"/>
              </a:rPr>
              <a:t>Esta arquitectura permite que el codigo sea más estructurado, escalable y limpio lo cual nos ayuda a que se pueda interpretar o corregir más adelante, esto hace que hecho de manera correcta incluso los modulos usados en el programa principal puedan ser exportados a nuevos proyectos.</a:t>
            </a:r>
          </a:p>
          <a:p>
            <a:pPr algn="just">
              <a:lnSpc>
                <a:spcPts val="4202"/>
              </a:lnSpc>
            </a:pPr>
          </a:p>
          <a:p>
            <a:pPr algn="just">
              <a:lnSpc>
                <a:spcPts val="4202"/>
              </a:lnSpc>
            </a:pPr>
            <a:r>
              <a:rPr lang="en-US" sz="3001">
                <a:solidFill>
                  <a:srgbClr val="FFFFFF"/>
                </a:solidFill>
                <a:latin typeface="Glacial Indifference"/>
                <a:ea typeface="Glacial Indifference"/>
                <a:cs typeface="Glacial Indifference"/>
                <a:sym typeface="Glacial Indifference"/>
              </a:rPr>
              <a:t>Para este proyecto se decidio usar 3 archivos aparte del principal los cuales nos ayudaran a separar la parte de GUI de la Red Neuronal, ademas de un archivo complemetario para interpretar las funciones matematicas.</a:t>
            </a:r>
          </a:p>
        </p:txBody>
      </p:sp>
      <p:sp>
        <p:nvSpPr>
          <p:cNvPr name="TextBox 16" id="16"/>
          <p:cNvSpPr txBox="true"/>
          <p:nvPr/>
        </p:nvSpPr>
        <p:spPr>
          <a:xfrm rot="0">
            <a:off x="3141782" y="1689953"/>
            <a:ext cx="12004435" cy="596894"/>
          </a:xfrm>
          <a:prstGeom prst="rect">
            <a:avLst/>
          </a:prstGeom>
        </p:spPr>
        <p:txBody>
          <a:bodyPr anchor="t" rtlCol="false" tIns="0" lIns="0" bIns="0" rIns="0">
            <a:spAutoFit/>
          </a:bodyPr>
          <a:lstStyle/>
          <a:p>
            <a:pPr algn="ctr">
              <a:lnSpc>
                <a:spcPts val="4900"/>
              </a:lnSpc>
            </a:pPr>
            <a:r>
              <a:rPr lang="en-US" sz="3500">
                <a:solidFill>
                  <a:srgbClr val="FFFFFF"/>
                </a:solidFill>
                <a:latin typeface="League Spartan"/>
                <a:ea typeface="League Spartan"/>
                <a:cs typeface="League Spartan"/>
                <a:sym typeface="League Spartan"/>
              </a:rPr>
              <a:t>PROGRAMACION MODULAR</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6415435" y="9292010"/>
            <a:ext cx="11872565" cy="1989980"/>
            <a:chOff x="0" y="0"/>
            <a:chExt cx="3126931" cy="524110"/>
          </a:xfrm>
        </p:grpSpPr>
        <p:sp>
          <p:nvSpPr>
            <p:cNvPr name="Freeform 4" id="4"/>
            <p:cNvSpPr/>
            <p:nvPr/>
          </p:nvSpPr>
          <p:spPr>
            <a:xfrm flipH="false" flipV="false" rot="0">
              <a:off x="0" y="0"/>
              <a:ext cx="3126931" cy="524110"/>
            </a:xfrm>
            <a:custGeom>
              <a:avLst/>
              <a:gdLst/>
              <a:ahLst/>
              <a:cxnLst/>
              <a:rect r="r" b="b" t="t" l="l"/>
              <a:pathLst>
                <a:path h="524110" w="3126931">
                  <a:moveTo>
                    <a:pt x="0" y="0"/>
                  </a:moveTo>
                  <a:lnTo>
                    <a:pt x="3126931" y="0"/>
                  </a:lnTo>
                  <a:lnTo>
                    <a:pt x="3126931" y="524110"/>
                  </a:lnTo>
                  <a:lnTo>
                    <a:pt x="0" y="524110"/>
                  </a:lnTo>
                  <a:close/>
                </a:path>
              </a:pathLst>
            </a:custGeom>
            <a:solidFill>
              <a:srgbClr val="114160"/>
            </a:solidFill>
          </p:spPr>
        </p:sp>
        <p:sp>
          <p:nvSpPr>
            <p:cNvPr name="TextBox 5" id="5"/>
            <p:cNvSpPr txBox="true"/>
            <p:nvPr/>
          </p:nvSpPr>
          <p:spPr>
            <a:xfrm>
              <a:off x="0" y="-28575"/>
              <a:ext cx="3126931" cy="55268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2389105">
            <a:off x="-2872312" y="-2818679"/>
            <a:ext cx="11440113" cy="4002475"/>
            <a:chOff x="0" y="0"/>
            <a:chExt cx="3013034" cy="1054150"/>
          </a:xfrm>
        </p:grpSpPr>
        <p:sp>
          <p:nvSpPr>
            <p:cNvPr name="Freeform 7" id="7"/>
            <p:cNvSpPr/>
            <p:nvPr/>
          </p:nvSpPr>
          <p:spPr>
            <a:xfrm flipH="false" flipV="false" rot="0">
              <a:off x="0" y="0"/>
              <a:ext cx="3013034" cy="1054150"/>
            </a:xfrm>
            <a:custGeom>
              <a:avLst/>
              <a:gdLst/>
              <a:ahLst/>
              <a:cxnLst/>
              <a:rect r="r" b="b" t="t" l="l"/>
              <a:pathLst>
                <a:path h="1054150" w="3013034">
                  <a:moveTo>
                    <a:pt x="0" y="0"/>
                  </a:moveTo>
                  <a:lnTo>
                    <a:pt x="3013034" y="0"/>
                  </a:lnTo>
                  <a:lnTo>
                    <a:pt x="3013034" y="1054150"/>
                  </a:lnTo>
                  <a:lnTo>
                    <a:pt x="0" y="1054150"/>
                  </a:lnTo>
                  <a:close/>
                </a:path>
              </a:pathLst>
            </a:custGeom>
            <a:solidFill>
              <a:srgbClr val="114160"/>
            </a:solidFill>
          </p:spPr>
        </p:sp>
        <p:sp>
          <p:nvSpPr>
            <p:cNvPr name="TextBox 8" id="8"/>
            <p:cNvSpPr txBox="true"/>
            <p:nvPr/>
          </p:nvSpPr>
          <p:spPr>
            <a:xfrm>
              <a:off x="0" y="-28575"/>
              <a:ext cx="3013034" cy="108272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359352">
            <a:off x="465070" y="-4294761"/>
            <a:ext cx="11440113" cy="4002475"/>
            <a:chOff x="0" y="0"/>
            <a:chExt cx="3013034" cy="1054150"/>
          </a:xfrm>
        </p:grpSpPr>
        <p:sp>
          <p:nvSpPr>
            <p:cNvPr name="Freeform 10" id="10"/>
            <p:cNvSpPr/>
            <p:nvPr/>
          </p:nvSpPr>
          <p:spPr>
            <a:xfrm flipH="false" flipV="false" rot="0">
              <a:off x="0" y="0"/>
              <a:ext cx="3013034" cy="1054150"/>
            </a:xfrm>
            <a:custGeom>
              <a:avLst/>
              <a:gdLst/>
              <a:ahLst/>
              <a:cxnLst/>
              <a:rect r="r" b="b" t="t" l="l"/>
              <a:pathLst>
                <a:path h="1054150" w="3013034">
                  <a:moveTo>
                    <a:pt x="0" y="0"/>
                  </a:moveTo>
                  <a:lnTo>
                    <a:pt x="3013034" y="0"/>
                  </a:lnTo>
                  <a:lnTo>
                    <a:pt x="3013034" y="1054150"/>
                  </a:lnTo>
                  <a:lnTo>
                    <a:pt x="0" y="1054150"/>
                  </a:lnTo>
                  <a:close/>
                </a:path>
              </a:pathLst>
            </a:custGeom>
            <a:solidFill>
              <a:srgbClr val="728A94"/>
            </a:solidFill>
          </p:spPr>
        </p:sp>
        <p:sp>
          <p:nvSpPr>
            <p:cNvPr name="TextBox 11" id="11"/>
            <p:cNvSpPr txBox="true"/>
            <p:nvPr/>
          </p:nvSpPr>
          <p:spPr>
            <a:xfrm>
              <a:off x="0" y="-28575"/>
              <a:ext cx="3013034" cy="1082725"/>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5976382" y="0"/>
            <a:ext cx="2311618" cy="2311618"/>
          </a:xfrm>
          <a:custGeom>
            <a:avLst/>
            <a:gdLst/>
            <a:ahLst/>
            <a:cxnLst/>
            <a:rect r="r" b="b" t="t" l="l"/>
            <a:pathLst>
              <a:path h="2311618" w="2311618">
                <a:moveTo>
                  <a:pt x="0" y="0"/>
                </a:moveTo>
                <a:lnTo>
                  <a:pt x="2311618" y="0"/>
                </a:lnTo>
                <a:lnTo>
                  <a:pt x="2311618" y="2311618"/>
                </a:lnTo>
                <a:lnTo>
                  <a:pt x="0" y="23116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498542" y="8496907"/>
            <a:ext cx="2101973" cy="2447713"/>
          </a:xfrm>
          <a:custGeom>
            <a:avLst/>
            <a:gdLst/>
            <a:ahLst/>
            <a:cxnLst/>
            <a:rect r="r" b="b" t="t" l="l"/>
            <a:pathLst>
              <a:path h="2447713" w="2101973">
                <a:moveTo>
                  <a:pt x="0" y="0"/>
                </a:moveTo>
                <a:lnTo>
                  <a:pt x="2101973" y="0"/>
                </a:lnTo>
                <a:lnTo>
                  <a:pt x="2101973" y="2447713"/>
                </a:lnTo>
                <a:lnTo>
                  <a:pt x="0" y="24477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4239385" y="4382541"/>
            <a:ext cx="9809230" cy="5067499"/>
          </a:xfrm>
          <a:custGeom>
            <a:avLst/>
            <a:gdLst/>
            <a:ahLst/>
            <a:cxnLst/>
            <a:rect r="r" b="b" t="t" l="l"/>
            <a:pathLst>
              <a:path h="5067499" w="9809230">
                <a:moveTo>
                  <a:pt x="0" y="0"/>
                </a:moveTo>
                <a:lnTo>
                  <a:pt x="9809230" y="0"/>
                </a:lnTo>
                <a:lnTo>
                  <a:pt x="9809230" y="5067498"/>
                </a:lnTo>
                <a:lnTo>
                  <a:pt x="0" y="5067498"/>
                </a:lnTo>
                <a:lnTo>
                  <a:pt x="0" y="0"/>
                </a:lnTo>
                <a:close/>
              </a:path>
            </a:pathLst>
          </a:custGeom>
          <a:blipFill>
            <a:blip r:embed="rId8"/>
            <a:stretch>
              <a:fillRect l="0" t="0" r="0" b="0"/>
            </a:stretch>
          </a:blipFill>
        </p:spPr>
      </p:sp>
      <p:sp>
        <p:nvSpPr>
          <p:cNvPr name="TextBox 15" id="15"/>
          <p:cNvSpPr txBox="true"/>
          <p:nvPr/>
        </p:nvSpPr>
        <p:spPr>
          <a:xfrm rot="0">
            <a:off x="3141782" y="378679"/>
            <a:ext cx="12004435" cy="1377949"/>
          </a:xfrm>
          <a:prstGeom prst="rect">
            <a:avLst/>
          </a:prstGeom>
        </p:spPr>
        <p:txBody>
          <a:bodyPr anchor="t" rtlCol="false" tIns="0" lIns="0" bIns="0" rIns="0">
            <a:spAutoFit/>
          </a:bodyPr>
          <a:lstStyle/>
          <a:p>
            <a:pPr algn="ctr">
              <a:lnSpc>
                <a:spcPts val="11200"/>
              </a:lnSpc>
            </a:pPr>
            <a:r>
              <a:rPr lang="en-US" sz="8000">
                <a:solidFill>
                  <a:srgbClr val="FFFFFF"/>
                </a:solidFill>
                <a:latin typeface="League Spartan"/>
                <a:ea typeface="League Spartan"/>
                <a:cs typeface="League Spartan"/>
                <a:sym typeface="League Spartan"/>
              </a:rPr>
              <a:t>METODOLOGIA</a:t>
            </a:r>
          </a:p>
        </p:txBody>
      </p:sp>
      <p:sp>
        <p:nvSpPr>
          <p:cNvPr name="TextBox 16" id="16"/>
          <p:cNvSpPr txBox="true"/>
          <p:nvPr/>
        </p:nvSpPr>
        <p:spPr>
          <a:xfrm rot="0">
            <a:off x="790572" y="2357568"/>
            <a:ext cx="16341619" cy="1590632"/>
          </a:xfrm>
          <a:prstGeom prst="rect">
            <a:avLst/>
          </a:prstGeom>
        </p:spPr>
        <p:txBody>
          <a:bodyPr anchor="t" rtlCol="false" tIns="0" lIns="0" bIns="0" rIns="0">
            <a:spAutoFit/>
          </a:bodyPr>
          <a:lstStyle/>
          <a:p>
            <a:pPr algn="just">
              <a:lnSpc>
                <a:spcPts val="4202"/>
              </a:lnSpc>
            </a:pPr>
            <a:r>
              <a:rPr lang="en-US" sz="3001">
                <a:solidFill>
                  <a:srgbClr val="FFFFFF"/>
                </a:solidFill>
                <a:latin typeface="Glacial Indifference"/>
                <a:ea typeface="Glacial Indifference"/>
                <a:cs typeface="Glacial Indifference"/>
                <a:sym typeface="Glacial Indifference"/>
              </a:rPr>
              <a:t>Para este proyecto no tenemos un archivo de entrada para entrenar nuestra Red, sin embargo conocemos matematicamente las propiedades de una señal Gauseana asi como de una No-Gauseana por lo cual se decidio generar nuestra propia fuente con la cual se entrenara la Red</a:t>
            </a:r>
          </a:p>
        </p:txBody>
      </p:sp>
      <p:sp>
        <p:nvSpPr>
          <p:cNvPr name="TextBox 17" id="17"/>
          <p:cNvSpPr txBox="true"/>
          <p:nvPr/>
        </p:nvSpPr>
        <p:spPr>
          <a:xfrm rot="0">
            <a:off x="3141782" y="1689953"/>
            <a:ext cx="12004435" cy="596894"/>
          </a:xfrm>
          <a:prstGeom prst="rect">
            <a:avLst/>
          </a:prstGeom>
        </p:spPr>
        <p:txBody>
          <a:bodyPr anchor="t" rtlCol="false" tIns="0" lIns="0" bIns="0" rIns="0">
            <a:spAutoFit/>
          </a:bodyPr>
          <a:lstStyle/>
          <a:p>
            <a:pPr algn="ctr">
              <a:lnSpc>
                <a:spcPts val="4900"/>
              </a:lnSpc>
            </a:pPr>
            <a:r>
              <a:rPr lang="en-US" sz="3500">
                <a:solidFill>
                  <a:srgbClr val="FFFFFF"/>
                </a:solidFill>
                <a:latin typeface="League Spartan"/>
                <a:ea typeface="League Spartan"/>
                <a:cs typeface="League Spartan"/>
                <a:sym typeface="League Spartan"/>
              </a:rPr>
              <a:t>EVALUACION Y CLASIFICACION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6415435" y="9292010"/>
            <a:ext cx="11872565" cy="1989980"/>
            <a:chOff x="0" y="0"/>
            <a:chExt cx="3126931" cy="524110"/>
          </a:xfrm>
        </p:grpSpPr>
        <p:sp>
          <p:nvSpPr>
            <p:cNvPr name="Freeform 4" id="4"/>
            <p:cNvSpPr/>
            <p:nvPr/>
          </p:nvSpPr>
          <p:spPr>
            <a:xfrm flipH="false" flipV="false" rot="0">
              <a:off x="0" y="0"/>
              <a:ext cx="3126931" cy="524110"/>
            </a:xfrm>
            <a:custGeom>
              <a:avLst/>
              <a:gdLst/>
              <a:ahLst/>
              <a:cxnLst/>
              <a:rect r="r" b="b" t="t" l="l"/>
              <a:pathLst>
                <a:path h="524110" w="3126931">
                  <a:moveTo>
                    <a:pt x="0" y="0"/>
                  </a:moveTo>
                  <a:lnTo>
                    <a:pt x="3126931" y="0"/>
                  </a:lnTo>
                  <a:lnTo>
                    <a:pt x="3126931" y="524110"/>
                  </a:lnTo>
                  <a:lnTo>
                    <a:pt x="0" y="524110"/>
                  </a:lnTo>
                  <a:close/>
                </a:path>
              </a:pathLst>
            </a:custGeom>
            <a:solidFill>
              <a:srgbClr val="114160"/>
            </a:solidFill>
          </p:spPr>
        </p:sp>
        <p:sp>
          <p:nvSpPr>
            <p:cNvPr name="TextBox 5" id="5"/>
            <p:cNvSpPr txBox="true"/>
            <p:nvPr/>
          </p:nvSpPr>
          <p:spPr>
            <a:xfrm>
              <a:off x="0" y="-28575"/>
              <a:ext cx="3126931" cy="55268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2389105">
            <a:off x="-2872312" y="-2818679"/>
            <a:ext cx="11440113" cy="4002475"/>
            <a:chOff x="0" y="0"/>
            <a:chExt cx="3013034" cy="1054150"/>
          </a:xfrm>
        </p:grpSpPr>
        <p:sp>
          <p:nvSpPr>
            <p:cNvPr name="Freeform 7" id="7"/>
            <p:cNvSpPr/>
            <p:nvPr/>
          </p:nvSpPr>
          <p:spPr>
            <a:xfrm flipH="false" flipV="false" rot="0">
              <a:off x="0" y="0"/>
              <a:ext cx="3013034" cy="1054150"/>
            </a:xfrm>
            <a:custGeom>
              <a:avLst/>
              <a:gdLst/>
              <a:ahLst/>
              <a:cxnLst/>
              <a:rect r="r" b="b" t="t" l="l"/>
              <a:pathLst>
                <a:path h="1054150" w="3013034">
                  <a:moveTo>
                    <a:pt x="0" y="0"/>
                  </a:moveTo>
                  <a:lnTo>
                    <a:pt x="3013034" y="0"/>
                  </a:lnTo>
                  <a:lnTo>
                    <a:pt x="3013034" y="1054150"/>
                  </a:lnTo>
                  <a:lnTo>
                    <a:pt x="0" y="1054150"/>
                  </a:lnTo>
                  <a:close/>
                </a:path>
              </a:pathLst>
            </a:custGeom>
            <a:solidFill>
              <a:srgbClr val="114160"/>
            </a:solidFill>
          </p:spPr>
        </p:sp>
        <p:sp>
          <p:nvSpPr>
            <p:cNvPr name="TextBox 8" id="8"/>
            <p:cNvSpPr txBox="true"/>
            <p:nvPr/>
          </p:nvSpPr>
          <p:spPr>
            <a:xfrm>
              <a:off x="0" y="-28575"/>
              <a:ext cx="3013034" cy="108272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359352">
            <a:off x="465070" y="-4294761"/>
            <a:ext cx="11440113" cy="4002475"/>
            <a:chOff x="0" y="0"/>
            <a:chExt cx="3013034" cy="1054150"/>
          </a:xfrm>
        </p:grpSpPr>
        <p:sp>
          <p:nvSpPr>
            <p:cNvPr name="Freeform 10" id="10"/>
            <p:cNvSpPr/>
            <p:nvPr/>
          </p:nvSpPr>
          <p:spPr>
            <a:xfrm flipH="false" flipV="false" rot="0">
              <a:off x="0" y="0"/>
              <a:ext cx="3013034" cy="1054150"/>
            </a:xfrm>
            <a:custGeom>
              <a:avLst/>
              <a:gdLst/>
              <a:ahLst/>
              <a:cxnLst/>
              <a:rect r="r" b="b" t="t" l="l"/>
              <a:pathLst>
                <a:path h="1054150" w="3013034">
                  <a:moveTo>
                    <a:pt x="0" y="0"/>
                  </a:moveTo>
                  <a:lnTo>
                    <a:pt x="3013034" y="0"/>
                  </a:lnTo>
                  <a:lnTo>
                    <a:pt x="3013034" y="1054150"/>
                  </a:lnTo>
                  <a:lnTo>
                    <a:pt x="0" y="1054150"/>
                  </a:lnTo>
                  <a:close/>
                </a:path>
              </a:pathLst>
            </a:custGeom>
            <a:solidFill>
              <a:srgbClr val="728A94"/>
            </a:solidFill>
          </p:spPr>
        </p:sp>
        <p:sp>
          <p:nvSpPr>
            <p:cNvPr name="TextBox 11" id="11"/>
            <p:cNvSpPr txBox="true"/>
            <p:nvPr/>
          </p:nvSpPr>
          <p:spPr>
            <a:xfrm>
              <a:off x="0" y="-28575"/>
              <a:ext cx="3013034" cy="1082725"/>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5976382" y="0"/>
            <a:ext cx="2311618" cy="2311618"/>
          </a:xfrm>
          <a:custGeom>
            <a:avLst/>
            <a:gdLst/>
            <a:ahLst/>
            <a:cxnLst/>
            <a:rect r="r" b="b" t="t" l="l"/>
            <a:pathLst>
              <a:path h="2311618" w="2311618">
                <a:moveTo>
                  <a:pt x="0" y="0"/>
                </a:moveTo>
                <a:lnTo>
                  <a:pt x="2311618" y="0"/>
                </a:lnTo>
                <a:lnTo>
                  <a:pt x="2311618" y="2311618"/>
                </a:lnTo>
                <a:lnTo>
                  <a:pt x="0" y="23116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498542" y="8496907"/>
            <a:ext cx="2101973" cy="2447713"/>
          </a:xfrm>
          <a:custGeom>
            <a:avLst/>
            <a:gdLst/>
            <a:ahLst/>
            <a:cxnLst/>
            <a:rect r="r" b="b" t="t" l="l"/>
            <a:pathLst>
              <a:path h="2447713" w="2101973">
                <a:moveTo>
                  <a:pt x="0" y="0"/>
                </a:moveTo>
                <a:lnTo>
                  <a:pt x="2101973" y="0"/>
                </a:lnTo>
                <a:lnTo>
                  <a:pt x="2101973" y="2447713"/>
                </a:lnTo>
                <a:lnTo>
                  <a:pt x="0" y="24477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4199318" y="3921201"/>
            <a:ext cx="9889364" cy="5370809"/>
          </a:xfrm>
          <a:custGeom>
            <a:avLst/>
            <a:gdLst/>
            <a:ahLst/>
            <a:cxnLst/>
            <a:rect r="r" b="b" t="t" l="l"/>
            <a:pathLst>
              <a:path h="5370809" w="9889364">
                <a:moveTo>
                  <a:pt x="0" y="0"/>
                </a:moveTo>
                <a:lnTo>
                  <a:pt x="9889364" y="0"/>
                </a:lnTo>
                <a:lnTo>
                  <a:pt x="9889364" y="5370809"/>
                </a:lnTo>
                <a:lnTo>
                  <a:pt x="0" y="5370809"/>
                </a:lnTo>
                <a:lnTo>
                  <a:pt x="0" y="0"/>
                </a:lnTo>
                <a:close/>
              </a:path>
            </a:pathLst>
          </a:custGeom>
          <a:blipFill>
            <a:blip r:embed="rId8"/>
            <a:stretch>
              <a:fillRect l="0" t="0" r="0" b="0"/>
            </a:stretch>
          </a:blipFill>
        </p:spPr>
      </p:sp>
      <p:sp>
        <p:nvSpPr>
          <p:cNvPr name="TextBox 15" id="15"/>
          <p:cNvSpPr txBox="true"/>
          <p:nvPr/>
        </p:nvSpPr>
        <p:spPr>
          <a:xfrm rot="0">
            <a:off x="3141782" y="378679"/>
            <a:ext cx="12004435" cy="1377949"/>
          </a:xfrm>
          <a:prstGeom prst="rect">
            <a:avLst/>
          </a:prstGeom>
        </p:spPr>
        <p:txBody>
          <a:bodyPr anchor="t" rtlCol="false" tIns="0" lIns="0" bIns="0" rIns="0">
            <a:spAutoFit/>
          </a:bodyPr>
          <a:lstStyle/>
          <a:p>
            <a:pPr algn="ctr">
              <a:lnSpc>
                <a:spcPts val="11200"/>
              </a:lnSpc>
            </a:pPr>
            <a:r>
              <a:rPr lang="en-US" sz="8000">
                <a:solidFill>
                  <a:srgbClr val="FFFFFF"/>
                </a:solidFill>
                <a:latin typeface="League Spartan"/>
                <a:ea typeface="League Spartan"/>
                <a:cs typeface="League Spartan"/>
                <a:sym typeface="League Spartan"/>
              </a:rPr>
              <a:t>RESULTADOS</a:t>
            </a:r>
          </a:p>
        </p:txBody>
      </p:sp>
      <p:sp>
        <p:nvSpPr>
          <p:cNvPr name="TextBox 16" id="16"/>
          <p:cNvSpPr txBox="true"/>
          <p:nvPr/>
        </p:nvSpPr>
        <p:spPr>
          <a:xfrm rot="0">
            <a:off x="917681" y="2244943"/>
            <a:ext cx="16341619" cy="1590632"/>
          </a:xfrm>
          <a:prstGeom prst="rect">
            <a:avLst/>
          </a:prstGeom>
        </p:spPr>
        <p:txBody>
          <a:bodyPr anchor="t" rtlCol="false" tIns="0" lIns="0" bIns="0" rIns="0">
            <a:spAutoFit/>
          </a:bodyPr>
          <a:lstStyle/>
          <a:p>
            <a:pPr algn="just">
              <a:lnSpc>
                <a:spcPts val="4202"/>
              </a:lnSpc>
            </a:pPr>
            <a:r>
              <a:rPr lang="en-US" sz="3001">
                <a:solidFill>
                  <a:srgbClr val="FFFFFF"/>
                </a:solidFill>
                <a:latin typeface="Glacial Indifference"/>
                <a:ea typeface="Glacial Indifference"/>
                <a:cs typeface="Glacial Indifference"/>
                <a:sym typeface="Glacial Indifference"/>
              </a:rPr>
              <a:t>Una vez entrenada nuestra Red se hace la prediccion sobre si la señal mostrada es gauseana o no sin embargo para este caso se opto por agregar el valor de salida para tener una mejor idea de la señal dado que en algunos casos aunqie se aproxima no es Gauseana del todo</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6415435" y="9292010"/>
            <a:ext cx="11872565" cy="1989980"/>
            <a:chOff x="0" y="0"/>
            <a:chExt cx="3126931" cy="524110"/>
          </a:xfrm>
        </p:grpSpPr>
        <p:sp>
          <p:nvSpPr>
            <p:cNvPr name="Freeform 4" id="4"/>
            <p:cNvSpPr/>
            <p:nvPr/>
          </p:nvSpPr>
          <p:spPr>
            <a:xfrm flipH="false" flipV="false" rot="0">
              <a:off x="0" y="0"/>
              <a:ext cx="3126931" cy="524110"/>
            </a:xfrm>
            <a:custGeom>
              <a:avLst/>
              <a:gdLst/>
              <a:ahLst/>
              <a:cxnLst/>
              <a:rect r="r" b="b" t="t" l="l"/>
              <a:pathLst>
                <a:path h="524110" w="3126931">
                  <a:moveTo>
                    <a:pt x="0" y="0"/>
                  </a:moveTo>
                  <a:lnTo>
                    <a:pt x="3126931" y="0"/>
                  </a:lnTo>
                  <a:lnTo>
                    <a:pt x="3126931" y="524110"/>
                  </a:lnTo>
                  <a:lnTo>
                    <a:pt x="0" y="524110"/>
                  </a:lnTo>
                  <a:close/>
                </a:path>
              </a:pathLst>
            </a:custGeom>
            <a:solidFill>
              <a:srgbClr val="114160"/>
            </a:solidFill>
          </p:spPr>
        </p:sp>
        <p:sp>
          <p:nvSpPr>
            <p:cNvPr name="TextBox 5" id="5"/>
            <p:cNvSpPr txBox="true"/>
            <p:nvPr/>
          </p:nvSpPr>
          <p:spPr>
            <a:xfrm>
              <a:off x="0" y="-28575"/>
              <a:ext cx="3126931" cy="55268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2389105">
            <a:off x="-2872312" y="-2818679"/>
            <a:ext cx="11440113" cy="4002475"/>
            <a:chOff x="0" y="0"/>
            <a:chExt cx="3013034" cy="1054150"/>
          </a:xfrm>
        </p:grpSpPr>
        <p:sp>
          <p:nvSpPr>
            <p:cNvPr name="Freeform 7" id="7"/>
            <p:cNvSpPr/>
            <p:nvPr/>
          </p:nvSpPr>
          <p:spPr>
            <a:xfrm flipH="false" flipV="false" rot="0">
              <a:off x="0" y="0"/>
              <a:ext cx="3013034" cy="1054150"/>
            </a:xfrm>
            <a:custGeom>
              <a:avLst/>
              <a:gdLst/>
              <a:ahLst/>
              <a:cxnLst/>
              <a:rect r="r" b="b" t="t" l="l"/>
              <a:pathLst>
                <a:path h="1054150" w="3013034">
                  <a:moveTo>
                    <a:pt x="0" y="0"/>
                  </a:moveTo>
                  <a:lnTo>
                    <a:pt x="3013034" y="0"/>
                  </a:lnTo>
                  <a:lnTo>
                    <a:pt x="3013034" y="1054150"/>
                  </a:lnTo>
                  <a:lnTo>
                    <a:pt x="0" y="1054150"/>
                  </a:lnTo>
                  <a:close/>
                </a:path>
              </a:pathLst>
            </a:custGeom>
            <a:solidFill>
              <a:srgbClr val="114160"/>
            </a:solidFill>
          </p:spPr>
        </p:sp>
        <p:sp>
          <p:nvSpPr>
            <p:cNvPr name="TextBox 8" id="8"/>
            <p:cNvSpPr txBox="true"/>
            <p:nvPr/>
          </p:nvSpPr>
          <p:spPr>
            <a:xfrm>
              <a:off x="0" y="-28575"/>
              <a:ext cx="3013034" cy="108272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359352">
            <a:off x="465070" y="-4294761"/>
            <a:ext cx="11440113" cy="4002475"/>
            <a:chOff x="0" y="0"/>
            <a:chExt cx="3013034" cy="1054150"/>
          </a:xfrm>
        </p:grpSpPr>
        <p:sp>
          <p:nvSpPr>
            <p:cNvPr name="Freeform 10" id="10"/>
            <p:cNvSpPr/>
            <p:nvPr/>
          </p:nvSpPr>
          <p:spPr>
            <a:xfrm flipH="false" flipV="false" rot="0">
              <a:off x="0" y="0"/>
              <a:ext cx="3013034" cy="1054150"/>
            </a:xfrm>
            <a:custGeom>
              <a:avLst/>
              <a:gdLst/>
              <a:ahLst/>
              <a:cxnLst/>
              <a:rect r="r" b="b" t="t" l="l"/>
              <a:pathLst>
                <a:path h="1054150" w="3013034">
                  <a:moveTo>
                    <a:pt x="0" y="0"/>
                  </a:moveTo>
                  <a:lnTo>
                    <a:pt x="3013034" y="0"/>
                  </a:lnTo>
                  <a:lnTo>
                    <a:pt x="3013034" y="1054150"/>
                  </a:lnTo>
                  <a:lnTo>
                    <a:pt x="0" y="1054150"/>
                  </a:lnTo>
                  <a:close/>
                </a:path>
              </a:pathLst>
            </a:custGeom>
            <a:solidFill>
              <a:srgbClr val="728A94"/>
            </a:solidFill>
          </p:spPr>
        </p:sp>
        <p:sp>
          <p:nvSpPr>
            <p:cNvPr name="TextBox 11" id="11"/>
            <p:cNvSpPr txBox="true"/>
            <p:nvPr/>
          </p:nvSpPr>
          <p:spPr>
            <a:xfrm>
              <a:off x="0" y="-28575"/>
              <a:ext cx="3013034" cy="1082725"/>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5976382" y="0"/>
            <a:ext cx="2311618" cy="2311618"/>
          </a:xfrm>
          <a:custGeom>
            <a:avLst/>
            <a:gdLst/>
            <a:ahLst/>
            <a:cxnLst/>
            <a:rect r="r" b="b" t="t" l="l"/>
            <a:pathLst>
              <a:path h="2311618" w="2311618">
                <a:moveTo>
                  <a:pt x="0" y="0"/>
                </a:moveTo>
                <a:lnTo>
                  <a:pt x="2311618" y="0"/>
                </a:lnTo>
                <a:lnTo>
                  <a:pt x="2311618" y="2311618"/>
                </a:lnTo>
                <a:lnTo>
                  <a:pt x="0" y="23116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498542" y="8496907"/>
            <a:ext cx="2101973" cy="2447713"/>
          </a:xfrm>
          <a:custGeom>
            <a:avLst/>
            <a:gdLst/>
            <a:ahLst/>
            <a:cxnLst/>
            <a:rect r="r" b="b" t="t" l="l"/>
            <a:pathLst>
              <a:path h="2447713" w="2101973">
                <a:moveTo>
                  <a:pt x="0" y="0"/>
                </a:moveTo>
                <a:lnTo>
                  <a:pt x="2101973" y="0"/>
                </a:lnTo>
                <a:lnTo>
                  <a:pt x="2101973" y="2447713"/>
                </a:lnTo>
                <a:lnTo>
                  <a:pt x="0" y="24477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3141782" y="378679"/>
            <a:ext cx="12004435" cy="1377949"/>
          </a:xfrm>
          <a:prstGeom prst="rect">
            <a:avLst/>
          </a:prstGeom>
        </p:spPr>
        <p:txBody>
          <a:bodyPr anchor="t" rtlCol="false" tIns="0" lIns="0" bIns="0" rIns="0">
            <a:spAutoFit/>
          </a:bodyPr>
          <a:lstStyle/>
          <a:p>
            <a:pPr algn="ctr">
              <a:lnSpc>
                <a:spcPts val="11200"/>
              </a:lnSpc>
            </a:pPr>
            <a:r>
              <a:rPr lang="en-US" sz="8000">
                <a:solidFill>
                  <a:srgbClr val="FFFFFF"/>
                </a:solidFill>
                <a:latin typeface="League Spartan"/>
                <a:ea typeface="League Spartan"/>
                <a:cs typeface="League Spartan"/>
                <a:sym typeface="League Spartan"/>
              </a:rPr>
              <a:t>CONCLUSIONES</a:t>
            </a:r>
          </a:p>
        </p:txBody>
      </p:sp>
      <p:sp>
        <p:nvSpPr>
          <p:cNvPr name="TextBox 15" id="15"/>
          <p:cNvSpPr txBox="true"/>
          <p:nvPr/>
        </p:nvSpPr>
        <p:spPr>
          <a:xfrm rot="0">
            <a:off x="790572" y="2357568"/>
            <a:ext cx="16341619" cy="3724232"/>
          </a:xfrm>
          <a:prstGeom prst="rect">
            <a:avLst/>
          </a:prstGeom>
        </p:spPr>
        <p:txBody>
          <a:bodyPr anchor="t" rtlCol="false" tIns="0" lIns="0" bIns="0" rIns="0">
            <a:spAutoFit/>
          </a:bodyPr>
          <a:lstStyle/>
          <a:p>
            <a:pPr algn="just">
              <a:lnSpc>
                <a:spcPts val="4202"/>
              </a:lnSpc>
            </a:pPr>
            <a:r>
              <a:rPr lang="en-US" sz="3001">
                <a:solidFill>
                  <a:srgbClr val="FFFFFF"/>
                </a:solidFill>
                <a:latin typeface="Glacial Indifference"/>
                <a:ea typeface="Glacial Indifference"/>
                <a:cs typeface="Glacial Indifference"/>
                <a:sym typeface="Glacial Indifference"/>
              </a:rPr>
              <a:t>Para este proyecto el entrenamiento toma un poco de tiempo que aunque no es demasiado no es instantaneo tampoco esto hace que la seccion de guardar y cargar pesos sea mas importante.</a:t>
            </a:r>
          </a:p>
          <a:p>
            <a:pPr algn="just">
              <a:lnSpc>
                <a:spcPts val="4202"/>
              </a:lnSpc>
            </a:pPr>
          </a:p>
          <a:p>
            <a:pPr algn="just">
              <a:lnSpc>
                <a:spcPts val="4202"/>
              </a:lnSpc>
            </a:pPr>
            <a:r>
              <a:rPr lang="en-US" sz="3001">
                <a:solidFill>
                  <a:srgbClr val="FFFFFF"/>
                </a:solidFill>
                <a:latin typeface="Glacial Indifference"/>
                <a:ea typeface="Glacial Indifference"/>
                <a:cs typeface="Glacial Indifference"/>
                <a:sym typeface="Glacial Indifference"/>
              </a:rPr>
              <a:t>A su vez durante el desarrollo del mismo se enfrento con el problema de generar un entrenamiento correcto de los datos ya que esta es la columna vertebral de nuestra Red ya que si se requiere identificar patrones que no coinciden con nuestro entrenamiento los resultados no seran los esperados.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DAGpLEQ9fds</dc:identifier>
  <dcterms:modified xsi:type="dcterms:W3CDTF">2011-08-01T06:04:30Z</dcterms:modified>
  <cp:revision>1</cp:revision>
  <dc:title>CA_NN_Funciones</dc:title>
</cp:coreProperties>
</file>