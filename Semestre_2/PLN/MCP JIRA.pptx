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65" r:id="rId3"/>
    <p:sldId id="257" r:id="rId4"/>
    <p:sldId id="258" r:id="rId5"/>
    <p:sldId id="266" r:id="rId6"/>
    <p:sldId id="267" r:id="rId7"/>
    <p:sldId id="26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F0832C-EBFA-427F-8045-162AD560EB59}" type="datetimeFigureOut">
              <a:rPr lang="es-MX" smtClean="0"/>
              <a:t>11/11/2025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DFA703-8703-485C-941C-F9B2FB5BA40E}" type="slidenum">
              <a:rPr lang="es-MX" smtClean="0"/>
              <a:t>‹Nº›</a:t>
            </a:fld>
            <a:endParaRPr lang="es-MX"/>
          </a:p>
        </p:txBody>
      </p:sp>
    </p:spTree>
    <p:extLst>
      <p:ext uri="{BB962C8B-B14F-4D97-AF65-F5344CB8AC3E}">
        <p14:creationId xmlns:p14="http://schemas.microsoft.com/office/powerpoint/2010/main" val="3627134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A4DFA703-8703-485C-941C-F9B2FB5BA40E}" type="slidenum">
              <a:rPr lang="es-MX" smtClean="0"/>
              <a:t>1</a:t>
            </a:fld>
            <a:endParaRPr lang="es-MX"/>
          </a:p>
        </p:txBody>
      </p:sp>
    </p:spTree>
    <p:extLst>
      <p:ext uri="{BB962C8B-B14F-4D97-AF65-F5344CB8AC3E}">
        <p14:creationId xmlns:p14="http://schemas.microsoft.com/office/powerpoint/2010/main" val="18507422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11/11/2025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29317-24CB-4CF2-A6F0-A97B02D55F0E}"/>
              </a:ext>
            </a:extLst>
          </p:cNvPr>
          <p:cNvSpPr>
            <a:spLocks noGrp="1"/>
          </p:cNvSpPr>
          <p:nvPr>
            <p:ph type="ctrTitle"/>
          </p:nvPr>
        </p:nvSpPr>
        <p:spPr>
          <a:xfrm>
            <a:off x="2414336" y="1839499"/>
            <a:ext cx="7197726" cy="2421464"/>
          </a:xfrm>
        </p:spPr>
        <p:txBody>
          <a:bodyPr/>
          <a:lstStyle/>
          <a:p>
            <a:pPr algn="ctr"/>
            <a:r>
              <a:rPr lang="es-MX" dirty="0"/>
              <a:t>MCP para gestor de proyectos con metodología ágil JIRA</a:t>
            </a:r>
          </a:p>
        </p:txBody>
      </p:sp>
      <p:sp>
        <p:nvSpPr>
          <p:cNvPr id="3" name="CuadroTexto 2">
            <a:extLst>
              <a:ext uri="{FF2B5EF4-FFF2-40B4-BE49-F238E27FC236}">
                <a16:creationId xmlns:a16="http://schemas.microsoft.com/office/drawing/2014/main" id="{F4A37BE3-F39B-BA6C-2CB5-CD841BAF2BAD}"/>
              </a:ext>
            </a:extLst>
          </p:cNvPr>
          <p:cNvSpPr txBox="1"/>
          <p:nvPr/>
        </p:nvSpPr>
        <p:spPr>
          <a:xfrm>
            <a:off x="6792686" y="5029200"/>
            <a:ext cx="3590022" cy="646331"/>
          </a:xfrm>
          <a:prstGeom prst="rect">
            <a:avLst/>
          </a:prstGeom>
          <a:noFill/>
        </p:spPr>
        <p:txBody>
          <a:bodyPr wrap="none" rtlCol="0">
            <a:spAutoFit/>
          </a:bodyPr>
          <a:lstStyle/>
          <a:p>
            <a:r>
              <a:rPr lang="es-MX" cap="all" dirty="0">
                <a:ln w="3175" cmpd="sng">
                  <a:noFill/>
                </a:ln>
                <a:latin typeface="+mj-lt"/>
                <a:ea typeface="+mj-ea"/>
                <a:cs typeface="+mj-cs"/>
              </a:rPr>
              <a:t>Presenta: ing. Guerra Michael &amp;</a:t>
            </a:r>
          </a:p>
          <a:p>
            <a:r>
              <a:rPr lang="es-MX" cap="all" dirty="0">
                <a:ln w="3175" cmpd="sng">
                  <a:noFill/>
                </a:ln>
                <a:latin typeface="+mj-lt"/>
                <a:ea typeface="+mj-ea"/>
                <a:cs typeface="+mj-cs"/>
              </a:rPr>
              <a:t>		   Ing. Gonzalez Daniel</a:t>
            </a:r>
          </a:p>
        </p:txBody>
      </p:sp>
    </p:spTree>
    <p:extLst>
      <p:ext uri="{BB962C8B-B14F-4D97-AF65-F5344CB8AC3E}">
        <p14:creationId xmlns:p14="http://schemas.microsoft.com/office/powerpoint/2010/main" val="2580809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779DE4-ADA3-7206-A8BE-B7B4AA256106}"/>
              </a:ext>
            </a:extLst>
          </p:cNvPr>
          <p:cNvSpPr>
            <a:spLocks noGrp="1"/>
          </p:cNvSpPr>
          <p:nvPr>
            <p:ph type="title"/>
          </p:nvPr>
        </p:nvSpPr>
        <p:spPr/>
        <p:txBody>
          <a:bodyPr/>
          <a:lstStyle/>
          <a:p>
            <a:r>
              <a:rPr lang="es-MX" dirty="0"/>
              <a:t>Introducción</a:t>
            </a:r>
          </a:p>
        </p:txBody>
      </p:sp>
      <p:sp>
        <p:nvSpPr>
          <p:cNvPr id="4" name="Marcador de contenido 3">
            <a:extLst>
              <a:ext uri="{FF2B5EF4-FFF2-40B4-BE49-F238E27FC236}">
                <a16:creationId xmlns:a16="http://schemas.microsoft.com/office/drawing/2014/main" id="{585F3F19-7B8B-2FD2-2679-AA380E699E62}"/>
              </a:ext>
            </a:extLst>
          </p:cNvPr>
          <p:cNvSpPr>
            <a:spLocks noGrp="1"/>
          </p:cNvSpPr>
          <p:nvPr>
            <p:ph sz="half" idx="1"/>
          </p:nvPr>
        </p:nvSpPr>
        <p:spPr/>
        <p:txBody>
          <a:bodyPr/>
          <a:lstStyle/>
          <a:p>
            <a:r>
              <a:rPr lang="es-MX" dirty="0"/>
              <a:t> ¿Qué es JIRA?</a:t>
            </a:r>
          </a:p>
          <a:p>
            <a:pPr marL="457200" lvl="1" indent="0">
              <a:buNone/>
            </a:pPr>
            <a:r>
              <a:rPr lang="es-MX" dirty="0"/>
              <a:t>JIRA es una plataforma de gestión de proyectos desarrollada en un inicio para el desarrollo de software como apoyo para hacer seguimiento del estado del SW con base en la metodología SCRUM.</a:t>
            </a:r>
          </a:p>
          <a:p>
            <a:pPr lvl="1"/>
            <a:r>
              <a:rPr lang="es-MX" dirty="0"/>
              <a:t>Epics</a:t>
            </a:r>
          </a:p>
          <a:p>
            <a:pPr lvl="1"/>
            <a:r>
              <a:rPr lang="es-MX" dirty="0"/>
              <a:t>Stories</a:t>
            </a:r>
          </a:p>
          <a:p>
            <a:pPr lvl="1"/>
            <a:r>
              <a:rPr lang="es-MX" dirty="0"/>
              <a:t>Task</a:t>
            </a:r>
          </a:p>
          <a:p>
            <a:pPr lvl="1"/>
            <a:r>
              <a:rPr lang="es-MX" dirty="0"/>
              <a:t>Sub-</a:t>
            </a:r>
            <a:r>
              <a:rPr lang="es-MX" dirty="0" err="1"/>
              <a:t>Task</a:t>
            </a:r>
            <a:endParaRPr lang="es-MX" dirty="0"/>
          </a:p>
        </p:txBody>
      </p:sp>
      <p:sp>
        <p:nvSpPr>
          <p:cNvPr id="5" name="Marcador de contenido 4">
            <a:extLst>
              <a:ext uri="{FF2B5EF4-FFF2-40B4-BE49-F238E27FC236}">
                <a16:creationId xmlns:a16="http://schemas.microsoft.com/office/drawing/2014/main" id="{54A846E9-BF8A-C920-C81E-C58469127692}"/>
              </a:ext>
            </a:extLst>
          </p:cNvPr>
          <p:cNvSpPr>
            <a:spLocks noGrp="1"/>
          </p:cNvSpPr>
          <p:nvPr>
            <p:ph sz="half" idx="2"/>
          </p:nvPr>
        </p:nvSpPr>
        <p:spPr/>
        <p:txBody>
          <a:bodyPr/>
          <a:lstStyle/>
          <a:p>
            <a:r>
              <a:rPr lang="es-MX" dirty="0"/>
              <a:t>Aunque puede haber variaciones en la organización, principalmente existe un Administrador encargado de asignar las tareas y llevar el control de las tareas.</a:t>
            </a:r>
          </a:p>
          <a:p>
            <a:r>
              <a:rPr lang="es-MX" dirty="0"/>
              <a:t>Sin embargo con el uso de herramientas de IA podemos hacer más eficiente este proceso con un formato mas amigable como puede ser un chatbot.</a:t>
            </a:r>
          </a:p>
        </p:txBody>
      </p:sp>
      <p:grpSp>
        <p:nvGrpSpPr>
          <p:cNvPr id="7" name="Grupo 6">
            <a:extLst>
              <a:ext uri="{FF2B5EF4-FFF2-40B4-BE49-F238E27FC236}">
                <a16:creationId xmlns:a16="http://schemas.microsoft.com/office/drawing/2014/main" id="{DEB76388-8919-279D-22BD-8BC730756597}"/>
              </a:ext>
            </a:extLst>
          </p:cNvPr>
          <p:cNvGrpSpPr/>
          <p:nvPr/>
        </p:nvGrpSpPr>
        <p:grpSpPr>
          <a:xfrm>
            <a:off x="7877369" y="6048113"/>
            <a:ext cx="4058816" cy="625151"/>
            <a:chOff x="7877369" y="6048113"/>
            <a:chExt cx="4058816" cy="625151"/>
          </a:xfrm>
        </p:grpSpPr>
        <p:sp>
          <p:nvSpPr>
            <p:cNvPr id="6" name="Rectángulo 5">
              <a:extLst>
                <a:ext uri="{FF2B5EF4-FFF2-40B4-BE49-F238E27FC236}">
                  <a16:creationId xmlns:a16="http://schemas.microsoft.com/office/drawing/2014/main" id="{53C5E152-EF24-6D71-606C-B26746EF63F8}"/>
                </a:ext>
              </a:extLst>
            </p:cNvPr>
            <p:cNvSpPr/>
            <p:nvPr/>
          </p:nvSpPr>
          <p:spPr>
            <a:xfrm>
              <a:off x="7877369" y="6048113"/>
              <a:ext cx="4058816" cy="62515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26" name="Picture 2" descr="undefined">
              <a:extLst>
                <a:ext uri="{FF2B5EF4-FFF2-40B4-BE49-F238E27FC236}">
                  <a16:creationId xmlns:a16="http://schemas.microsoft.com/office/drawing/2014/main" id="{3F58BA50-682B-9C97-8323-F917D4951B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8323" y="6115934"/>
              <a:ext cx="3736909" cy="48951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9424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CB45-F82B-D5E6-3939-AD51B270576D}"/>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01DF26DB-4765-70CF-4033-B0E4F9AD4737}"/>
              </a:ext>
            </a:extLst>
          </p:cNvPr>
          <p:cNvSpPr>
            <a:spLocks noGrp="1"/>
          </p:cNvSpPr>
          <p:nvPr>
            <p:ph idx="1"/>
          </p:nvPr>
        </p:nvSpPr>
        <p:spPr>
          <a:xfrm>
            <a:off x="685801" y="814582"/>
            <a:ext cx="10131425" cy="3649133"/>
          </a:xfrm>
        </p:spPr>
        <p:txBody>
          <a:bodyPr/>
          <a:lstStyle/>
          <a:p>
            <a:pPr marL="0" indent="0">
              <a:buNone/>
            </a:pPr>
            <a:r>
              <a:rPr lang="es-ES" dirty="0"/>
              <a:t>Este proyecto implementa una solución inteligente que conecta un modelo de lenguaje (LLM) con el protocolo </a:t>
            </a:r>
            <a:r>
              <a:rPr lang="es-ES" dirty="0" err="1"/>
              <a:t>Model</a:t>
            </a:r>
            <a:r>
              <a:rPr lang="es-ES" dirty="0"/>
              <a:t> </a:t>
            </a:r>
            <a:r>
              <a:rPr lang="es-ES" dirty="0" err="1"/>
              <a:t>Context</a:t>
            </a:r>
            <a:r>
              <a:rPr lang="es-ES" dirty="0"/>
              <a:t> </a:t>
            </a:r>
            <a:r>
              <a:rPr lang="es-ES" dirty="0" err="1"/>
              <a:t>Protocol</a:t>
            </a:r>
            <a:r>
              <a:rPr lang="es-ES" dirty="0"/>
              <a:t> (MCP) para interactuar directamente con Jira. El objetivo es automatizar la creación de tareas, obtener información contextual de proyectos y facilitar la gestión ágil mediante lenguaje natural. Al aprovechar las capacidades de razonamiento del LLM y la estructura de MCP, los usuarios pueden consultar el estado de sus proyectos, generar tickets y recibir actualizaciones sin necesidad de navegar manualmente por la interfaz de Jira.</a:t>
            </a:r>
            <a:endParaRPr lang="es-MX" dirty="0"/>
          </a:p>
        </p:txBody>
      </p:sp>
      <p:pic>
        <p:nvPicPr>
          <p:cNvPr id="5" name="Gráfico 4" descr="Hombre con relleno sólido">
            <a:extLst>
              <a:ext uri="{FF2B5EF4-FFF2-40B4-BE49-F238E27FC236}">
                <a16:creationId xmlns:a16="http://schemas.microsoft.com/office/drawing/2014/main" id="{46842B66-84DA-69AA-54CC-336D7E793D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8178" y="4006807"/>
            <a:ext cx="1779037" cy="1779037"/>
          </a:xfrm>
          <a:prstGeom prst="rect">
            <a:avLst/>
          </a:prstGeom>
        </p:spPr>
      </p:pic>
      <p:sp>
        <p:nvSpPr>
          <p:cNvPr id="6" name="Flecha: a la derecha 5">
            <a:extLst>
              <a:ext uri="{FF2B5EF4-FFF2-40B4-BE49-F238E27FC236}">
                <a16:creationId xmlns:a16="http://schemas.microsoft.com/office/drawing/2014/main" id="{E8A4EEED-9B15-11D6-D3A9-D7EBA4341AC0}"/>
              </a:ext>
            </a:extLst>
          </p:cNvPr>
          <p:cNvSpPr/>
          <p:nvPr/>
        </p:nvSpPr>
        <p:spPr>
          <a:xfrm>
            <a:off x="2523930" y="4497354"/>
            <a:ext cx="961053" cy="8024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a:extLst>
              <a:ext uri="{FF2B5EF4-FFF2-40B4-BE49-F238E27FC236}">
                <a16:creationId xmlns:a16="http://schemas.microsoft.com/office/drawing/2014/main" id="{B763A17D-C9BB-69C7-D529-1242194409B0}"/>
              </a:ext>
            </a:extLst>
          </p:cNvPr>
          <p:cNvSpPr txBox="1"/>
          <p:nvPr/>
        </p:nvSpPr>
        <p:spPr>
          <a:xfrm>
            <a:off x="3281265" y="4173050"/>
            <a:ext cx="1390262" cy="1446550"/>
          </a:xfrm>
          <a:prstGeom prst="rect">
            <a:avLst/>
          </a:prstGeom>
          <a:noFill/>
        </p:spPr>
        <p:txBody>
          <a:bodyPr wrap="square" rtlCol="0">
            <a:spAutoFit/>
          </a:bodyPr>
          <a:lstStyle/>
          <a:p>
            <a:r>
              <a:rPr lang="es-MX" sz="8800" dirty="0"/>
              <a:t>🤖</a:t>
            </a:r>
          </a:p>
        </p:txBody>
      </p:sp>
      <p:sp>
        <p:nvSpPr>
          <p:cNvPr id="8" name="Flecha: a la derecha 7">
            <a:extLst>
              <a:ext uri="{FF2B5EF4-FFF2-40B4-BE49-F238E27FC236}">
                <a16:creationId xmlns:a16="http://schemas.microsoft.com/office/drawing/2014/main" id="{25326612-A272-EE30-48DF-4F0D5B2E8497}"/>
              </a:ext>
            </a:extLst>
          </p:cNvPr>
          <p:cNvSpPr/>
          <p:nvPr/>
        </p:nvSpPr>
        <p:spPr>
          <a:xfrm>
            <a:off x="4799011" y="4497354"/>
            <a:ext cx="961053" cy="8024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 name="Gráfico 9" descr="Cabeza con engranajes con relleno sólido">
            <a:extLst>
              <a:ext uri="{FF2B5EF4-FFF2-40B4-BE49-F238E27FC236}">
                <a16:creationId xmlns:a16="http://schemas.microsoft.com/office/drawing/2014/main" id="{6F91CFBB-A274-1187-9F3F-FB93F2DD59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48096" y="4301360"/>
            <a:ext cx="1200573" cy="1200573"/>
          </a:xfrm>
          <a:prstGeom prst="rect">
            <a:avLst/>
          </a:prstGeom>
        </p:spPr>
      </p:pic>
      <p:sp>
        <p:nvSpPr>
          <p:cNvPr id="11" name="Flecha: a la derecha 10">
            <a:extLst>
              <a:ext uri="{FF2B5EF4-FFF2-40B4-BE49-F238E27FC236}">
                <a16:creationId xmlns:a16="http://schemas.microsoft.com/office/drawing/2014/main" id="{C104832F-42B4-09BF-FE51-E2E359B9B0E3}"/>
              </a:ext>
            </a:extLst>
          </p:cNvPr>
          <p:cNvSpPr/>
          <p:nvPr/>
        </p:nvSpPr>
        <p:spPr>
          <a:xfrm>
            <a:off x="6848669" y="4495108"/>
            <a:ext cx="961053" cy="8024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3" name="Imagen 12">
            <a:extLst>
              <a:ext uri="{FF2B5EF4-FFF2-40B4-BE49-F238E27FC236}">
                <a16:creationId xmlns:a16="http://schemas.microsoft.com/office/drawing/2014/main" id="{743AC031-77CD-FEA4-1298-D12990BDDA98}"/>
              </a:ext>
            </a:extLst>
          </p:cNvPr>
          <p:cNvPicPr>
            <a:picLocks noChangeAspect="1"/>
          </p:cNvPicPr>
          <p:nvPr/>
        </p:nvPicPr>
        <p:blipFill>
          <a:blip r:embed="rId6"/>
          <a:stretch>
            <a:fillRect/>
          </a:stretch>
        </p:blipFill>
        <p:spPr>
          <a:xfrm>
            <a:off x="8121802" y="4228133"/>
            <a:ext cx="2618345" cy="1128002"/>
          </a:xfrm>
          <a:prstGeom prst="rect">
            <a:avLst/>
          </a:prstGeom>
        </p:spPr>
      </p:pic>
    </p:spTree>
    <p:extLst>
      <p:ext uri="{BB962C8B-B14F-4D97-AF65-F5344CB8AC3E}">
        <p14:creationId xmlns:p14="http://schemas.microsoft.com/office/powerpoint/2010/main" val="2248877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BE945EF6-51D1-05BC-43C5-D3DF88F94095}"/>
              </a:ext>
            </a:extLst>
          </p:cNvPr>
          <p:cNvSpPr>
            <a:spLocks noGrp="1"/>
          </p:cNvSpPr>
          <p:nvPr>
            <p:ph type="title"/>
          </p:nvPr>
        </p:nvSpPr>
        <p:spPr>
          <a:xfrm>
            <a:off x="4101431" y="320173"/>
            <a:ext cx="3615489" cy="457200"/>
          </a:xfrm>
        </p:spPr>
        <p:txBody>
          <a:bodyPr>
            <a:normAutofit fontScale="90000"/>
          </a:bodyPr>
          <a:lstStyle/>
          <a:p>
            <a:r>
              <a:rPr lang="es-MX" dirty="0"/>
              <a:t>Funcionamiento</a:t>
            </a:r>
          </a:p>
        </p:txBody>
      </p:sp>
      <p:pic>
        <p:nvPicPr>
          <p:cNvPr id="3" name="Picture 2">
            <a:extLst>
              <a:ext uri="{FF2B5EF4-FFF2-40B4-BE49-F238E27FC236}">
                <a16:creationId xmlns:a16="http://schemas.microsoft.com/office/drawing/2014/main" id="{1FE732C0-F2C7-3513-0885-84175F6F062A}"/>
              </a:ext>
            </a:extLst>
          </p:cNvPr>
          <p:cNvPicPr>
            <a:picLocks noChangeAspect="1"/>
          </p:cNvPicPr>
          <p:nvPr/>
        </p:nvPicPr>
        <p:blipFill>
          <a:blip r:embed="rId2"/>
          <a:stretch>
            <a:fillRect/>
          </a:stretch>
        </p:blipFill>
        <p:spPr>
          <a:xfrm>
            <a:off x="2985837" y="2424364"/>
            <a:ext cx="5446295" cy="3630863"/>
          </a:xfrm>
          <a:prstGeom prst="rect">
            <a:avLst/>
          </a:prstGeom>
        </p:spPr>
      </p:pic>
      <p:sp>
        <p:nvSpPr>
          <p:cNvPr id="5" name="Rectangle 2">
            <a:extLst>
              <a:ext uri="{FF2B5EF4-FFF2-40B4-BE49-F238E27FC236}">
                <a16:creationId xmlns:a16="http://schemas.microsoft.com/office/drawing/2014/main" id="{2FB23621-6CEE-DBB2-0550-5F9366051557}"/>
              </a:ext>
            </a:extLst>
          </p:cNvPr>
          <p:cNvSpPr>
            <a:spLocks noGrp="1" noChangeArrowheads="1"/>
          </p:cNvSpPr>
          <p:nvPr>
            <p:ph idx="1"/>
          </p:nvPr>
        </p:nvSpPr>
        <p:spPr bwMode="auto">
          <a:xfrm>
            <a:off x="653632" y="1000704"/>
            <a:ext cx="107603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tx1"/>
                </a:solidFill>
                <a:effectLst/>
                <a:latin typeface="Arial" panose="020B0604020202020204" pitchFamily="34" charset="0"/>
              </a:rPr>
              <a:t>Usuario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Envía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instrucciones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lenguaje</a:t>
            </a:r>
            <a:r>
              <a:rPr kumimoji="0" lang="en-US" altLang="en-US" sz="1800" b="0" i="0" u="none" strike="noStrike" cap="none" normalizeH="0" baseline="0" dirty="0">
                <a:ln>
                  <a:noFill/>
                </a:ln>
                <a:solidFill>
                  <a:schemeClr val="tx1"/>
                </a:solidFill>
                <a:effectLst/>
                <a:latin typeface="Arial" panose="020B0604020202020204" pitchFamily="34" charset="0"/>
              </a:rPr>
              <a:t> natural.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LLM (a </a:t>
            </a:r>
            <a:r>
              <a:rPr kumimoji="0" lang="en-US" altLang="en-US" sz="1800" b="1" i="0" u="none" strike="noStrike" cap="none" normalizeH="0" baseline="0" dirty="0" err="1">
                <a:ln>
                  <a:noFill/>
                </a:ln>
                <a:solidFill>
                  <a:schemeClr val="tx1"/>
                </a:solidFill>
                <a:effectLst/>
                <a:latin typeface="Arial" panose="020B0604020202020204" pitchFamily="34" charset="0"/>
              </a:rPr>
              <a:t>través</a:t>
            </a:r>
            <a:r>
              <a:rPr kumimoji="0" lang="en-US" altLang="en-US" sz="1800" b="1" i="0" u="none" strike="noStrike" cap="none" normalizeH="0" baseline="0" dirty="0">
                <a:ln>
                  <a:noFill/>
                </a:ln>
                <a:solidFill>
                  <a:schemeClr val="tx1"/>
                </a:solidFill>
                <a:effectLst/>
                <a:latin typeface="Arial" panose="020B0604020202020204" pitchFamily="34" charset="0"/>
              </a:rPr>
              <a:t> de MCP)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Convierte</a:t>
            </a:r>
            <a:r>
              <a:rPr kumimoji="0" lang="en-US" altLang="en-US" sz="1800" b="0" i="0" u="none" strike="noStrike" cap="none" normalizeH="0" baseline="0" dirty="0">
                <a:ln>
                  <a:noFill/>
                </a:ln>
                <a:solidFill>
                  <a:schemeClr val="tx1"/>
                </a:solidFill>
                <a:effectLst/>
                <a:latin typeface="Arial" panose="020B0604020202020204" pitchFamily="34" charset="0"/>
              </a:rPr>
              <a:t> la </a:t>
            </a:r>
            <a:r>
              <a:rPr kumimoji="0" lang="en-US" altLang="en-US" sz="1800" b="0" i="0" u="none" strike="noStrike" cap="none" normalizeH="0" baseline="0" dirty="0" err="1">
                <a:ln>
                  <a:noFill/>
                </a:ln>
                <a:solidFill>
                  <a:schemeClr val="tx1"/>
                </a:solidFill>
                <a:effectLst/>
                <a:latin typeface="Arial" panose="020B0604020202020204" pitchFamily="34" charset="0"/>
              </a:rPr>
              <a:t>intención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una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solicitud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estructurada</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Model Context Protocol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Actúa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como</a:t>
            </a:r>
            <a:r>
              <a:rPr kumimoji="0" lang="en-US" altLang="en-US" sz="1800" b="0" i="0" u="none" strike="noStrike" cap="none" normalizeH="0" baseline="0" dirty="0">
                <a:ln>
                  <a:noFill/>
                </a:ln>
                <a:solidFill>
                  <a:schemeClr val="tx1"/>
                </a:solidFill>
                <a:effectLst/>
                <a:latin typeface="Arial" panose="020B0604020202020204" pitchFamily="34" charset="0"/>
              </a:rPr>
              <a:t> middleware, </a:t>
            </a:r>
            <a:r>
              <a:rPr kumimoji="0" lang="en-US" altLang="en-US" sz="1800" b="0" i="0" u="none" strike="noStrike" cap="none" normalizeH="0" baseline="0" dirty="0" err="1">
                <a:ln>
                  <a:noFill/>
                </a:ln>
                <a:solidFill>
                  <a:schemeClr val="tx1"/>
                </a:solidFill>
                <a:effectLst/>
                <a:latin typeface="Arial" panose="020B0604020202020204" pitchFamily="34" charset="0"/>
              </a:rPr>
              <a:t>gestionando</a:t>
            </a:r>
            <a:r>
              <a:rPr kumimoji="0" lang="en-US" altLang="en-US" sz="1800" b="0" i="0" u="none" strike="noStrike" cap="none" normalizeH="0" baseline="0" dirty="0">
                <a:ln>
                  <a:noFill/>
                </a:ln>
                <a:solidFill>
                  <a:schemeClr val="tx1"/>
                </a:solidFill>
                <a:effectLst/>
                <a:latin typeface="Arial" panose="020B0604020202020204" pitchFamily="34" charset="0"/>
              </a:rPr>
              <a:t> la </a:t>
            </a:r>
            <a:r>
              <a:rPr kumimoji="0" lang="en-US" altLang="en-US" sz="1800" b="0" i="0" u="none" strike="noStrike" cap="none" normalizeH="0" baseline="0" dirty="0" err="1">
                <a:ln>
                  <a:noFill/>
                </a:ln>
                <a:solidFill>
                  <a:schemeClr val="tx1"/>
                </a:solidFill>
                <a:effectLst/>
                <a:latin typeface="Arial" panose="020B0604020202020204" pitchFamily="34" charset="0"/>
              </a:rPr>
              <a:t>comunicación</a:t>
            </a:r>
            <a:r>
              <a:rPr kumimoji="0" lang="en-US" altLang="en-US" sz="1800" b="0" i="0" u="none" strike="noStrike" cap="none" normalizeH="0" baseline="0" dirty="0">
                <a:ln>
                  <a:noFill/>
                </a:ln>
                <a:solidFill>
                  <a:schemeClr val="tx1"/>
                </a:solidFill>
                <a:effectLst/>
                <a:latin typeface="Arial" panose="020B0604020202020204" pitchFamily="34" charset="0"/>
              </a:rPr>
              <a:t> entre </a:t>
            </a:r>
            <a:r>
              <a:rPr kumimoji="0" lang="en-US" altLang="en-US" sz="1800" b="0" i="0" u="none" strike="noStrike" cap="none" normalizeH="0" baseline="0" dirty="0" err="1">
                <a:ln>
                  <a:noFill/>
                </a:ln>
                <a:solidFill>
                  <a:schemeClr val="tx1"/>
                </a:solidFill>
                <a:effectLst/>
                <a:latin typeface="Arial" panose="020B0604020202020204" pitchFamily="34" charset="0"/>
              </a:rPr>
              <a:t>el</a:t>
            </a:r>
            <a:r>
              <a:rPr kumimoji="0" lang="en-US" altLang="en-US" sz="1800" b="0" i="0" u="none" strike="noStrike" cap="none" normalizeH="0" baseline="0" dirty="0">
                <a:ln>
                  <a:noFill/>
                </a:ln>
                <a:solidFill>
                  <a:schemeClr val="tx1"/>
                </a:solidFill>
                <a:effectLst/>
                <a:latin typeface="Arial" panose="020B0604020202020204" pitchFamily="34" charset="0"/>
              </a:rPr>
              <a:t> LLM y Jira.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Jira API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Responde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en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formato</a:t>
            </a:r>
            <a:r>
              <a:rPr kumimoji="0" lang="en-US" altLang="en-US" sz="1800" b="0" i="0" u="none" strike="noStrike" cap="none" normalizeH="0" baseline="0" dirty="0">
                <a:ln>
                  <a:noFill/>
                </a:ln>
                <a:solidFill>
                  <a:schemeClr val="tx1"/>
                </a:solidFill>
                <a:effectLst/>
                <a:latin typeface="Arial" panose="020B0604020202020204" pitchFamily="34" charset="0"/>
              </a:rPr>
              <a:t> JSON y </a:t>
            </a:r>
            <a:r>
              <a:rPr kumimoji="0" lang="en-US" altLang="en-US" sz="1800" b="0" i="0" u="none" strike="noStrike" cap="none" normalizeH="0" baseline="0" dirty="0" err="1">
                <a:ln>
                  <a:noFill/>
                </a:ln>
                <a:solidFill>
                  <a:schemeClr val="tx1"/>
                </a:solidFill>
                <a:effectLst/>
                <a:latin typeface="Arial" panose="020B0604020202020204" pitchFamily="34" charset="0"/>
              </a:rPr>
              <a:t>permite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crear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tareas</a:t>
            </a:r>
            <a:r>
              <a:rPr kumimoji="0" lang="en-US" altLang="en-US" sz="1800" b="0" i="0" u="none" strike="noStrike" cap="none" normalizeH="0" baseline="0" dirty="0">
                <a:ln>
                  <a:noFill/>
                </a:ln>
                <a:solidFill>
                  <a:schemeClr val="tx1"/>
                </a:solidFill>
                <a:effectLst/>
                <a:latin typeface="Arial" panose="020B0604020202020204" pitchFamily="34" charset="0"/>
              </a:rPr>
              <a:t> o </a:t>
            </a:r>
            <a:r>
              <a:rPr kumimoji="0" lang="en-US" altLang="en-US" sz="1800" b="0" i="0" u="none" strike="noStrike" cap="none" normalizeH="0" baseline="0" dirty="0" err="1">
                <a:ln>
                  <a:noFill/>
                </a:ln>
                <a:solidFill>
                  <a:schemeClr val="tx1"/>
                </a:solidFill>
                <a:effectLst/>
                <a:latin typeface="Arial" panose="020B0604020202020204" pitchFamily="34" charset="0"/>
              </a:rPr>
              <a:t>consultar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información</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459143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AA807F-B217-262B-313E-201FF5B44B6B}"/>
              </a:ext>
            </a:extLst>
          </p:cNvPr>
          <p:cNvSpPr>
            <a:spLocks noGrp="1"/>
          </p:cNvSpPr>
          <p:nvPr>
            <p:ph type="title"/>
          </p:nvPr>
        </p:nvSpPr>
        <p:spPr/>
        <p:txBody>
          <a:bodyPr/>
          <a:lstStyle/>
          <a:p>
            <a:r>
              <a:rPr lang="es-MX" dirty="0"/>
              <a:t>Gestor de Herramientas</a:t>
            </a:r>
          </a:p>
        </p:txBody>
      </p:sp>
      <p:sp>
        <p:nvSpPr>
          <p:cNvPr id="3" name="Marcador de contenido 2">
            <a:extLst>
              <a:ext uri="{FF2B5EF4-FFF2-40B4-BE49-F238E27FC236}">
                <a16:creationId xmlns:a16="http://schemas.microsoft.com/office/drawing/2014/main" id="{CA8F748E-7441-0417-5D93-522822E92DAE}"/>
              </a:ext>
            </a:extLst>
          </p:cNvPr>
          <p:cNvSpPr>
            <a:spLocks noGrp="1"/>
          </p:cNvSpPr>
          <p:nvPr>
            <p:ph idx="1"/>
          </p:nvPr>
        </p:nvSpPr>
        <p:spPr>
          <a:xfrm>
            <a:off x="685801" y="2142068"/>
            <a:ext cx="10131425" cy="946366"/>
          </a:xfrm>
        </p:spPr>
        <p:txBody>
          <a:bodyPr/>
          <a:lstStyle/>
          <a:p>
            <a:r>
              <a:rPr lang="es-MX" dirty="0"/>
              <a:t>Como parte del desarrollo del chatbot debemos “construir” las tareas que va reconocer y ejecutar, las cuales en este caso nos enfocaremos en las principales:</a:t>
            </a:r>
          </a:p>
        </p:txBody>
      </p:sp>
      <p:pic>
        <p:nvPicPr>
          <p:cNvPr id="6" name="Imagen 5">
            <a:extLst>
              <a:ext uri="{FF2B5EF4-FFF2-40B4-BE49-F238E27FC236}">
                <a16:creationId xmlns:a16="http://schemas.microsoft.com/office/drawing/2014/main" id="{8F4F59BE-4C18-AD56-31DE-B4113C3DAB0C}"/>
              </a:ext>
            </a:extLst>
          </p:cNvPr>
          <p:cNvPicPr>
            <a:picLocks noChangeAspect="1"/>
          </p:cNvPicPr>
          <p:nvPr/>
        </p:nvPicPr>
        <p:blipFill>
          <a:blip r:embed="rId2"/>
          <a:stretch>
            <a:fillRect/>
          </a:stretch>
        </p:blipFill>
        <p:spPr>
          <a:xfrm>
            <a:off x="2993368" y="3164635"/>
            <a:ext cx="5235747" cy="3010554"/>
          </a:xfrm>
          <a:prstGeom prst="rect">
            <a:avLst/>
          </a:prstGeom>
        </p:spPr>
      </p:pic>
    </p:spTree>
    <p:extLst>
      <p:ext uri="{BB962C8B-B14F-4D97-AF65-F5344CB8AC3E}">
        <p14:creationId xmlns:p14="http://schemas.microsoft.com/office/powerpoint/2010/main" val="1646969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59473-825B-9449-C8E6-0334046404AD}"/>
              </a:ext>
            </a:extLst>
          </p:cNvPr>
          <p:cNvSpPr>
            <a:spLocks noGrp="1"/>
          </p:cNvSpPr>
          <p:nvPr>
            <p:ph type="title"/>
          </p:nvPr>
        </p:nvSpPr>
        <p:spPr/>
        <p:txBody>
          <a:bodyPr/>
          <a:lstStyle/>
          <a:p>
            <a:r>
              <a:rPr lang="es-MX" dirty="0"/>
              <a:t>Flujo</a:t>
            </a:r>
          </a:p>
        </p:txBody>
      </p:sp>
      <p:pic>
        <p:nvPicPr>
          <p:cNvPr id="5" name="Marcador de contenido 4">
            <a:extLst>
              <a:ext uri="{FF2B5EF4-FFF2-40B4-BE49-F238E27FC236}">
                <a16:creationId xmlns:a16="http://schemas.microsoft.com/office/drawing/2014/main" id="{8FDB8154-3F03-1567-D41A-65888DDABA7C}"/>
              </a:ext>
            </a:extLst>
          </p:cNvPr>
          <p:cNvPicPr>
            <a:picLocks noGrp="1" noChangeAspect="1"/>
          </p:cNvPicPr>
          <p:nvPr>
            <p:ph idx="1"/>
          </p:nvPr>
        </p:nvPicPr>
        <p:blipFill>
          <a:blip r:embed="rId2"/>
          <a:stretch>
            <a:fillRect/>
          </a:stretch>
        </p:blipFill>
        <p:spPr>
          <a:xfrm>
            <a:off x="4599992" y="363636"/>
            <a:ext cx="4178213" cy="6267320"/>
          </a:xfrm>
        </p:spPr>
      </p:pic>
    </p:spTree>
    <p:extLst>
      <p:ext uri="{BB962C8B-B14F-4D97-AF65-F5344CB8AC3E}">
        <p14:creationId xmlns:p14="http://schemas.microsoft.com/office/powerpoint/2010/main" val="58160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ECA08F-7968-A4F1-FC68-08F2793F1749}"/>
              </a:ext>
            </a:extLst>
          </p:cNvPr>
          <p:cNvSpPr>
            <a:spLocks noGrp="1"/>
          </p:cNvSpPr>
          <p:nvPr>
            <p:ph type="title"/>
          </p:nvPr>
        </p:nvSpPr>
        <p:spPr/>
        <p:txBody>
          <a:bodyPr/>
          <a:lstStyle/>
          <a:p>
            <a:r>
              <a:rPr lang="es-MX" dirty="0"/>
              <a:t>Herramientas de Desarrollo</a:t>
            </a:r>
          </a:p>
        </p:txBody>
      </p:sp>
      <p:sp>
        <p:nvSpPr>
          <p:cNvPr id="3" name="Marcador de contenido 2">
            <a:extLst>
              <a:ext uri="{FF2B5EF4-FFF2-40B4-BE49-F238E27FC236}">
                <a16:creationId xmlns:a16="http://schemas.microsoft.com/office/drawing/2014/main" id="{9DF1DDAB-C87A-11DE-864E-FE3173EE9C95}"/>
              </a:ext>
            </a:extLst>
          </p:cNvPr>
          <p:cNvSpPr>
            <a:spLocks noGrp="1"/>
          </p:cNvSpPr>
          <p:nvPr>
            <p:ph idx="1"/>
          </p:nvPr>
        </p:nvSpPr>
        <p:spPr/>
        <p:txBody>
          <a:bodyPr/>
          <a:lstStyle/>
          <a:p>
            <a:r>
              <a:rPr lang="es-MX" b="1" dirty="0" err="1"/>
              <a:t>Anthropic</a:t>
            </a:r>
            <a:r>
              <a:rPr lang="es-MX" b="1" dirty="0"/>
              <a:t> Claude</a:t>
            </a:r>
            <a:r>
              <a:rPr lang="es-MX" dirty="0"/>
              <a:t> → IA conversacional</a:t>
            </a:r>
          </a:p>
          <a:p>
            <a:r>
              <a:rPr lang="es-MX" b="1" dirty="0"/>
              <a:t>Jira REST API 3</a:t>
            </a:r>
            <a:r>
              <a:rPr lang="es-MX" dirty="0"/>
              <a:t> → Gestión de tickets</a:t>
            </a:r>
          </a:p>
          <a:p>
            <a:r>
              <a:rPr lang="es-MX" b="1" dirty="0"/>
              <a:t>Python</a:t>
            </a:r>
            <a:r>
              <a:rPr lang="es-MX" dirty="0"/>
              <a:t> → Lenguaje base</a:t>
            </a:r>
          </a:p>
          <a:p>
            <a:r>
              <a:rPr lang="es-MX" b="1" dirty="0" err="1"/>
              <a:t>requests</a:t>
            </a:r>
            <a:r>
              <a:rPr lang="es-MX" dirty="0"/>
              <a:t> → Llamadas HTTP</a:t>
            </a:r>
          </a:p>
          <a:p>
            <a:r>
              <a:rPr lang="es-MX" b="1" dirty="0" err="1"/>
              <a:t>dotenv</a:t>
            </a:r>
            <a:r>
              <a:rPr lang="es-MX" dirty="0"/>
              <a:t> → Gestión de credenciales</a:t>
            </a:r>
          </a:p>
          <a:p>
            <a:pPr marL="0" indent="0">
              <a:buNone/>
            </a:pPr>
            <a:endParaRPr lang="es-MX" dirty="0"/>
          </a:p>
        </p:txBody>
      </p:sp>
    </p:spTree>
    <p:extLst>
      <p:ext uri="{BB962C8B-B14F-4D97-AF65-F5344CB8AC3E}">
        <p14:creationId xmlns:p14="http://schemas.microsoft.com/office/powerpoint/2010/main" val="23665656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TM03457452[[fn=Celestial]]</Template>
  <TotalTime>204</TotalTime>
  <Words>332</Words>
  <Application>Microsoft Office PowerPoint</Application>
  <PresentationFormat>Panorámica</PresentationFormat>
  <Paragraphs>30</Paragraphs>
  <Slides>7</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Aptos</vt:lpstr>
      <vt:lpstr>Arial</vt:lpstr>
      <vt:lpstr>Calibri</vt:lpstr>
      <vt:lpstr>Calibri Light</vt:lpstr>
      <vt:lpstr>Celestial</vt:lpstr>
      <vt:lpstr>MCP para gestor de proyectos con metodología ágil JIRA</vt:lpstr>
      <vt:lpstr>Introducción</vt:lpstr>
      <vt:lpstr>Introducción</vt:lpstr>
      <vt:lpstr>Funcionamiento</vt:lpstr>
      <vt:lpstr>Gestor de Herramientas</vt:lpstr>
      <vt:lpstr>Flujo</vt:lpstr>
      <vt:lpstr>Herramientas de Desarrollo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louie guerra huante</dc:creator>
  <cp:lastModifiedBy>Daniel Gonzalez</cp:lastModifiedBy>
  <cp:revision>4</cp:revision>
  <dcterms:created xsi:type="dcterms:W3CDTF">2025-09-24T02:58:12Z</dcterms:created>
  <dcterms:modified xsi:type="dcterms:W3CDTF">2025-11-12T02:36:03Z</dcterms:modified>
</cp:coreProperties>
</file>